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3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C9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13232" y="914400"/>
            <a:ext cx="1325880" cy="73152"/>
          </a:xfrm>
          <a:prstGeom prst="rect">
            <a:avLst/>
          </a:prstGeom>
          <a:solidFill>
            <a:srgbClr val="D4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896112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rPr sz="2800" b="0" i="0">
                <a:latin typeface="Arial"/>
              </a:rPr>
              <a:t>IL2225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9509760" cy="685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Arial"/>
              </a:defRPr>
            </a:pPr>
            <a:r>
              <a:rPr sz="1800" b="0" i="0">
                <a:latin typeface="Arial"/>
              </a:rPr>
              <a:t>SiLagoNN: From RTL Verification To Hierarchical Physical Synthesis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850392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Arial"/>
              </a:defRPr>
            </a:pPr>
            <a:r>
              <a:rPr sz="1600" b="0" i="0">
                <a:latin typeface="Arial"/>
              </a:rPr>
              <a:t>A full design flow covering RTL simulation, logic synthesis, physical synthesis, floorplanning, partitioning, and hierarchical implementation.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86400"/>
            <a:ext cx="62179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rial"/>
              </a:defRPr>
            </a:pPr>
            <a:r>
              <a:rPr sz="1000" b="0" i="0">
                <a:latin typeface="Arial"/>
              </a:rPr>
              <a:t>Results and scripts consolidated into one coherent presentation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562356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rPr sz="1300" b="0" i="0">
                <a:latin typeface="Arial"/>
              </a:rPr>
              <a:t>April 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C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097280" cy="73152"/>
          </a:xfrm>
          <a:prstGeom prst="rect">
            <a:avLst/>
          </a:prstGeom>
          <a:solidFill>
            <a:srgbClr val="D4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926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rPr sz="2400" b="0" i="0">
                <a:latin typeface="Georgia"/>
              </a:rPr>
              <a:t>Task Dependencies And Data Handoff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005840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1200">
                <a:solidFill>
                  <a:srgbClr val="676F71"/>
                </a:solidFill>
                <a:latin typeface="Arial"/>
              </a:defRPr>
            </a:pPr>
            <a:r>
              <a:rPr sz="1200" b="0" i="0">
                <a:latin typeface="Arial"/>
              </a:rPr>
              <a:t>Each stage produces the input used by the next stage, forming one continuous implementation 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128016"/>
            <a:ext cx="1188720" cy="310896"/>
          </a:xfrm>
          <a:prstGeom prst="roundRect">
            <a:avLst/>
          </a:prstGeom>
          <a:solidFill>
            <a:srgbClr val="C9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000" b="0" i="0">
                <a:latin typeface="Arial"/>
              </a:rPr>
              <a:t>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65392"/>
            <a:ext cx="11185855" cy="18288"/>
          </a:xfrm>
          <a:prstGeom prst="rect">
            <a:avLst/>
          </a:prstGeom>
          <a:solidFill>
            <a:srgbClr val="D8D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169164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defRPr sz="1300" b="1">
                <a:solidFill>
                  <a:srgbClr val="1C3F35"/>
                </a:solidFill>
                <a:latin typeface="Arial"/>
              </a:defRPr>
            </a:pPr>
            <a:r>
              <a:rPr sz="1800" b="0" i="0">
                <a:latin typeface="Arial"/>
              </a:rPr>
              <a:t>Task 1</a:t>
            </a:r>
          </a:p>
          <a:p>
            <a:pPr algn="ctr">
              <a:defRPr sz="1100">
                <a:solidFill>
                  <a:srgbClr val="676F71"/>
                </a:solidFill>
                <a:latin typeface="Arial"/>
              </a:defRPr>
            </a:pPr>
            <a:r>
              <a:rPr sz="1800" b="0" i="0">
                <a:latin typeface="Arial"/>
              </a:rPr>
              <a:t>RTL sim</a:t>
            </a:r>
          </a:p>
        </p:txBody>
      </p:sp>
      <p:sp>
        <p:nvSpPr>
          <p:cNvPr id="9" name="Chevron 8"/>
          <p:cNvSpPr/>
          <p:nvPr/>
        </p:nvSpPr>
        <p:spPr>
          <a:xfrm>
            <a:off x="2395728" y="2011680"/>
            <a:ext cx="155448" cy="365760"/>
          </a:xfrm>
          <a:prstGeom prst="chevron">
            <a:avLst/>
          </a:prstGeom>
          <a:solidFill>
            <a:srgbClr val="D4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532888" y="1828800"/>
            <a:ext cx="169164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6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defRPr sz="1300" b="1">
                <a:solidFill>
                  <a:srgbClr val="1C3F35"/>
                </a:solidFill>
                <a:latin typeface="Arial"/>
              </a:defRPr>
            </a:pPr>
            <a:r>
              <a:rPr sz="1800" b="0" i="0">
                <a:latin typeface="Arial"/>
              </a:rPr>
              <a:t>Task 2</a:t>
            </a:r>
          </a:p>
          <a:p>
            <a:pPr algn="ctr">
              <a:defRPr sz="1100">
                <a:solidFill>
                  <a:srgbClr val="676F71"/>
                </a:solidFill>
                <a:latin typeface="Arial"/>
              </a:defRPr>
            </a:pPr>
            <a:r>
              <a:rPr sz="1800" b="0" i="0">
                <a:latin typeface="Arial"/>
              </a:rPr>
              <a:t>Flat synth</a:t>
            </a:r>
          </a:p>
        </p:txBody>
      </p:sp>
      <p:sp>
        <p:nvSpPr>
          <p:cNvPr id="11" name="Chevron 10"/>
          <p:cNvSpPr/>
          <p:nvPr/>
        </p:nvSpPr>
        <p:spPr>
          <a:xfrm>
            <a:off x="4242816" y="2011680"/>
            <a:ext cx="155448" cy="365760"/>
          </a:xfrm>
          <a:prstGeom prst="chevron">
            <a:avLst/>
          </a:prstGeom>
          <a:solidFill>
            <a:srgbClr val="D4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79976" y="1828800"/>
            <a:ext cx="169164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6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defRPr sz="1300" b="1">
                <a:solidFill>
                  <a:srgbClr val="1C3F35"/>
                </a:solidFill>
                <a:latin typeface="Arial"/>
              </a:defRPr>
            </a:pPr>
            <a:r>
              <a:rPr sz="1800" b="0" i="0">
                <a:latin typeface="Arial"/>
              </a:rPr>
              <a:t>Task 3</a:t>
            </a:r>
          </a:p>
          <a:p>
            <a:pPr algn="ctr">
              <a:defRPr sz="1100">
                <a:solidFill>
                  <a:srgbClr val="676F71"/>
                </a:solidFill>
                <a:latin typeface="Arial"/>
              </a:defRPr>
            </a:pPr>
            <a:r>
              <a:rPr sz="1800" b="0" i="0">
                <a:latin typeface="Arial"/>
              </a:rPr>
              <a:t>Bottom-up synth</a:t>
            </a:r>
          </a:p>
        </p:txBody>
      </p:sp>
      <p:sp>
        <p:nvSpPr>
          <p:cNvPr id="13" name="Chevron 12"/>
          <p:cNvSpPr/>
          <p:nvPr/>
        </p:nvSpPr>
        <p:spPr>
          <a:xfrm>
            <a:off x="6089904" y="2011680"/>
            <a:ext cx="155448" cy="365760"/>
          </a:xfrm>
          <a:prstGeom prst="chevron">
            <a:avLst/>
          </a:prstGeom>
          <a:solidFill>
            <a:srgbClr val="D4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27064" y="1828800"/>
            <a:ext cx="169164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defRPr sz="1300" b="1">
                <a:solidFill>
                  <a:srgbClr val="1C3F35"/>
                </a:solidFill>
                <a:latin typeface="Arial"/>
              </a:defRPr>
            </a:pPr>
            <a:r>
              <a:rPr sz="1800" b="0" i="0">
                <a:latin typeface="Arial"/>
              </a:rPr>
              <a:t>Task 4</a:t>
            </a:r>
          </a:p>
          <a:p>
            <a:pPr algn="ctr">
              <a:defRPr sz="1100">
                <a:solidFill>
                  <a:srgbClr val="676F71"/>
                </a:solidFill>
                <a:latin typeface="Arial"/>
              </a:defRPr>
            </a:pPr>
            <a:r>
              <a:rPr sz="1800" b="0" i="0">
                <a:latin typeface="Arial"/>
              </a:rPr>
              <a:t>Flat PnR</a:t>
            </a:r>
          </a:p>
        </p:txBody>
      </p:sp>
      <p:sp>
        <p:nvSpPr>
          <p:cNvPr id="15" name="Chevron 14"/>
          <p:cNvSpPr/>
          <p:nvPr/>
        </p:nvSpPr>
        <p:spPr>
          <a:xfrm>
            <a:off x="7936992" y="2011680"/>
            <a:ext cx="155448" cy="365760"/>
          </a:xfrm>
          <a:prstGeom prst="chevron">
            <a:avLst/>
          </a:prstGeom>
          <a:solidFill>
            <a:srgbClr val="D4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74152" y="1828800"/>
            <a:ext cx="169164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defRPr sz="1300" b="1">
                <a:solidFill>
                  <a:srgbClr val="1C3F35"/>
                </a:solidFill>
                <a:latin typeface="Arial"/>
              </a:defRPr>
            </a:pPr>
            <a:r>
              <a:rPr sz="1800" b="0" i="0">
                <a:latin typeface="Arial"/>
              </a:rPr>
              <a:t>Task 5</a:t>
            </a:r>
          </a:p>
          <a:p>
            <a:pPr algn="ctr">
              <a:defRPr sz="1100">
                <a:solidFill>
                  <a:srgbClr val="676F71"/>
                </a:solidFill>
                <a:latin typeface="Arial"/>
              </a:defRPr>
            </a:pPr>
            <a:r>
              <a:rPr sz="1800" b="0" i="0">
                <a:latin typeface="Arial"/>
              </a:rPr>
              <a:t>Floorplan</a:t>
            </a:r>
          </a:p>
        </p:txBody>
      </p:sp>
      <p:sp>
        <p:nvSpPr>
          <p:cNvPr id="17" name="Chevron 16"/>
          <p:cNvSpPr/>
          <p:nvPr/>
        </p:nvSpPr>
        <p:spPr>
          <a:xfrm>
            <a:off x="9784080" y="2011680"/>
            <a:ext cx="155448" cy="365760"/>
          </a:xfrm>
          <a:prstGeom prst="chevron">
            <a:avLst/>
          </a:prstGeom>
          <a:solidFill>
            <a:srgbClr val="D4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921240" y="1828800"/>
            <a:ext cx="169164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96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defRPr sz="1300" b="1">
                <a:solidFill>
                  <a:srgbClr val="1C3F35"/>
                </a:solidFill>
                <a:latin typeface="Arial"/>
              </a:defRPr>
            </a:pPr>
            <a:r>
              <a:rPr sz="1800" b="0" i="0">
                <a:latin typeface="Arial"/>
              </a:rPr>
              <a:t>Task 6</a:t>
            </a:r>
          </a:p>
          <a:p>
            <a:pPr algn="ctr">
              <a:defRPr sz="1100">
                <a:solidFill>
                  <a:srgbClr val="676F71"/>
                </a:solidFill>
                <a:latin typeface="Arial"/>
              </a:defRPr>
            </a:pPr>
            <a:r>
              <a:rPr sz="1800" b="0" i="0">
                <a:latin typeface="Arial"/>
              </a:rPr>
              <a:t>Hier PnR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926080"/>
            <a:ext cx="365760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3017520"/>
            <a:ext cx="332841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Logical progression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310128"/>
            <a:ext cx="3328416" cy="19476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310128"/>
            <a:ext cx="3337560" cy="194767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Task 1 validates functionality at RTL level.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Task 2 produces a flat synthesized netlist.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Task 3 produces a hierarchical synthesis handoff.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Task 4 to Task 6 move into physical implementation.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62272" y="2926080"/>
            <a:ext cx="338328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26864" y="3017520"/>
            <a:ext cx="305409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Key inputs and outputs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6864" y="3310128"/>
            <a:ext cx="3054096" cy="19476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45152" y="3310128"/>
            <a:ext cx="3063240" cy="194767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RTL hierarchy and testbench drive Task 1.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SDC constraints and DC scripts drive Task 2 and Task 3.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Synthesized netlists feed the Innovus physical flow.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0144" y="2926080"/>
            <a:ext cx="356616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74736" y="3017520"/>
            <a:ext cx="323697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Physical-flow transition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3310128"/>
            <a:ext cx="3236976" cy="19476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93024" y="3310128"/>
            <a:ext cx="3246120" cy="194767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Task 4 implements the full design flat.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Task 5 defines the floorplan and partitions.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Task 6 implements partitions first, then assembles the top level.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611112"/>
            <a:ext cx="5029200" cy="13716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850">
                <a:solidFill>
                  <a:srgbClr val="676F71"/>
                </a:solidFill>
                <a:latin typeface="Arial"/>
              </a:defRPr>
            </a:pPr>
            <a:r>
              <a:rPr sz="700" b="0" i="0">
                <a:latin typeface="Arial"/>
              </a:rPr>
              <a:t>IL2225 project presentation | SiLagoNN implementation 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592824"/>
            <a:ext cx="41148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r">
              <a:defRPr sz="900" b="1">
                <a:solidFill>
                  <a:srgbClr val="676F71"/>
                </a:solidFill>
                <a:latin typeface="Arial"/>
              </a:defRPr>
            </a:pPr>
            <a:r>
              <a:rPr sz="800" b="0" i="0"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C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097280" cy="73152"/>
          </a:xfrm>
          <a:prstGeom prst="rect">
            <a:avLst/>
          </a:prstGeom>
          <a:solidFill>
            <a:srgbClr val="D4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926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rPr sz="2400" b="0" i="0">
                <a:latin typeface="Georgia"/>
              </a:rPr>
              <a:t>Task 1: Simulation Scripts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005840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1200">
                <a:solidFill>
                  <a:srgbClr val="676F71"/>
                </a:solidFill>
                <a:latin typeface="Arial"/>
              </a:defRPr>
            </a:pPr>
            <a:r>
              <a:rPr sz="1200" b="0" i="0">
                <a:latin typeface="Arial"/>
              </a:rPr>
              <a:t>The simulation flow creates libraries, compiles the hierarchy and testbench, then runs vsim with the key waveforms enabled.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128016"/>
            <a:ext cx="1188720" cy="310896"/>
          </a:xfrm>
          <a:prstGeom prst="roundRect">
            <a:avLst/>
          </a:prstGeom>
          <a:solidFill>
            <a:srgbClr val="C9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000" b="0" i="0">
                <a:latin typeface="Arial"/>
              </a:rPr>
              <a:t>Task 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65392"/>
            <a:ext cx="11185855" cy="18288"/>
          </a:xfrm>
          <a:prstGeom prst="rect">
            <a:avLst/>
          </a:prstGeom>
          <a:solidFill>
            <a:srgbClr val="D8D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440680" cy="3886200"/>
          </a:xfrm>
          <a:prstGeom prst="roundRect">
            <a:avLst/>
          </a:prstGeom>
          <a:solidFill>
            <a:srgbClr val="1E2B34"/>
          </a:solidFill>
          <a:ln w="19050">
            <a:solidFill>
              <a:srgbClr val="C96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0392" y="1527048"/>
            <a:ext cx="1508760" cy="292608"/>
          </a:xfrm>
          <a:prstGeom prst="roundRect">
            <a:avLst/>
          </a:prstGeom>
          <a:solidFill>
            <a:srgbClr val="C9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000" b="0" i="0">
                <a:latin typeface="Arial"/>
              </a:rPr>
              <a:t>compile.do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20240"/>
            <a:ext cx="5038344" cy="304495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rPr sz="1000" b="0" i="0">
                <a:latin typeface="Consolas"/>
              </a:rPr>
              <a:t>if {[file exists work]} { vdel -lib work -all }</a:t>
            </a:r>
            <a:br>
              <a:rPr sz="1000" b="0" i="0">
                <a:latin typeface="Consolas"/>
              </a:rPr>
            </a:br>
            <a:r>
              <a:rPr sz="1000" b="0" i="0">
                <a:latin typeface="Consolas"/>
              </a:rPr>
              <a:t>vlib work</a:t>
            </a:r>
            <a:br>
              <a:rPr sz="1000" b="0" i="0">
                <a:latin typeface="Consolas"/>
              </a:rPr>
            </a:br>
            <a:r>
              <a:rPr sz="1000" b="0" i="0">
                <a:latin typeface="Consolas"/>
              </a:rPr>
              <a:t>vmap work work</a:t>
            </a:r>
            <a:br>
              <a:rPr sz="1000" b="0" i="0">
                <a:latin typeface="Consolas"/>
              </a:rPr>
            </a:br>
            <a:br>
              <a:rPr sz="1000" b="0" i="0">
                <a:latin typeface="Consolas"/>
              </a:rPr>
            </a:br>
            <a:r>
              <a:rPr sz="1000" b="0" i="0">
                <a:latin typeface="Consolas"/>
              </a:rPr>
              <a:t>vcom -work dware -2008 DW/DWpackages.vhd</a:t>
            </a:r>
            <a:br>
              <a:rPr sz="1000" b="0" i="0">
                <a:latin typeface="Consolas"/>
              </a:rPr>
            </a:br>
            <a:r>
              <a:rPr sz="1000" b="0" i="0">
                <a:latin typeface="Consolas"/>
              </a:rPr>
              <a:t>...</a:t>
            </a:r>
            <a:br>
              <a:rPr sz="1000" b="0" i="0">
                <a:latin typeface="Consolas"/>
              </a:rPr>
            </a:br>
            <a:r>
              <a:rPr sz="1000" b="0" i="0">
                <a:latin typeface="Consolas"/>
              </a:rPr>
              <a:t>set fp [open "silagonn_hierarchy.txt" r]</a:t>
            </a:r>
            <a:br>
              <a:rPr sz="1000" b="0" i="0">
                <a:latin typeface="Consolas"/>
              </a:rPr>
            </a:br>
            <a:r>
              <a:rPr sz="1000" b="0" i="0">
                <a:latin typeface="Consolas"/>
              </a:rPr>
              <a:t>while {[gets $fp line] &gt;= 0} {</a:t>
            </a:r>
            <a:br>
              <a:rPr sz="1000" b="0" i="0">
                <a:latin typeface="Consolas"/>
              </a:rPr>
            </a:br>
            <a:r>
              <a:rPr sz="1000" b="0" i="0">
                <a:latin typeface="Consolas"/>
              </a:rPr>
              <a:t>    vcom -work work -2008 $line</a:t>
            </a:r>
            <a:br>
              <a:rPr sz="1000" b="0" i="0">
                <a:latin typeface="Consolas"/>
              </a:rPr>
            </a:br>
            <a:r>
              <a:rPr sz="1000" b="0" i="0">
                <a:latin typeface="Consolas"/>
              </a:rPr>
              <a:t>}</a:t>
            </a:r>
            <a:br>
              <a:rPr sz="1000" b="0" i="0">
                <a:latin typeface="Consolas"/>
              </a:rPr>
            </a:br>
            <a:r>
              <a:rPr sz="1000" b="0" i="0">
                <a:latin typeface="Consolas"/>
              </a:rPr>
              <a:t>vcom -work work -2008 ../tb/vec_add/testbench.vhd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5047488"/>
            <a:ext cx="5038344" cy="146304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rPr sz="800" b="0" i="0">
                <a:latin typeface="Arial"/>
              </a:rPr>
              <a:t>Source: main/rtl/compile.do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417320"/>
            <a:ext cx="5376672" cy="3886200"/>
          </a:xfrm>
          <a:prstGeom prst="roundRect">
            <a:avLst/>
          </a:prstGeom>
          <a:solidFill>
            <a:srgbClr val="1E2B34"/>
          </a:solidFill>
          <a:ln w="19050">
            <a:solidFill>
              <a:srgbClr val="C96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09360" y="1527048"/>
            <a:ext cx="1508760" cy="292608"/>
          </a:xfrm>
          <a:prstGeom prst="roundRect">
            <a:avLst/>
          </a:prstGeom>
          <a:solidFill>
            <a:srgbClr val="C9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000" b="0" i="0">
                <a:latin typeface="Arial"/>
              </a:rPr>
              <a:t>simulate.do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920240"/>
            <a:ext cx="4974336" cy="304495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rPr sz="1000" b="0" i="0" dirty="0" err="1">
                <a:latin typeface="Consolas"/>
              </a:rPr>
              <a:t>vsim</a:t>
            </a:r>
            <a:r>
              <a:rPr sz="1000" b="0" i="0" dirty="0">
                <a:latin typeface="Consolas"/>
              </a:rPr>
              <a:t> -suppress 1549 -</a:t>
            </a:r>
            <a:r>
              <a:rPr sz="1000" b="0" i="0" dirty="0" err="1">
                <a:latin typeface="Consolas"/>
              </a:rPr>
              <a:t>voptargs</a:t>
            </a:r>
            <a:r>
              <a:rPr sz="1000" b="0" i="0" dirty="0">
                <a:latin typeface="Consolas"/>
              </a:rPr>
              <a:t>=+acc </a:t>
            </a:r>
            <a:r>
              <a:rPr sz="1000" b="0" i="0" dirty="0" err="1">
                <a:latin typeface="Consolas"/>
              </a:rPr>
              <a:t>work.testbench</a:t>
            </a:r>
            <a:br>
              <a:rPr sz="1000" b="0" i="0" dirty="0">
                <a:latin typeface="Consolas"/>
              </a:rPr>
            </a:br>
            <a:r>
              <a:rPr sz="1000" b="0" i="0" dirty="0">
                <a:latin typeface="Consolas"/>
              </a:rPr>
              <a:t>set DPU_PATH {.../</a:t>
            </a:r>
            <a:r>
              <a:rPr sz="1000" b="0" i="0" dirty="0" err="1">
                <a:latin typeface="Consolas"/>
              </a:rPr>
              <a:t>MTRF_cell</a:t>
            </a:r>
            <a:r>
              <a:rPr sz="1000" b="0" i="0" dirty="0">
                <a:latin typeface="Consolas"/>
              </a:rPr>
              <a:t>/</a:t>
            </a:r>
            <a:r>
              <a:rPr sz="1000" b="0" i="0" dirty="0" err="1">
                <a:latin typeface="Consolas"/>
              </a:rPr>
              <a:t>dpu_gen</a:t>
            </a:r>
            <a:r>
              <a:rPr sz="1000" b="0" i="0" dirty="0">
                <a:latin typeface="Consolas"/>
              </a:rPr>
              <a:t>}</a:t>
            </a:r>
            <a:br>
              <a:rPr sz="1000" b="0" i="0" dirty="0">
                <a:latin typeface="Consolas"/>
              </a:rPr>
            </a:br>
            <a:r>
              <a:rPr sz="1000" b="0" i="0" dirty="0">
                <a:latin typeface="Consolas"/>
              </a:rPr>
              <a:t>add wave /testbench/</a:t>
            </a:r>
            <a:r>
              <a:rPr sz="1000" b="0" i="0" dirty="0" err="1">
                <a:latin typeface="Consolas"/>
              </a:rPr>
              <a:t>clk</a:t>
            </a:r>
            <a:br>
              <a:rPr sz="1000" b="0" i="0" dirty="0">
                <a:latin typeface="Consolas"/>
              </a:rPr>
            </a:br>
            <a:r>
              <a:rPr sz="1000" b="0" i="0" dirty="0">
                <a:latin typeface="Consolas"/>
              </a:rPr>
              <a:t>add wave /testbench/</a:t>
            </a:r>
            <a:r>
              <a:rPr sz="1000" b="0" i="0" dirty="0" err="1">
                <a:latin typeface="Consolas"/>
              </a:rPr>
              <a:t>rst_n</a:t>
            </a:r>
            <a:br>
              <a:rPr sz="1000" b="0" i="0" dirty="0">
                <a:latin typeface="Consolas"/>
              </a:rPr>
            </a:br>
            <a:r>
              <a:rPr sz="1000" b="0" i="0" dirty="0">
                <a:latin typeface="Consolas"/>
              </a:rPr>
              <a:t>add wave -radix decimal $DPU_PATH/dpu_out_0</a:t>
            </a:r>
            <a:br>
              <a:rPr sz="1000" b="0" i="0" dirty="0">
                <a:latin typeface="Consolas"/>
              </a:rPr>
            </a:br>
            <a:r>
              <a:rPr sz="1000" b="0" i="0" dirty="0">
                <a:latin typeface="Consolas"/>
              </a:rPr>
              <a:t>add wave -radix decimal $DPU_PATH/dpu_out_1</a:t>
            </a:r>
            <a:br>
              <a:rPr sz="1000" b="0" i="0" dirty="0">
                <a:latin typeface="Consolas"/>
              </a:rPr>
            </a:br>
            <a:r>
              <a:rPr sz="1000" b="0" i="0" dirty="0">
                <a:latin typeface="Consolas"/>
              </a:rPr>
              <a:t>add wave -radix decimal $DPU_PATH/dpu_in_0</a:t>
            </a:r>
            <a:br>
              <a:rPr sz="1000" b="0" i="0" dirty="0">
                <a:latin typeface="Consolas"/>
              </a:rPr>
            </a:br>
            <a:r>
              <a:rPr sz="1000" b="0" i="0" dirty="0">
                <a:latin typeface="Consolas"/>
              </a:rPr>
              <a:t>run -all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5047488"/>
            <a:ext cx="4974336" cy="146304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rPr sz="800" b="0" i="0">
                <a:latin typeface="Arial"/>
              </a:rPr>
              <a:t>Source: main/rtl/simulate.do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440680"/>
            <a:ext cx="103327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5532120"/>
            <a:ext cx="1000353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Simulation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5824728"/>
            <a:ext cx="10003536" cy="3931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compile.do builds the libraries and RTL hierarchy, while simulate.do launches the testbench and adds the waveform signals used for debug and result inspection.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611112"/>
            <a:ext cx="5029200" cy="13716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850">
                <a:solidFill>
                  <a:srgbClr val="676F71"/>
                </a:solidFill>
                <a:latin typeface="Arial"/>
              </a:defRPr>
            </a:pPr>
            <a:r>
              <a:rPr sz="700" b="0" i="0">
                <a:latin typeface="Arial"/>
              </a:rPr>
              <a:t>IL2225 project presentation | SiLagoNN implementation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92824"/>
            <a:ext cx="41148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r">
              <a:defRPr sz="900" b="1">
                <a:solidFill>
                  <a:srgbClr val="676F71"/>
                </a:solidFill>
                <a:latin typeface="Arial"/>
              </a:defRPr>
            </a:pPr>
            <a:r>
              <a:rPr sz="800" b="0" i="0"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C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097280" cy="73152"/>
          </a:xfrm>
          <a:prstGeom prst="rect">
            <a:avLst/>
          </a:prstGeom>
          <a:solidFill>
            <a:srgbClr val="D4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926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rPr sz="2400" b="0" i="0">
                <a:latin typeface="Georgia"/>
              </a:rPr>
              <a:t>Task 1: RTL Simulation Confirms Functional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005840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1200">
                <a:solidFill>
                  <a:srgbClr val="676F71"/>
                </a:solidFill>
                <a:latin typeface="Arial"/>
              </a:defRPr>
            </a:pPr>
            <a:r>
              <a:rPr sz="1200" b="0" i="0">
                <a:latin typeface="Arial"/>
              </a:rPr>
              <a:t>Before synthesis, we verify that the testbench, instruction loading, and DPU outputs behave as expected.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128016"/>
            <a:ext cx="1188720" cy="310896"/>
          </a:xfrm>
          <a:prstGeom prst="roundRect">
            <a:avLst/>
          </a:prstGeom>
          <a:solidFill>
            <a:srgbClr val="C9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000" b="0" i="0">
                <a:latin typeface="Arial"/>
              </a:rPr>
              <a:t>Task 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65392"/>
            <a:ext cx="11185855" cy="18288"/>
          </a:xfrm>
          <a:prstGeom prst="rect">
            <a:avLst/>
          </a:prstGeom>
          <a:solidFill>
            <a:srgbClr val="D8D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28" y="1252438"/>
            <a:ext cx="5922120" cy="29595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434840"/>
            <a:ext cx="54406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defRPr sz="1000" b="0">
                <a:solidFill>
                  <a:srgbClr val="676F71"/>
                </a:solidFill>
                <a:latin typeface="Arial"/>
              </a:defRPr>
            </a:pPr>
            <a:r>
              <a:rPr sz="1000" b="0" i="0">
                <a:latin typeface="Arial"/>
              </a:rPr>
              <a:t>Waveform view with reset, instruction load, and DPU signal groups</a:t>
            </a:r>
          </a:p>
        </p:txBody>
      </p:sp>
      <p:pic>
        <p:nvPicPr>
          <p:cNvPr id="10" name="Picture 9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8598" y="1293876"/>
            <a:ext cx="6035324" cy="2898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9632" y="4434840"/>
            <a:ext cx="534924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defRPr sz="1000" b="0">
                <a:solidFill>
                  <a:srgbClr val="676F71"/>
                </a:solidFill>
                <a:latin typeface="Arial"/>
              </a:defRPr>
            </a:pPr>
            <a:r>
              <a:rPr sz="1000" b="0" i="0">
                <a:latin typeface="Arial"/>
              </a:rPr>
              <a:t>Decimal DPU outputs show the expected vector-add style data movement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754880"/>
            <a:ext cx="102870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3272" y="4846320"/>
            <a:ext cx="995781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Functional verification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" y="5189220"/>
            <a:ext cx="9957816" cy="8503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Task 1 establishes functional correctness before implementation: compile the RTL hierarchy, run the testbench, and inspect control signals together with DPU inputs and outputs in the waveform window.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611112"/>
            <a:ext cx="5029200" cy="13716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850">
                <a:solidFill>
                  <a:srgbClr val="676F71"/>
                </a:solidFill>
                <a:latin typeface="Arial"/>
              </a:defRPr>
            </a:pPr>
            <a:r>
              <a:rPr sz="700" b="0" i="0">
                <a:latin typeface="Arial"/>
              </a:rPr>
              <a:t>IL2225 project presentation | SiLagoNN implementation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92824"/>
            <a:ext cx="41148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r">
              <a:defRPr sz="900" b="1">
                <a:solidFill>
                  <a:srgbClr val="676F71"/>
                </a:solidFill>
                <a:latin typeface="Arial"/>
              </a:defRPr>
            </a:pPr>
            <a:r>
              <a:rPr sz="800" b="0" i="0"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C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097280" cy="73152"/>
          </a:xfrm>
          <a:prstGeom prst="rect">
            <a:avLst/>
          </a:prstGeom>
          <a:solidFill>
            <a:srgbClr val="D4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926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rPr sz="2400" b="0" i="0">
                <a:latin typeface="Georgia"/>
              </a:rPr>
              <a:t>Task 2: Flat Logic Synthesis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005840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1200">
                <a:solidFill>
                  <a:srgbClr val="676F71"/>
                </a:solidFill>
                <a:latin typeface="Arial"/>
              </a:defRPr>
            </a:pPr>
            <a:r>
              <a:rPr sz="1200" b="0" i="0">
                <a:latin typeface="Arial"/>
              </a:rPr>
              <a:t>One top-level DC run reads the whole RTL hierarchy, applies one clock constraint, compiles the full design, and writes reports plus a netlist.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128016"/>
            <a:ext cx="1188720" cy="310896"/>
          </a:xfrm>
          <a:prstGeom prst="roundRect">
            <a:avLst/>
          </a:prstGeom>
          <a:solidFill>
            <a:srgbClr val="C9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000" b="0" i="0">
                <a:latin typeface="Arial"/>
              </a:rPr>
              <a:t>Task 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65392"/>
            <a:ext cx="11185855" cy="18288"/>
          </a:xfrm>
          <a:prstGeom prst="rect">
            <a:avLst/>
          </a:prstGeom>
          <a:solidFill>
            <a:srgbClr val="D8D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325880"/>
            <a:ext cx="4617720" cy="3520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428853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Flow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09928"/>
            <a:ext cx="4288536" cy="30449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1709928"/>
            <a:ext cx="4297680" cy="304495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Load synopsys_dc.setup and the technology libraries.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Read the RTL hierarchy from drra_wrapper_hierarchy.txt.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Elaborate and link the top-level design drra_wrapper.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Apply SDC timing constraints and set the clock period.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Compile the whole design flat, then report area, power, and timing.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371600"/>
            <a:ext cx="5486400" cy="3474720"/>
          </a:xfrm>
          <a:prstGeom prst="roundRect">
            <a:avLst/>
          </a:prstGeom>
          <a:solidFill>
            <a:srgbClr val="1E2B34"/>
          </a:solidFill>
          <a:ln w="19050">
            <a:solidFill>
              <a:srgbClr val="C96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650992" y="1481328"/>
            <a:ext cx="1508760" cy="292608"/>
          </a:xfrm>
          <a:prstGeom prst="roundRect">
            <a:avLst/>
          </a:prstGeom>
          <a:solidFill>
            <a:srgbClr val="C9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000" b="0" i="0">
                <a:latin typeface="Arial"/>
              </a:rPr>
              <a:t>dc_flat.tcl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7568" y="1874520"/>
            <a:ext cx="5084064" cy="263347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rPr lang="en-US" altLang="zh-CN" sz="1000" dirty="0">
                <a:latin typeface="Consolas"/>
              </a:rPr>
              <a:t>source ../syn/</a:t>
            </a:r>
            <a:r>
              <a:rPr lang="en-US" altLang="zh-CN" sz="1000" dirty="0" err="1">
                <a:latin typeface="Consolas"/>
              </a:rPr>
              <a:t>synopsys_dc.setup</a:t>
            </a:r>
            <a:r>
              <a:rPr lang="en-US" altLang="zh-CN" sz="1000" dirty="0">
                <a:latin typeface="Consolas"/>
              </a:rPr>
              <a:t>
set TOP_NAME </a:t>
            </a:r>
            <a:r>
              <a:rPr lang="en-US" altLang="zh-CN" sz="1000" dirty="0" err="1">
                <a:latin typeface="Consolas"/>
              </a:rPr>
              <a:t>drra_wrapper</a:t>
            </a:r>
            <a:r>
              <a:rPr lang="en-US" altLang="zh-CN" sz="1000" dirty="0">
                <a:latin typeface="Consolas"/>
              </a:rPr>
              <a:t>
set </a:t>
            </a:r>
            <a:r>
              <a:rPr lang="en-US" altLang="zh-CN" sz="1000" dirty="0" err="1">
                <a:latin typeface="Consolas"/>
              </a:rPr>
              <a:t>hierarchy_file</a:t>
            </a:r>
            <a:r>
              <a:rPr lang="en-US" altLang="zh-CN" sz="1000" dirty="0">
                <a:latin typeface="Consolas"/>
              </a:rPr>
              <a:t> "../</a:t>
            </a:r>
            <a:r>
              <a:rPr lang="en-US" altLang="zh-CN" sz="1000" dirty="0" err="1">
                <a:latin typeface="Consolas"/>
              </a:rPr>
              <a:t>rtl</a:t>
            </a:r>
            <a:r>
              <a:rPr lang="en-US" altLang="zh-CN" sz="1000" dirty="0">
                <a:latin typeface="Consolas"/>
              </a:rPr>
              <a:t>/${TOP_NAME}_hierarchy.txt"
set </a:t>
            </a:r>
            <a:r>
              <a:rPr lang="en-US" altLang="zh-CN" sz="1000" dirty="0" err="1">
                <a:latin typeface="Consolas"/>
              </a:rPr>
              <a:t>hierarchy_files</a:t>
            </a:r>
            <a:r>
              <a:rPr lang="en-US" altLang="zh-CN" sz="1000" dirty="0">
                <a:latin typeface="Consolas"/>
              </a:rPr>
              <a:t> [split [read [open $</a:t>
            </a:r>
            <a:r>
              <a:rPr lang="en-US" altLang="zh-CN" sz="1000" dirty="0" err="1">
                <a:latin typeface="Consolas"/>
              </a:rPr>
              <a:t>hierarchy_file</a:t>
            </a:r>
            <a:r>
              <a:rPr lang="en-US" altLang="zh-CN" sz="1000" dirty="0">
                <a:latin typeface="Consolas"/>
              </a:rPr>
              <a:t> r]] "\n"]
foreach filename [</a:t>
            </a:r>
            <a:r>
              <a:rPr lang="en-US" altLang="zh-CN" sz="1000" dirty="0" err="1">
                <a:latin typeface="Consolas"/>
              </a:rPr>
              <a:t>lrange</a:t>
            </a:r>
            <a:r>
              <a:rPr lang="en-US" altLang="zh-CN" sz="1000" dirty="0">
                <a:latin typeface="Consolas"/>
              </a:rPr>
              <a:t> $</a:t>
            </a:r>
            <a:r>
              <a:rPr lang="en-US" altLang="zh-CN" sz="1000" dirty="0" err="1">
                <a:latin typeface="Consolas"/>
              </a:rPr>
              <a:t>hierarchy_files</a:t>
            </a:r>
            <a:r>
              <a:rPr lang="en-US" altLang="zh-CN" sz="1000" dirty="0">
                <a:latin typeface="Consolas"/>
              </a:rPr>
              <a:t> 0 end-1] {
    if {[string trim $filename] ne ""} { analyze -format VHDL -lib WORK "../</a:t>
            </a:r>
            <a:r>
              <a:rPr lang="en-US" altLang="zh-CN" sz="1000" dirty="0" err="1">
                <a:latin typeface="Consolas"/>
              </a:rPr>
              <a:t>rtl</a:t>
            </a:r>
            <a:r>
              <a:rPr lang="en-US" altLang="zh-CN" sz="1000" dirty="0">
                <a:latin typeface="Consolas"/>
              </a:rPr>
              <a:t>/${filename}" }
}
elaborate $TOP_NAME ; link ; </a:t>
            </a:r>
            <a:r>
              <a:rPr lang="en-US" altLang="zh-CN" sz="1000" dirty="0" err="1">
                <a:latin typeface="Consolas"/>
              </a:rPr>
              <a:t>current_design</a:t>
            </a:r>
            <a:r>
              <a:rPr lang="en-US" altLang="zh-CN" sz="1000" dirty="0">
                <a:latin typeface="Consolas"/>
              </a:rPr>
              <a:t> $TOP_NAME ; uniquify
source ../syn/</a:t>
            </a:r>
            <a:r>
              <a:rPr lang="en-US" altLang="zh-CN" sz="1000" dirty="0" err="1">
                <a:latin typeface="Consolas"/>
              </a:rPr>
              <a:t>constraints.sdc</a:t>
            </a:r>
            <a:r>
              <a:rPr lang="en-US" altLang="zh-CN" sz="1000" dirty="0">
                <a:latin typeface="Consolas"/>
              </a:rPr>
              <a:t>
</a:t>
            </a:r>
            <a:r>
              <a:rPr lang="en-US" altLang="zh-CN" sz="1000" dirty="0" err="1">
                <a:latin typeface="Consolas"/>
              </a:rPr>
              <a:t>create_clock</a:t>
            </a:r>
            <a:r>
              <a:rPr lang="en-US" altLang="zh-CN" sz="1000" dirty="0">
                <a:latin typeface="Consolas"/>
              </a:rPr>
              <a:t> -name </a:t>
            </a:r>
            <a:r>
              <a:rPr lang="en-US" altLang="zh-CN" sz="1000" dirty="0" err="1">
                <a:latin typeface="Consolas"/>
              </a:rPr>
              <a:t>clk</a:t>
            </a:r>
            <a:r>
              <a:rPr lang="en-US" altLang="zh-CN" sz="1000" dirty="0">
                <a:latin typeface="Consolas"/>
              </a:rPr>
              <a:t> -period $CLOCK_PERIOD_PS $</a:t>
            </a:r>
            <a:r>
              <a:rPr lang="en-US" altLang="zh-CN" sz="1000" dirty="0" err="1">
                <a:latin typeface="Consolas"/>
              </a:rPr>
              <a:t>clk_ports</a:t>
            </a:r>
            <a:r>
              <a:rPr lang="en-US" altLang="zh-CN" sz="1000" dirty="0">
                <a:latin typeface="Consolas"/>
              </a:rPr>
              <a:t>
compile -</a:t>
            </a:r>
            <a:r>
              <a:rPr lang="en-US" altLang="zh-CN" sz="1000" dirty="0" err="1">
                <a:latin typeface="Consolas"/>
              </a:rPr>
              <a:t>map_effort</a:t>
            </a:r>
            <a:r>
              <a:rPr lang="en-US" altLang="zh-CN" sz="1000" dirty="0">
                <a:latin typeface="Consolas"/>
              </a:rPr>
              <a:t> medium
</a:t>
            </a:r>
            <a:r>
              <a:rPr lang="en-US" altLang="zh-CN" sz="1000" dirty="0" err="1">
                <a:latin typeface="Consolas"/>
              </a:rPr>
              <a:t>report_area</a:t>
            </a:r>
            <a:r>
              <a:rPr lang="en-US" altLang="zh-CN" sz="1000" dirty="0">
                <a:latin typeface="Consolas"/>
              </a:rPr>
              <a:t> &gt; ... ; </a:t>
            </a:r>
            <a:r>
              <a:rPr lang="en-US" altLang="zh-CN" sz="1000" dirty="0" err="1">
                <a:latin typeface="Consolas"/>
              </a:rPr>
              <a:t>report_timing</a:t>
            </a:r>
            <a:r>
              <a:rPr lang="en-US" altLang="zh-CN" sz="1000" dirty="0">
                <a:latin typeface="Consolas"/>
              </a:rPr>
              <a:t> &gt; ... ; </a:t>
            </a:r>
            <a:r>
              <a:rPr lang="en-US" altLang="zh-CN" sz="1000" dirty="0" err="1">
                <a:latin typeface="Consolas"/>
              </a:rPr>
              <a:t>report_power</a:t>
            </a:r>
            <a:r>
              <a:rPr lang="en-US" altLang="zh-CN" sz="1000" dirty="0">
                <a:latin typeface="Consolas"/>
              </a:rPr>
              <a:t> &gt; ...
write -format </a:t>
            </a:r>
            <a:r>
              <a:rPr lang="en-US" altLang="zh-CN" sz="1000" dirty="0" err="1">
                <a:latin typeface="Consolas"/>
              </a:rPr>
              <a:t>ddc</a:t>
            </a:r>
            <a:r>
              <a:rPr lang="en-US" altLang="zh-CN" sz="1000" dirty="0">
                <a:latin typeface="Consolas"/>
              </a:rPr>
              <a:t> ... ; write -format </a:t>
            </a:r>
            <a:r>
              <a:rPr lang="en-US" altLang="zh-CN" sz="1000" dirty="0" err="1">
                <a:latin typeface="Consolas"/>
              </a:rPr>
              <a:t>verilog</a:t>
            </a:r>
            <a:r>
              <a:rPr lang="en-US" altLang="zh-CN" sz="1000" dirty="0">
                <a:latin typeface="Consolas"/>
              </a:rPr>
              <a:t> ... ; </a:t>
            </a:r>
            <a:r>
              <a:rPr lang="en-US" altLang="zh-CN" sz="1000" dirty="0" err="1">
                <a:latin typeface="Consolas"/>
              </a:rPr>
              <a:t>write_sdc</a:t>
            </a:r>
            <a:r>
              <a:rPr lang="en-US" altLang="zh-CN" sz="1000" dirty="0">
                <a:latin typeface="Consolas"/>
              </a:rPr>
              <a:t> 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4590288"/>
            <a:ext cx="5084064" cy="146304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rPr sz="800" b="0" i="0">
                <a:latin typeface="Arial"/>
              </a:rPr>
              <a:t>Source: main/syn/scr/dc_flat.tcl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74920"/>
            <a:ext cx="1014984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5166360"/>
            <a:ext cx="982065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Main takeaway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5458968"/>
            <a:ext cx="9820656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Flat synthesis gives the tool complete visibility of the whole design. That often improves global optimization, but the run is heavier and less modular than bottom-up synthesis.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611112"/>
            <a:ext cx="5029200" cy="13716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850">
                <a:solidFill>
                  <a:srgbClr val="676F71"/>
                </a:solidFill>
                <a:latin typeface="Arial"/>
              </a:defRPr>
            </a:pPr>
            <a:r>
              <a:rPr sz="700" b="0" i="0">
                <a:latin typeface="Arial"/>
              </a:rPr>
              <a:t>IL2225 project presentation | SiLagoNN implementation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92824"/>
            <a:ext cx="41148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r">
              <a:defRPr sz="900" b="1">
                <a:solidFill>
                  <a:srgbClr val="676F71"/>
                </a:solidFill>
                <a:latin typeface="Arial"/>
              </a:defRPr>
            </a:pPr>
            <a:r>
              <a:rPr sz="800" b="0" i="0"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C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097280" cy="73152"/>
          </a:xfrm>
          <a:prstGeom prst="rect">
            <a:avLst/>
          </a:prstGeom>
          <a:solidFill>
            <a:srgbClr val="D4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926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rPr sz="2400" b="0" i="0">
                <a:latin typeface="Georgia"/>
              </a:rPr>
              <a:t>Task 2: Flat Synthesis PPA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005840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1200">
                <a:solidFill>
                  <a:srgbClr val="676F71"/>
                </a:solidFill>
                <a:latin typeface="Arial"/>
              </a:defRPr>
            </a:pPr>
            <a:r>
              <a:rPr sz="1200" b="0" i="0">
                <a:latin typeface="Arial"/>
              </a:rPr>
              <a:t>As the clock target tightens, the flat flow shows higher power and area together with a shrinking timing margin.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128016"/>
            <a:ext cx="1188720" cy="310896"/>
          </a:xfrm>
          <a:prstGeom prst="roundRect">
            <a:avLst/>
          </a:prstGeom>
          <a:solidFill>
            <a:srgbClr val="C9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000" b="0" i="0">
                <a:latin typeface="Arial"/>
              </a:rPr>
              <a:t>Task 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65392"/>
            <a:ext cx="11185855" cy="18288"/>
          </a:xfrm>
          <a:prstGeom prst="rect">
            <a:avLst/>
          </a:prstGeom>
          <a:solidFill>
            <a:srgbClr val="D8D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325880"/>
          <a:ext cx="65836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Clock Period (ns)</a:t>
                      </a:r>
                    </a:p>
                  </a:txBody>
                  <a:tcPr>
                    <a:solidFill>
                      <a:srgbClr val="1C3F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Total Power (mW)</a:t>
                      </a:r>
                    </a:p>
                  </a:txBody>
                  <a:tcPr>
                    <a:solidFill>
                      <a:srgbClr val="1C3F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Total Cell Area (um^2)</a:t>
                      </a:r>
                    </a:p>
                  </a:txBody>
                  <a:tcPr>
                    <a:solidFill>
                      <a:srgbClr val="1C3F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Slack (ps)</a:t>
                      </a:r>
                    </a:p>
                  </a:txBody>
                  <a:tcPr>
                    <a:solidFill>
                      <a:srgbClr val="1C3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10.4133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358652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20.10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20.6254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359511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37.47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25.9535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365373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3.23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34.4214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389591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0.10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79792" y="1325880"/>
            <a:ext cx="388620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44384" y="1417320"/>
            <a:ext cx="355701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Clock-scaling trend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44384" y="1709928"/>
            <a:ext cx="3557016" cy="7589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As the period becomes smaller, the design is pushed harder. Power and area rise, while slack shrinks toward zero.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79792" y="2697480"/>
            <a:ext cx="38862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44384" y="2788920"/>
            <a:ext cx="355701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Tightest summarized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44384" y="3081528"/>
            <a:ext cx="3557016" cy="5760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In this summary table, 6 ns is the most aggressive flat operating point that still remains slightly positive.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69080"/>
            <a:ext cx="105156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6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4160520"/>
            <a:ext cx="1018641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Saved report alignment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453128"/>
            <a:ext cx="10186416" cy="11704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The preserved 10 ns flat report in the consolidated main workspace supports power around 20.63 mW and area around 359.5k um^2, which matches the overall PPA trend shown in this summary.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611112"/>
            <a:ext cx="5029200" cy="13716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850">
                <a:solidFill>
                  <a:srgbClr val="676F71"/>
                </a:solidFill>
                <a:latin typeface="Arial"/>
              </a:defRPr>
            </a:pPr>
            <a:r>
              <a:rPr sz="700" b="0" i="0">
                <a:latin typeface="Arial"/>
              </a:rPr>
              <a:t>IL2225 project presentation | SiLagoNN implementation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92824"/>
            <a:ext cx="41148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r">
              <a:defRPr sz="900" b="1">
                <a:solidFill>
                  <a:srgbClr val="676F71"/>
                </a:solidFill>
                <a:latin typeface="Arial"/>
              </a:defRPr>
            </a:pPr>
            <a:r>
              <a:rPr sz="800" b="0" i="0"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C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097280" cy="73152"/>
          </a:xfrm>
          <a:prstGeom prst="rect">
            <a:avLst/>
          </a:prstGeom>
          <a:solidFill>
            <a:srgbClr val="D4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926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rPr sz="2400" b="0" i="0">
                <a:latin typeface="Georgia"/>
              </a:rPr>
              <a:t>Task 3: Bottom-Up Logic Synthesis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005840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1200">
                <a:solidFill>
                  <a:srgbClr val="676F71"/>
                </a:solidFill>
                <a:latin typeface="Arial"/>
              </a:defRPr>
            </a:pPr>
            <a:r>
              <a:rPr sz="1200" b="0" i="0">
                <a:latin typeface="Arial"/>
              </a:rPr>
              <a:t>Bottom-up synthesis compiles sub-designs independently, then reuses those characterized blocks when synthesizing the top level.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128016"/>
            <a:ext cx="1188720" cy="310896"/>
          </a:xfrm>
          <a:prstGeom prst="roundRect">
            <a:avLst/>
          </a:prstGeom>
          <a:solidFill>
            <a:srgbClr val="C9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000" b="0" i="0">
                <a:latin typeface="Arial"/>
              </a:rPr>
              <a:t>Task 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65392"/>
            <a:ext cx="11185855" cy="18288"/>
          </a:xfrm>
          <a:prstGeom prst="rect">
            <a:avLst/>
          </a:prstGeom>
          <a:solidFill>
            <a:srgbClr val="D8D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325880"/>
            <a:ext cx="4617720" cy="37490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428853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Why bottom-up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09928"/>
            <a:ext cx="4288536" cy="327355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1709928"/>
            <a:ext cx="4297680" cy="3273551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Reduce runtime and memory by compiling smaller modules first.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Preserve hierarchy so the design is easier to partition later.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Generate characterized sub-blocks that can be reused at top level.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Prepare a more natural handoff for hierarchical physical synthesis.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1265125"/>
            <a:ext cx="5486400" cy="4138979"/>
          </a:xfrm>
          <a:prstGeom prst="roundRect">
            <a:avLst/>
          </a:prstGeom>
          <a:solidFill>
            <a:srgbClr val="1E2B34"/>
          </a:solidFill>
          <a:ln w="19050">
            <a:solidFill>
              <a:srgbClr val="C96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577840" y="1140239"/>
            <a:ext cx="1508760" cy="292608"/>
          </a:xfrm>
          <a:prstGeom prst="roundRect">
            <a:avLst/>
          </a:prstGeom>
          <a:solidFill>
            <a:srgbClr val="C9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000" b="0" i="0">
                <a:latin typeface="Arial"/>
              </a:rPr>
              <a:t>dc_bottomup.tcl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7568" y="1475315"/>
            <a:ext cx="5084064" cy="2907791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rPr lang="en-US" altLang="zh-CN" sz="1000" dirty="0">
                <a:latin typeface="Consolas"/>
              </a:rPr>
              <a:t>source ../syn/</a:t>
            </a:r>
            <a:r>
              <a:rPr lang="en-US" altLang="zh-CN" sz="1000" dirty="0" err="1">
                <a:latin typeface="Consolas"/>
              </a:rPr>
              <a:t>synopsys_dc.setup</a:t>
            </a:r>
            <a:r>
              <a:rPr lang="en-US" altLang="zh-CN" sz="1000" dirty="0">
                <a:latin typeface="Consolas"/>
              </a:rPr>
              <a:t>
proc </a:t>
            </a:r>
            <a:r>
              <a:rPr lang="en-US" altLang="zh-CN" sz="1000" dirty="0" err="1">
                <a:latin typeface="Consolas"/>
              </a:rPr>
              <a:t>apply_project_constraints</a:t>
            </a:r>
            <a:r>
              <a:rPr lang="en-US" altLang="zh-CN" sz="1000" dirty="0">
                <a:latin typeface="Consolas"/>
              </a:rPr>
              <a:t> {</a:t>
            </a:r>
            <a:r>
              <a:rPr lang="en-US" altLang="zh-CN" sz="1000" dirty="0" err="1">
                <a:latin typeface="Consolas"/>
              </a:rPr>
              <a:t>syn_dir</a:t>
            </a:r>
            <a:r>
              <a:rPr lang="en-US" altLang="zh-CN" sz="1000" dirty="0">
                <a:latin typeface="Consolas"/>
              </a:rPr>
              <a:t> </a:t>
            </a:r>
            <a:r>
              <a:rPr lang="en-US" altLang="zh-CN" sz="1000" dirty="0" err="1">
                <a:latin typeface="Consolas"/>
              </a:rPr>
              <a:t>clock_period_ps</a:t>
            </a:r>
            <a:r>
              <a:rPr lang="en-US" altLang="zh-CN" sz="1000" dirty="0">
                <a:latin typeface="Consolas"/>
              </a:rPr>
              <a:t>} { source ${</a:t>
            </a:r>
            <a:r>
              <a:rPr lang="en-US" altLang="zh-CN" sz="1000" dirty="0" err="1">
                <a:latin typeface="Consolas"/>
              </a:rPr>
              <a:t>syn_dir</a:t>
            </a:r>
            <a:r>
              <a:rPr lang="en-US" altLang="zh-CN" sz="1000" dirty="0">
                <a:latin typeface="Consolas"/>
              </a:rPr>
              <a:t>}/</a:t>
            </a:r>
            <a:r>
              <a:rPr lang="en-US" altLang="zh-CN" sz="1000" dirty="0" err="1">
                <a:latin typeface="Consolas"/>
              </a:rPr>
              <a:t>constraints.sdc</a:t>
            </a:r>
            <a:r>
              <a:rPr lang="en-US" altLang="zh-CN" sz="1000" dirty="0">
                <a:latin typeface="Consolas"/>
              </a:rPr>
              <a:t> ; </a:t>
            </a:r>
            <a:r>
              <a:rPr lang="en-US" altLang="zh-CN" sz="1000" dirty="0" err="1">
                <a:latin typeface="Consolas"/>
              </a:rPr>
              <a:t>create_clock</a:t>
            </a:r>
            <a:r>
              <a:rPr lang="en-US" altLang="zh-CN" sz="1000" dirty="0">
                <a:latin typeface="Consolas"/>
              </a:rPr>
              <a:t> -name </a:t>
            </a:r>
            <a:r>
              <a:rPr lang="en-US" altLang="zh-CN" sz="1000" dirty="0" err="1">
                <a:latin typeface="Consolas"/>
              </a:rPr>
              <a:t>clk</a:t>
            </a:r>
            <a:r>
              <a:rPr lang="en-US" altLang="zh-CN" sz="1000" dirty="0">
                <a:latin typeface="Consolas"/>
              </a:rPr>
              <a:t> -period $</a:t>
            </a:r>
            <a:r>
              <a:rPr lang="en-US" altLang="zh-CN" sz="1000" dirty="0" err="1">
                <a:latin typeface="Consolas"/>
              </a:rPr>
              <a:t>clock_period_ps</a:t>
            </a:r>
            <a:r>
              <a:rPr lang="en-US" altLang="zh-CN" sz="1000" dirty="0">
                <a:latin typeface="Consolas"/>
              </a:rPr>
              <a:t> ... }
set TOP_NAME </a:t>
            </a:r>
            <a:r>
              <a:rPr lang="en-US" altLang="zh-CN" sz="1000" dirty="0" err="1">
                <a:latin typeface="Consolas"/>
              </a:rPr>
              <a:t>drra_wrapper</a:t>
            </a:r>
            <a:r>
              <a:rPr lang="en-US" altLang="zh-CN" sz="1000" dirty="0">
                <a:latin typeface="Consolas"/>
              </a:rPr>
              <a:t>
# compile shared lower blocks first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rPr lang="en-US" altLang="zh-CN" sz="1000" dirty="0">
                <a:latin typeface="Consolas"/>
              </a:rPr>
              <a:t> set </a:t>
            </a:r>
            <a:r>
              <a:rPr lang="en-US" altLang="zh-CN" sz="1000" dirty="0" err="1">
                <a:latin typeface="Consolas"/>
              </a:rPr>
              <a:t>hierarchy_files</a:t>
            </a:r>
            <a:r>
              <a:rPr lang="en-US" altLang="zh-CN" sz="1000" dirty="0">
                <a:latin typeface="Consolas"/>
              </a:rPr>
              <a:t> [split [read [open ${SOURCE_DIR}/pkg_hierarchy.txt r]] "\n"]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rPr lang="en-US" altLang="zh-CN" sz="1000" dirty="0">
                <a:latin typeface="Consolas"/>
              </a:rPr>
              <a:t>...
analyze -format </a:t>
            </a:r>
            <a:r>
              <a:rPr lang="en-US" altLang="zh-CN" sz="1000" dirty="0" err="1">
                <a:latin typeface="Consolas"/>
              </a:rPr>
              <a:t>vhdl</a:t>
            </a:r>
            <a:r>
              <a:rPr lang="en-US" altLang="zh-CN" sz="1000" dirty="0">
                <a:latin typeface="Consolas"/>
              </a:rPr>
              <a:t> -lib WORK "../</a:t>
            </a:r>
            <a:r>
              <a:rPr lang="en-US" altLang="zh-CN" sz="1000" dirty="0" err="1">
                <a:latin typeface="Consolas"/>
              </a:rPr>
              <a:t>rtl</a:t>
            </a:r>
            <a:r>
              <a:rPr lang="en-US" altLang="zh-CN" sz="1000" dirty="0">
                <a:latin typeface="Consolas"/>
              </a:rPr>
              <a:t>/</a:t>
            </a:r>
            <a:r>
              <a:rPr lang="en-US" altLang="zh-CN" sz="1000" dirty="0" err="1">
                <a:latin typeface="Consolas"/>
              </a:rPr>
              <a:t>mtrf</a:t>
            </a:r>
            <a:r>
              <a:rPr lang="en-US" altLang="zh-CN" sz="1000" dirty="0">
                <a:latin typeface="Consolas"/>
              </a:rPr>
              <a:t>/DPU/</a:t>
            </a:r>
            <a:r>
              <a:rPr lang="en-US" altLang="zh-CN" sz="1000" dirty="0" err="1">
                <a:latin typeface="Consolas"/>
              </a:rPr>
              <a:t>divider_pipe.vhd</a:t>
            </a:r>
            <a:r>
              <a:rPr lang="en-US" altLang="zh-CN" sz="1000" dirty="0">
                <a:latin typeface="Consolas"/>
              </a:rPr>
              <a:t>"
elaborate </a:t>
            </a:r>
            <a:r>
              <a:rPr lang="en-US" altLang="zh-CN" sz="1000" dirty="0" err="1">
                <a:latin typeface="Consolas"/>
              </a:rPr>
              <a:t>divider_pipe</a:t>
            </a:r>
            <a:r>
              <a:rPr lang="en-US" altLang="zh-CN" sz="1000" dirty="0">
                <a:latin typeface="Consolas"/>
              </a:rPr>
              <a:t> ; link ; </a:t>
            </a:r>
            <a:r>
              <a:rPr lang="en-US" altLang="zh-CN" sz="1000" dirty="0" err="1">
                <a:latin typeface="Consolas"/>
              </a:rPr>
              <a:t>apply_project_constraints</a:t>
            </a:r>
            <a:r>
              <a:rPr lang="en-US" altLang="zh-CN" sz="1000" dirty="0">
                <a:latin typeface="Consolas"/>
              </a:rPr>
              <a:t> ${SYN_DIR} ${CLOCK_PERIOD_PS} ; compile
set </a:t>
            </a:r>
            <a:r>
              <a:rPr lang="en-US" altLang="zh-CN" sz="1000" dirty="0" err="1">
                <a:latin typeface="Consolas"/>
              </a:rPr>
              <a:t>hierarchy_files</a:t>
            </a:r>
            <a:r>
              <a:rPr lang="en-US" altLang="zh-CN" sz="1000" dirty="0">
                <a:latin typeface="Consolas"/>
              </a:rPr>
              <a:t> [split [read [open ../</a:t>
            </a:r>
            <a:r>
              <a:rPr lang="en-US" altLang="zh-CN" sz="1000" dirty="0" err="1">
                <a:latin typeface="Consolas"/>
              </a:rPr>
              <a:t>rtl</a:t>
            </a:r>
            <a:r>
              <a:rPr lang="en-US" altLang="zh-CN" sz="1000" dirty="0">
                <a:latin typeface="Consolas"/>
              </a:rPr>
              <a:t>/silego_hierarchy.txt r]] "\n"]
foreach filename [</a:t>
            </a:r>
            <a:r>
              <a:rPr lang="en-US" altLang="zh-CN" sz="1000" dirty="0" err="1">
                <a:latin typeface="Consolas"/>
              </a:rPr>
              <a:t>lrange</a:t>
            </a:r>
            <a:r>
              <a:rPr lang="en-US" altLang="zh-CN" sz="1000" dirty="0">
                <a:latin typeface="Consolas"/>
              </a:rPr>
              <a:t> $</a:t>
            </a:r>
            <a:r>
              <a:rPr lang="en-US" altLang="zh-CN" sz="1000" dirty="0" err="1">
                <a:latin typeface="Consolas"/>
              </a:rPr>
              <a:t>hierarchy_files</a:t>
            </a:r>
            <a:r>
              <a:rPr lang="en-US" altLang="zh-CN" sz="1000" dirty="0">
                <a:latin typeface="Consolas"/>
              </a:rPr>
              <a:t> 0 end-1] { if {$filename != ""} { analyze -format </a:t>
            </a:r>
            <a:r>
              <a:rPr lang="en-US" altLang="zh-CN" sz="1000" dirty="0" err="1">
                <a:latin typeface="Consolas"/>
              </a:rPr>
              <a:t>vhdl</a:t>
            </a:r>
            <a:r>
              <a:rPr lang="en-US" altLang="zh-CN" sz="1000" dirty="0">
                <a:latin typeface="Consolas"/>
              </a:rPr>
              <a:t> -lib WORK "../</a:t>
            </a:r>
            <a:r>
              <a:rPr lang="en-US" altLang="zh-CN" sz="1000" dirty="0" err="1">
                <a:latin typeface="Consolas"/>
              </a:rPr>
              <a:t>rtl</a:t>
            </a:r>
            <a:r>
              <a:rPr lang="en-US" altLang="zh-CN" sz="1000" dirty="0">
                <a:latin typeface="Consolas"/>
              </a:rPr>
              <a:t>/${filename}" } }
elaborate </a:t>
            </a:r>
            <a:r>
              <a:rPr lang="en-US" altLang="zh-CN" sz="1000" dirty="0" err="1">
                <a:latin typeface="Consolas"/>
              </a:rPr>
              <a:t>silego</a:t>
            </a:r>
            <a:r>
              <a:rPr lang="en-US" altLang="zh-CN" sz="1000" dirty="0">
                <a:latin typeface="Consolas"/>
              </a:rPr>
              <a:t> ; </a:t>
            </a:r>
            <a:r>
              <a:rPr lang="en-US" altLang="zh-CN" sz="1000" dirty="0" err="1">
                <a:latin typeface="Consolas"/>
              </a:rPr>
              <a:t>dont_touch</a:t>
            </a:r>
            <a:r>
              <a:rPr lang="en-US" altLang="zh-CN" sz="1000" dirty="0">
                <a:latin typeface="Consolas"/>
              </a:rPr>
              <a:t> </a:t>
            </a:r>
            <a:r>
              <a:rPr lang="en-US" altLang="zh-CN" sz="1000" dirty="0" err="1">
                <a:latin typeface="Consolas"/>
              </a:rPr>
              <a:t>divider_pipe</a:t>
            </a:r>
            <a:r>
              <a:rPr lang="en-US" altLang="zh-CN" sz="1000" dirty="0">
                <a:latin typeface="Consolas"/>
              </a:rPr>
              <a:t> true ; compile
foreach tile {</a:t>
            </a:r>
            <a:r>
              <a:rPr lang="en-US" altLang="zh-CN" sz="1000" dirty="0" err="1">
                <a:latin typeface="Consolas"/>
              </a:rPr>
              <a:t>Silago_top</a:t>
            </a:r>
            <a:r>
              <a:rPr lang="en-US" altLang="zh-CN" sz="1000" dirty="0">
                <a:latin typeface="Consolas"/>
              </a:rPr>
              <a:t> </a:t>
            </a:r>
            <a:r>
              <a:rPr lang="en-US" altLang="zh-CN" sz="1000" dirty="0" err="1">
                <a:latin typeface="Consolas"/>
              </a:rPr>
              <a:t>Silago_bot</a:t>
            </a:r>
            <a:r>
              <a:rPr lang="en-US" altLang="zh-CN" sz="1000" dirty="0">
                <a:latin typeface="Consolas"/>
              </a:rPr>
              <a:t> ...} { analyze/elaborate/link/</a:t>
            </a:r>
            <a:r>
              <a:rPr lang="en-US" altLang="zh-CN" sz="1000" dirty="0" err="1">
                <a:latin typeface="Consolas"/>
              </a:rPr>
              <a:t>apply_constraints</a:t>
            </a:r>
            <a:r>
              <a:rPr lang="en-US" altLang="zh-CN" sz="1000" dirty="0">
                <a:latin typeface="Consolas"/>
              </a:rPr>
              <a:t>/compile }
analyze -format </a:t>
            </a:r>
            <a:r>
              <a:rPr lang="en-US" altLang="zh-CN" sz="1000" dirty="0" err="1">
                <a:latin typeface="Consolas"/>
              </a:rPr>
              <a:t>vhdl</a:t>
            </a:r>
            <a:r>
              <a:rPr lang="en-US" altLang="zh-CN" sz="1000" dirty="0">
                <a:latin typeface="Consolas"/>
              </a:rPr>
              <a:t> -lib WORK "../</a:t>
            </a:r>
            <a:r>
              <a:rPr lang="en-US" altLang="zh-CN" sz="1000" dirty="0" err="1">
                <a:latin typeface="Consolas"/>
              </a:rPr>
              <a:t>rtl</a:t>
            </a:r>
            <a:r>
              <a:rPr lang="en-US" altLang="zh-CN" sz="1000" dirty="0">
                <a:latin typeface="Consolas"/>
              </a:rPr>
              <a:t>/</a:t>
            </a:r>
            <a:r>
              <a:rPr lang="en-US" altLang="zh-CN" sz="1000" dirty="0" err="1">
                <a:latin typeface="Consolas"/>
              </a:rPr>
              <a:t>mtrf</a:t>
            </a:r>
            <a:r>
              <a:rPr lang="en-US" altLang="zh-CN" sz="1000" dirty="0">
                <a:latin typeface="Consolas"/>
              </a:rPr>
              <a:t>/</a:t>
            </a:r>
            <a:r>
              <a:rPr lang="en-US" altLang="zh-CN" sz="1000" dirty="0" err="1">
                <a:latin typeface="Consolas"/>
              </a:rPr>
              <a:t>drra_wrapper.vhd</a:t>
            </a:r>
            <a:r>
              <a:rPr lang="en-US" altLang="zh-CN" sz="1000" dirty="0">
                <a:latin typeface="Consolas"/>
              </a:rPr>
              <a:t>"
elaborate </a:t>
            </a:r>
            <a:r>
              <a:rPr lang="en-US" altLang="zh-CN" sz="1000" dirty="0" err="1">
                <a:latin typeface="Consolas"/>
              </a:rPr>
              <a:t>drra_wrapper</a:t>
            </a:r>
            <a:r>
              <a:rPr lang="en-US" altLang="zh-CN" sz="1000" dirty="0">
                <a:latin typeface="Consolas"/>
              </a:rPr>
              <a:t> ; </a:t>
            </a:r>
            <a:r>
              <a:rPr lang="en-US" altLang="zh-CN" sz="1000" dirty="0" err="1">
                <a:latin typeface="Consolas"/>
              </a:rPr>
              <a:t>dont_touch</a:t>
            </a:r>
            <a:r>
              <a:rPr lang="en-US" altLang="zh-CN" sz="1000" dirty="0">
                <a:latin typeface="Consolas"/>
              </a:rPr>
              <a:t> {</a:t>
            </a:r>
            <a:r>
              <a:rPr lang="en-US" altLang="zh-CN" sz="1000" dirty="0" err="1">
                <a:latin typeface="Consolas"/>
              </a:rPr>
              <a:t>divider_pipe</a:t>
            </a:r>
            <a:r>
              <a:rPr lang="en-US" altLang="zh-CN" sz="1000" dirty="0">
                <a:latin typeface="Consolas"/>
              </a:rPr>
              <a:t> </a:t>
            </a:r>
            <a:r>
              <a:rPr lang="en-US" altLang="zh-CN" sz="1000" dirty="0" err="1">
                <a:latin typeface="Consolas"/>
              </a:rPr>
              <a:t>silego</a:t>
            </a:r>
            <a:r>
              <a:rPr lang="en-US" altLang="zh-CN" sz="1000" dirty="0">
                <a:latin typeface="Consolas"/>
              </a:rPr>
              <a:t> ...} true ; compile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rPr lang="en-US" altLang="zh-CN" sz="1000" dirty="0">
                <a:latin typeface="Consolas"/>
              </a:rPr>
              <a:t>…
</a:t>
            </a:r>
            <a:r>
              <a:rPr lang="en-US" altLang="zh-CN" sz="1000" dirty="0" err="1">
                <a:latin typeface="Consolas"/>
              </a:rPr>
              <a:t>write_file</a:t>
            </a:r>
            <a:r>
              <a:rPr lang="en-US" altLang="zh-CN" sz="1000" dirty="0">
                <a:latin typeface="Consolas"/>
              </a:rPr>
              <a:t> -format </a:t>
            </a:r>
            <a:r>
              <a:rPr lang="en-US" altLang="zh-CN" sz="1000" dirty="0" err="1">
                <a:latin typeface="Consolas"/>
              </a:rPr>
              <a:t>ddc</a:t>
            </a:r>
            <a:r>
              <a:rPr lang="en-US" altLang="zh-CN" sz="1000" dirty="0">
                <a:latin typeface="Consolas"/>
              </a:rPr>
              <a:t> ... ; </a:t>
            </a:r>
            <a:r>
              <a:rPr lang="en-US" altLang="zh-CN" sz="1000" dirty="0" err="1">
                <a:latin typeface="Consolas"/>
              </a:rPr>
              <a:t>write_file</a:t>
            </a:r>
            <a:r>
              <a:rPr lang="en-US" altLang="zh-CN" sz="1000" dirty="0">
                <a:latin typeface="Consolas"/>
              </a:rPr>
              <a:t> -format </a:t>
            </a:r>
            <a:r>
              <a:rPr lang="en-US" altLang="zh-CN" sz="1000" dirty="0" err="1">
                <a:latin typeface="Consolas"/>
              </a:rPr>
              <a:t>verilog</a:t>
            </a:r>
            <a:r>
              <a:rPr lang="en-US" altLang="zh-CN" sz="1000" dirty="0">
                <a:latin typeface="Consolas"/>
              </a:rPr>
              <a:t> ... ; </a:t>
            </a:r>
            <a:r>
              <a:rPr lang="en-US" altLang="zh-CN" sz="1000" dirty="0" err="1">
                <a:latin typeface="Consolas"/>
              </a:rPr>
              <a:t>write_sdc</a:t>
            </a:r>
            <a:r>
              <a:rPr lang="en-US" altLang="zh-CN" sz="1000" dirty="0">
                <a:latin typeface="Consolas"/>
              </a:rPr>
              <a:t> ... ; </a:t>
            </a:r>
            <a:r>
              <a:rPr lang="en-US" altLang="zh-CN" sz="1000" dirty="0" err="1">
                <a:latin typeface="Consolas"/>
              </a:rPr>
              <a:t>write_sdf</a:t>
            </a:r>
            <a:r>
              <a:rPr lang="en-US" altLang="zh-CN" sz="1000" dirty="0">
                <a:latin typeface="Consolas"/>
              </a:rPr>
              <a:t> 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19388" y="5143468"/>
            <a:ext cx="5084064" cy="146304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rPr sz="800" b="0" i="0" dirty="0">
                <a:latin typeface="Arial"/>
              </a:rPr>
              <a:t>Source: main/syn/</a:t>
            </a:r>
            <a:r>
              <a:rPr sz="800" b="0" i="0" dirty="0" err="1">
                <a:latin typeface="Arial"/>
              </a:rPr>
              <a:t>scr</a:t>
            </a:r>
            <a:r>
              <a:rPr sz="800" b="0" i="0" dirty="0">
                <a:latin typeface="Arial"/>
              </a:rPr>
              <a:t>/</a:t>
            </a:r>
            <a:r>
              <a:rPr sz="800" b="0" i="0" dirty="0" err="1">
                <a:latin typeface="Arial"/>
              </a:rPr>
              <a:t>dc_bottomup.tcl</a:t>
            </a:r>
            <a:endParaRPr sz="800" b="0" i="0" dirty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41248" y="5349240"/>
            <a:ext cx="1028700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5440680"/>
            <a:ext cx="995781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Hierarchical relevance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733288"/>
            <a:ext cx="9957816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This logic-synthesis flow preserves the hierarchy that is later reused in Task 5 floorplanning and Task 6 hierarchical physical implementation.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611112"/>
            <a:ext cx="5029200" cy="13716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850">
                <a:solidFill>
                  <a:srgbClr val="676F71"/>
                </a:solidFill>
                <a:latin typeface="Arial"/>
              </a:defRPr>
            </a:pPr>
            <a:r>
              <a:rPr sz="700" b="0" i="0">
                <a:latin typeface="Arial"/>
              </a:rPr>
              <a:t>IL2225 project presentation | SiLagoNN implementation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92824"/>
            <a:ext cx="41148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r">
              <a:defRPr sz="900" b="1">
                <a:solidFill>
                  <a:srgbClr val="676F71"/>
                </a:solidFill>
                <a:latin typeface="Arial"/>
              </a:defRPr>
            </a:pPr>
            <a:r>
              <a:rPr sz="800" b="0" i="0"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C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097280" cy="73152"/>
          </a:xfrm>
          <a:prstGeom prst="rect">
            <a:avLst/>
          </a:prstGeom>
          <a:solidFill>
            <a:srgbClr val="D4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926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rPr sz="2400" b="0" i="0">
                <a:latin typeface="Georgia"/>
              </a:rPr>
              <a:t>Task 3: Bottom-Up Synthesis PPA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005840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1200">
                <a:solidFill>
                  <a:srgbClr val="676F71"/>
                </a:solidFill>
                <a:latin typeface="Arial"/>
              </a:defRPr>
            </a:pPr>
            <a:r>
              <a:rPr sz="1200" b="0" i="0">
                <a:latin typeface="Arial"/>
              </a:rPr>
              <a:t>This bottom-up summary captures the same clock-scaling trend while preserving the hierarchy-oriented synthesis story.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128016"/>
            <a:ext cx="1188720" cy="310896"/>
          </a:xfrm>
          <a:prstGeom prst="roundRect">
            <a:avLst/>
          </a:prstGeom>
          <a:solidFill>
            <a:srgbClr val="C9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000" b="0" i="0">
                <a:latin typeface="Arial"/>
              </a:rPr>
              <a:t>Task 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65392"/>
            <a:ext cx="11185855" cy="18288"/>
          </a:xfrm>
          <a:prstGeom prst="rect">
            <a:avLst/>
          </a:prstGeom>
          <a:solidFill>
            <a:srgbClr val="D8D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325880"/>
          <a:ext cx="65836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Clock Period (ns)</a:t>
                      </a:r>
                    </a:p>
                  </a:txBody>
                  <a:tcPr>
                    <a:solidFill>
                      <a:srgbClr val="C963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Total Power (mW)</a:t>
                      </a:r>
                    </a:p>
                  </a:txBody>
                  <a:tcPr>
                    <a:solidFill>
                      <a:srgbClr val="C963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Total Cell Area (um^2)</a:t>
                      </a:r>
                    </a:p>
                  </a:txBody>
                  <a:tcPr>
                    <a:solidFill>
                      <a:srgbClr val="C963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Slack (ps)</a:t>
                      </a:r>
                    </a:p>
                  </a:txBody>
                  <a:tcPr>
                    <a:solidFill>
                      <a:srgbClr val="C963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10.4048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363814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9.22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20.6061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364621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8.61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26.8799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392192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0.12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35.3253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394994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-209.41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79792" y="1325880"/>
            <a:ext cx="388620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44384" y="1417320"/>
            <a:ext cx="355701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Timing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44384" y="1709928"/>
            <a:ext cx="3557016" cy="6675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The slack trend remains the clearest result: 20 ns and 10 ns are safe, 8 ns is near the limit, and 6 ns violates timing.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79792" y="2606040"/>
            <a:ext cx="388620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44384" y="2697480"/>
            <a:ext cx="355701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PPA 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44384" y="2990088"/>
            <a:ext cx="3557016" cy="6217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Bottom-up preserves hierarchy but usually gives slightly weaker global PPA than flat synthesis because cross-boundary optimization is more limited.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69080"/>
            <a:ext cx="105156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6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4160520"/>
            <a:ext cx="1018641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Summary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453128"/>
            <a:ext cx="10186416" cy="11704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r>
              <a:rPr sz="1200" b="0" i="0" dirty="0">
                <a:latin typeface="Arial"/>
              </a:rPr>
              <a:t>The Task 3 numbers are now kept canonically in main/syn/data/task3_bottomup_summary.csv and regenerated into the consolidated summary reports, so the PPT and main workspace stay aligned.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611112"/>
            <a:ext cx="5029200" cy="13716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850">
                <a:solidFill>
                  <a:srgbClr val="676F71"/>
                </a:solidFill>
                <a:latin typeface="Arial"/>
              </a:defRPr>
            </a:pPr>
            <a:r>
              <a:rPr sz="700" b="0" i="0">
                <a:latin typeface="Arial"/>
              </a:rPr>
              <a:t>IL2225 project presentation | SiLagoNN implementation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92824"/>
            <a:ext cx="41148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r">
              <a:defRPr sz="900" b="1">
                <a:solidFill>
                  <a:srgbClr val="676F71"/>
                </a:solidFill>
                <a:latin typeface="Arial"/>
              </a:defRPr>
            </a:pPr>
            <a:r>
              <a:rPr sz="800" b="0" i="0"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C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097280" cy="73152"/>
          </a:xfrm>
          <a:prstGeom prst="rect">
            <a:avLst/>
          </a:prstGeom>
          <a:solidFill>
            <a:srgbClr val="D4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926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rPr sz="2400" b="0" i="0">
                <a:latin typeface="Georgia"/>
              </a:rPr>
              <a:t>Flat Vs Bottom-Up Synthesis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005840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1200">
                <a:solidFill>
                  <a:srgbClr val="676F71"/>
                </a:solidFill>
                <a:latin typeface="Arial"/>
              </a:defRPr>
            </a:pPr>
            <a:r>
              <a:rPr sz="1200" b="0" i="0">
                <a:latin typeface="Arial"/>
              </a:rPr>
              <a:t>The trade-off is mainly between global optimization and hierarchy preservation.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128016"/>
            <a:ext cx="1188720" cy="310896"/>
          </a:xfrm>
          <a:prstGeom prst="roundRect">
            <a:avLst/>
          </a:prstGeom>
          <a:solidFill>
            <a:srgbClr val="C9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000" b="0" i="0">
                <a:latin typeface="Arial"/>
              </a:rPr>
              <a:t>Compare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65392"/>
            <a:ext cx="11185855" cy="18288"/>
          </a:xfrm>
          <a:prstGeom prst="rect">
            <a:avLst/>
          </a:prstGeom>
          <a:solidFill>
            <a:srgbClr val="D8D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52044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3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508760"/>
            <a:ext cx="319125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Flat synthesis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801368"/>
            <a:ext cx="3191256" cy="8503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Best global visibility. Usually smaller area and cleaner cross-boundary optimization. Good if runtime and memory are acceptable.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52044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6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1508760"/>
            <a:ext cx="319125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Bottom-up synthesis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801368"/>
            <a:ext cx="3191256" cy="8503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Better hierarchy preservation. Easier to reuse blocks and more suitable for later hierarchical implementation.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417320"/>
            <a:ext cx="352044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4A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65592" y="1508760"/>
            <a:ext cx="319125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Practical 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1801368"/>
            <a:ext cx="3191256" cy="8503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Task 3 is not just another synthesis experiment. It is the logical setup step for Task 5 and Task 6.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063240"/>
            <a:ext cx="53035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3154680"/>
            <a:ext cx="497433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Observed trade-offs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3447288"/>
            <a:ext cx="4974336" cy="1673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447288"/>
            <a:ext cx="4983480" cy="167335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Flat sees the whole design and often wins area.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Bottom-up sacrifices some global optimization for modularity.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The tighter the clock, the more the difference matters.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063240"/>
            <a:ext cx="50749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36792" y="3154680"/>
            <a:ext cx="474573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Implementation implications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3447288"/>
            <a:ext cx="4745736" cy="1673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3447288"/>
            <a:ext cx="4754880" cy="167335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Flat is well suited to top-level optimization.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Bottom-up is well suited to hierarchy preservation and block reuse.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The preferred flow depends on the implementation stage that follows.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611112"/>
            <a:ext cx="5029200" cy="13716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850">
                <a:solidFill>
                  <a:srgbClr val="676F71"/>
                </a:solidFill>
                <a:latin typeface="Arial"/>
              </a:defRPr>
            </a:pPr>
            <a:r>
              <a:rPr sz="700" b="0" i="0">
                <a:latin typeface="Arial"/>
              </a:rPr>
              <a:t>IL2225 project presentation | SiLagoNN implementation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92824"/>
            <a:ext cx="41148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r">
              <a:defRPr sz="900" b="1">
                <a:solidFill>
                  <a:srgbClr val="676F71"/>
                </a:solidFill>
                <a:latin typeface="Arial"/>
              </a:defRPr>
            </a:pPr>
            <a:r>
              <a:rPr sz="800" b="0" i="0"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C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097280" cy="73152"/>
          </a:xfrm>
          <a:prstGeom prst="rect">
            <a:avLst/>
          </a:prstGeom>
          <a:solidFill>
            <a:srgbClr val="D4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926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rPr sz="2400" b="0" i="0">
                <a:latin typeface="Georgia"/>
              </a:rPr>
              <a:t>Task 4: Flat Physical Synthesis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005840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1200">
                <a:solidFill>
                  <a:srgbClr val="676F71"/>
                </a:solidFill>
                <a:latin typeface="Arial"/>
              </a:defRPr>
            </a:pPr>
            <a:r>
              <a:rPr sz="1200" b="0" i="0">
                <a:latin typeface="Arial"/>
              </a:rPr>
              <a:t>Now we move from logic-only estimation to a layout-aware implementation flow: floorplan, placement, CTS, routing, and post-route impact.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128016"/>
            <a:ext cx="1188720" cy="310896"/>
          </a:xfrm>
          <a:prstGeom prst="roundRect">
            <a:avLst/>
          </a:prstGeom>
          <a:solidFill>
            <a:srgbClr val="C9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000" b="0" i="0">
                <a:latin typeface="Arial"/>
              </a:rPr>
              <a:t>Task 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65392"/>
            <a:ext cx="11185855" cy="18288"/>
          </a:xfrm>
          <a:prstGeom prst="rect">
            <a:avLst/>
          </a:prstGeom>
          <a:solidFill>
            <a:srgbClr val="D8D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325880"/>
            <a:ext cx="4754880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442569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Flow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09928"/>
            <a:ext cx="4425696" cy="31821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1709928"/>
            <a:ext cx="4434840" cy="318211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Initialize the Innovus environment and read the synthesized design.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Create the floorplan and power plan.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Place the standard cells.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Build the clock tree with CTS / ccopt.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Route the design and save the physical database.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1325880"/>
            <a:ext cx="54864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4A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88152" y="1417320"/>
            <a:ext cx="515721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Why this task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88152" y="1709928"/>
            <a:ext cx="5157216" cy="5760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Logic synthesis does not see real interconnect RC or clock-tree overhead. Task 4 reveals what the design looks like after physical effects are introduced.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2606040"/>
            <a:ext cx="54864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6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88152" y="2697480"/>
            <a:ext cx="515721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Core scripts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88152" y="2990088"/>
            <a:ext cx="5157216" cy="5760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run_flat_pnr.sh -&gt; pnr_flat.tcl -&gt; global_variables.tcl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3886200"/>
            <a:ext cx="54864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3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88152" y="3977640"/>
            <a:ext cx="515721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Short explanation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88152" y="4270248"/>
            <a:ext cx="5157216" cy="5760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In flat PnR, the full design is implemented as one big block. This is the physical counterpart of Task 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611112"/>
            <a:ext cx="5029200" cy="13716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850">
                <a:solidFill>
                  <a:srgbClr val="676F71"/>
                </a:solidFill>
                <a:latin typeface="Arial"/>
              </a:defRPr>
            </a:pPr>
            <a:r>
              <a:rPr sz="700" b="0" i="0">
                <a:latin typeface="Arial"/>
              </a:rPr>
              <a:t>IL2225 project presentation | SiLagoNN implementation 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92824"/>
            <a:ext cx="41148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r">
              <a:defRPr sz="900" b="1">
                <a:solidFill>
                  <a:srgbClr val="676F71"/>
                </a:solidFill>
                <a:latin typeface="Arial"/>
              </a:defRPr>
            </a:pPr>
            <a:r>
              <a:rPr sz="800" b="0" i="0"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C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097280" cy="73152"/>
          </a:xfrm>
          <a:prstGeom prst="rect">
            <a:avLst/>
          </a:prstGeom>
          <a:solidFill>
            <a:srgbClr val="D4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926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rPr sz="2400" b="0" i="0">
                <a:latin typeface="Georgia"/>
              </a:rPr>
              <a:t>Task 4: Flat Physical Synthesis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4068" y="789974"/>
            <a:ext cx="1005840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1200">
                <a:solidFill>
                  <a:srgbClr val="676F71"/>
                </a:solidFill>
                <a:latin typeface="Arial"/>
              </a:defRPr>
            </a:pPr>
            <a:r>
              <a:rPr sz="1200" b="0" i="0">
                <a:latin typeface="Arial"/>
              </a:rPr>
              <a:t>Using the 20 ns bottom-up logic-synthesis handoff, the physical flow shows the PPA cost of real layout effects.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128016"/>
            <a:ext cx="1188720" cy="310896"/>
          </a:xfrm>
          <a:prstGeom prst="roundRect">
            <a:avLst/>
          </a:prstGeom>
          <a:solidFill>
            <a:srgbClr val="C9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000" b="0" i="0">
                <a:latin typeface="Arial"/>
              </a:rPr>
              <a:t>Task 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65392"/>
            <a:ext cx="11185855" cy="18288"/>
          </a:xfrm>
          <a:prstGeom prst="rect">
            <a:avLst/>
          </a:prstGeom>
          <a:solidFill>
            <a:srgbClr val="D8D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pic>
        <p:nvPicPr>
          <p:cNvPr id="8" name="Picture 7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255" y="1083567"/>
            <a:ext cx="4560723" cy="31380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42808" y="4243471"/>
            <a:ext cx="52578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defRPr sz="1000" b="0">
                <a:solidFill>
                  <a:srgbClr val="676F71"/>
                </a:solidFill>
                <a:latin typeface="Arial"/>
              </a:defRPr>
            </a:pPr>
            <a:r>
              <a:rPr sz="1000" b="0" i="0" dirty="0">
                <a:latin typeface="Arial"/>
              </a:rPr>
              <a:t>Original Task 4 comparison view A</a:t>
            </a:r>
          </a:p>
        </p:txBody>
      </p:sp>
      <p:pic>
        <p:nvPicPr>
          <p:cNvPr id="10" name="Picture 9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5639" y="1083567"/>
            <a:ext cx="4454881" cy="31599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91788" y="4258821"/>
            <a:ext cx="52578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defRPr sz="1000" b="0">
                <a:solidFill>
                  <a:srgbClr val="676F71"/>
                </a:solidFill>
                <a:latin typeface="Arial"/>
              </a:defRPr>
            </a:pPr>
            <a:r>
              <a:rPr sz="1000" b="0" i="0" dirty="0">
                <a:latin typeface="Arial"/>
              </a:rPr>
              <a:t>Original Task 4 comparison view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913" y="4447249"/>
            <a:ext cx="47548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 dirty="0">
                <a:latin typeface="Arial"/>
              </a:rPr>
              <a:t>PPA Results before/after Physical Synthesis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586176"/>
              </p:ext>
            </p:extLst>
          </p:nvPr>
        </p:nvGraphicFramePr>
        <p:xfrm>
          <a:off x="281912" y="4742467"/>
          <a:ext cx="6558780" cy="149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9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9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9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9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959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 dirty="0">
                          <a:latin typeface="Arial"/>
                        </a:rPr>
                        <a:t>Stage</a:t>
                      </a:r>
                    </a:p>
                  </a:txBody>
                  <a:tcPr>
                    <a:solidFill>
                      <a:srgbClr val="1C3F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 dirty="0">
                          <a:latin typeface="Arial"/>
                        </a:rPr>
                        <a:t>Total Power (</a:t>
                      </a:r>
                      <a:r>
                        <a:rPr sz="900" dirty="0" err="1">
                          <a:latin typeface="Arial"/>
                        </a:rPr>
                        <a:t>mW</a:t>
                      </a:r>
                      <a:r>
                        <a:rPr sz="900" dirty="0">
                          <a:latin typeface="Arial"/>
                        </a:rPr>
                        <a:t>)</a:t>
                      </a:r>
                    </a:p>
                  </a:txBody>
                  <a:tcPr>
                    <a:solidFill>
                      <a:srgbClr val="1C3F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Total Cell Area (um^2)</a:t>
                      </a:r>
                    </a:p>
                  </a:txBody>
                  <a:tcPr>
                    <a:solidFill>
                      <a:srgbClr val="1C3F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 dirty="0">
                          <a:latin typeface="Arial"/>
                        </a:rPr>
                        <a:t>Slack (</a:t>
                      </a:r>
                      <a:r>
                        <a:rPr sz="900" dirty="0" err="1">
                          <a:latin typeface="Arial"/>
                        </a:rPr>
                        <a:t>ps</a:t>
                      </a:r>
                      <a:r>
                        <a:rPr sz="900" dirty="0">
                          <a:latin typeface="Arial"/>
                        </a:rPr>
                        <a:t>)</a:t>
                      </a:r>
                    </a:p>
                  </a:txBody>
                  <a:tcPr>
                    <a:solidFill>
                      <a:srgbClr val="1C3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785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Logic Synthesis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10.4048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363814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 dirty="0">
                          <a:latin typeface="Arial"/>
                        </a:rPr>
                        <a:t>29.24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785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 dirty="0">
                          <a:latin typeface="Arial"/>
                        </a:rPr>
                        <a:t>Physical Synthesis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80.4640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381986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 dirty="0">
                          <a:latin typeface="Arial"/>
                        </a:rPr>
                        <a:t>-280.85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355858" y="5049613"/>
            <a:ext cx="3657600" cy="7961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5042" y="5104148"/>
            <a:ext cx="332841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 dirty="0">
                <a:latin typeface="Arial"/>
              </a:rPr>
              <a:t>Observation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2260" y="4689974"/>
            <a:ext cx="3328416" cy="11521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99248" y="5398063"/>
            <a:ext cx="3337560" cy="370004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 dirty="0">
                <a:latin typeface="Arial"/>
              </a:rPr>
              <a:t>After physical synthesis, power and area increase and timing degrades.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0493" y="1451610"/>
            <a:ext cx="2090628" cy="2226887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3212" y="1554481"/>
            <a:ext cx="1004925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 dirty="0">
                <a:latin typeface="Arial"/>
              </a:rPr>
              <a:t>Reasons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5916168"/>
            <a:ext cx="10049256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 fontScale="92500" lnSpcReduction="20000"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1" y="1916482"/>
            <a:ext cx="1903400" cy="1198357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 dirty="0">
                <a:latin typeface="Arial"/>
              </a:rPr>
              <a:t>Real interconnect RC, clock tree insertion, buffering, and congestion-aware optimization are introduced.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611112"/>
            <a:ext cx="5029200" cy="13716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850">
                <a:solidFill>
                  <a:srgbClr val="676F71"/>
                </a:solidFill>
                <a:latin typeface="Arial"/>
              </a:defRPr>
            </a:pPr>
            <a:r>
              <a:rPr sz="700" b="0" i="0">
                <a:latin typeface="Arial"/>
              </a:rPr>
              <a:t>IL2225 project presentation | SiLagoNN implementation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92824"/>
            <a:ext cx="41148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r">
              <a:defRPr sz="900" b="1">
                <a:solidFill>
                  <a:srgbClr val="676F71"/>
                </a:solidFill>
                <a:latin typeface="Arial"/>
              </a:defRPr>
            </a:pPr>
            <a:r>
              <a:rPr sz="800" b="0" i="0"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C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097280" cy="73152"/>
          </a:xfrm>
          <a:prstGeom prst="rect">
            <a:avLst/>
          </a:prstGeom>
          <a:solidFill>
            <a:srgbClr val="D4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926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rPr sz="2400" b="0" i="0">
                <a:latin typeface="Georgia"/>
              </a:rPr>
              <a:t>Task 5: Floorplanning Prepares The Hierarchical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005840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1200">
                <a:solidFill>
                  <a:srgbClr val="676F71"/>
                </a:solidFill>
                <a:latin typeface="Arial"/>
              </a:defRPr>
            </a:pPr>
            <a:r>
              <a:rPr sz="1200" b="0" i="0">
                <a:latin typeface="Arial"/>
              </a:rPr>
              <a:t>Task 5 is the bridge between bottom-up synthesis and hierarchical physical synthesis.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128016"/>
            <a:ext cx="1188720" cy="310896"/>
          </a:xfrm>
          <a:prstGeom prst="roundRect">
            <a:avLst/>
          </a:prstGeom>
          <a:solidFill>
            <a:srgbClr val="C9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000" b="0" i="0">
                <a:latin typeface="Arial"/>
              </a:rPr>
              <a:t>Task 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65392"/>
            <a:ext cx="11185855" cy="18288"/>
          </a:xfrm>
          <a:prstGeom prst="rect">
            <a:avLst/>
          </a:prstGeom>
          <a:solidFill>
            <a:srgbClr val="D8D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325880"/>
            <a:ext cx="4754880" cy="3794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442569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What Task 5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09928"/>
            <a:ext cx="4425696" cy="33192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1709928"/>
            <a:ext cx="4434840" cy="331927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Create the top floorplan for the 8x2 tile array.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Assign each tile instance to its own physical fence.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Create physical partitions and pin constraints.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Generate timing budgets so the sub-blocks can be implemented separately.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325880"/>
            <a:ext cx="5577840" cy="3794760"/>
          </a:xfrm>
          <a:prstGeom prst="roundRect">
            <a:avLst/>
          </a:prstGeom>
          <a:solidFill>
            <a:srgbClr val="1E2B34"/>
          </a:solidFill>
          <a:ln w="19050">
            <a:solidFill>
              <a:srgbClr val="C96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650992" y="1435608"/>
            <a:ext cx="1508760" cy="292608"/>
          </a:xfrm>
          <a:prstGeom prst="roundRect">
            <a:avLst/>
          </a:prstGeom>
          <a:solidFill>
            <a:srgbClr val="C9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000" b="0" i="0">
                <a:latin typeface="Arial"/>
              </a:rPr>
              <a:t>floorplan + partition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7568" y="1828800"/>
            <a:ext cx="5175504" cy="295351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rPr sz="1000" b="0" i="0">
                <a:latin typeface="Consolas"/>
              </a:rPr>
              <a:t>create_floorplan -site SC8T_104CPP_CMOS22FDX \</a:t>
            </a:r>
            <a:br>
              <a:rPr sz="1000" b="0" i="0">
                <a:latin typeface="Consolas"/>
              </a:rPr>
            </a:br>
            <a:r>
              <a:rPr sz="1000" b="0" i="0">
                <a:latin typeface="Consolas"/>
              </a:rPr>
              <a:t>    -core_size [expr {8*$width + 7*$margin}] \</a:t>
            </a:r>
            <a:br>
              <a:rPr sz="1000" b="0" i="0">
                <a:latin typeface="Consolas"/>
              </a:rPr>
            </a:br>
            <a:r>
              <a:rPr sz="1000" b="0" i="0">
                <a:latin typeface="Consolas"/>
              </a:rPr>
              <a:t>    [expr {2*$height + 1*$margin}] 10 10 10 10</a:t>
            </a:r>
            <a:br>
              <a:rPr sz="1000" b="0" i="0">
                <a:latin typeface="Consolas"/>
              </a:rPr>
            </a:br>
            <a:r>
              <a:rPr sz="1000" b="0" i="0">
                <a:latin typeface="Consolas"/>
              </a:rPr>
              <a:t>...</a:t>
            </a:r>
            <a:br>
              <a:rPr sz="1000" b="0" i="0">
                <a:latin typeface="Consolas"/>
              </a:rPr>
            </a:br>
            <a:r>
              <a:rPr sz="1000" b="0" i="0">
                <a:latin typeface="Consolas"/>
              </a:rPr>
              <a:t>create_boundary_constraint -type fence -hinst $cell \</a:t>
            </a:r>
            <a:br>
              <a:rPr sz="1000" b="0" i="0">
                <a:latin typeface="Consolas"/>
              </a:rPr>
            </a:br>
            <a:r>
              <a:rPr sz="1000" b="0" i="0">
                <a:latin typeface="Consolas"/>
              </a:rPr>
              <a:t>    -rects [list [list $x1 $y1 $x2 $y2]]</a:t>
            </a:r>
            <a:br>
              <a:rPr sz="1000" b="0" i="0">
                <a:latin typeface="Consolas"/>
              </a:rPr>
            </a:br>
            <a:r>
              <a:rPr sz="1000" b="0" i="0">
                <a:latin typeface="Consolas"/>
              </a:rPr>
              <a:t>...</a:t>
            </a:r>
            <a:br>
              <a:rPr sz="1000" b="0" i="0">
                <a:latin typeface="Consolas"/>
              </a:rPr>
            </a:br>
            <a:r>
              <a:rPr sz="1000" b="0" i="0">
                <a:latin typeface="Consolas"/>
              </a:rPr>
              <a:t>create_partition -hinst ${part_hinst} ...</a:t>
            </a:r>
            <a:br>
              <a:rPr sz="1000" b="0" i="0">
                <a:latin typeface="Consolas"/>
              </a:rPr>
            </a:br>
            <a:r>
              <a:rPr sz="1000" b="0" i="0">
                <a:latin typeface="Consolas"/>
              </a:rPr>
              <a:t>assign_partition_pins</a:t>
            </a:r>
            <a:br>
              <a:rPr sz="1000" b="0" i="0">
                <a:latin typeface="Consolas"/>
              </a:rPr>
            </a:br>
            <a:r>
              <a:rPr sz="1000" b="0" i="0">
                <a:latin typeface="Consolas"/>
              </a:rPr>
              <a:t>commit_partitions</a:t>
            </a:r>
            <a:br>
              <a:rPr sz="1000" b="0" i="0">
                <a:latin typeface="Consolas"/>
              </a:rPr>
            </a:br>
            <a:r>
              <a:rPr sz="1000" b="0" i="0">
                <a:latin typeface="Consolas"/>
              </a:rPr>
              <a:t>write_partitions -dir ${PART_DIR} -def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4864608"/>
            <a:ext cx="5175504" cy="146304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rPr sz="800" b="0" i="0">
                <a:latin typeface="Arial"/>
              </a:rPr>
              <a:t>Source: main/phy/scr/floorplan.tcl + partition.tcl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394960"/>
            <a:ext cx="1024128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3272" y="5486400"/>
            <a:ext cx="991209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Hierarchical 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5779008"/>
            <a:ext cx="9912096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Task 5 provides the physical partitions required by Task 6, so floorplanning becomes the setup step for divide-and-conquer implementation.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611112"/>
            <a:ext cx="5029200" cy="13716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850">
                <a:solidFill>
                  <a:srgbClr val="676F71"/>
                </a:solidFill>
                <a:latin typeface="Arial"/>
              </a:defRPr>
            </a:pPr>
            <a:r>
              <a:rPr sz="700" b="0" i="0">
                <a:latin typeface="Arial"/>
              </a:rPr>
              <a:t>IL2225 project presentation | SiLagoNN implementation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92824"/>
            <a:ext cx="41148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r">
              <a:defRPr sz="900" b="1">
                <a:solidFill>
                  <a:srgbClr val="676F71"/>
                </a:solidFill>
                <a:latin typeface="Arial"/>
              </a:defRPr>
            </a:pPr>
            <a:r>
              <a:rPr sz="800" b="0" i="0"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C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097280" cy="73152"/>
          </a:xfrm>
          <a:prstGeom prst="rect">
            <a:avLst/>
          </a:prstGeom>
          <a:solidFill>
            <a:srgbClr val="D4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926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rPr sz="2400" b="0" i="0">
                <a:latin typeface="Georgia"/>
              </a:rPr>
              <a:t>Task 5: Floorplan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005840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1200">
                <a:solidFill>
                  <a:srgbClr val="676F71"/>
                </a:solidFill>
                <a:latin typeface="Arial"/>
              </a:defRPr>
            </a:pPr>
            <a:r>
              <a:rPr sz="1200" b="0" i="0">
                <a:latin typeface="Arial"/>
              </a:rPr>
              <a:t>The diagram shows the physical structure that makes the hierarchical implementation possible.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128016"/>
            <a:ext cx="1188720" cy="310896"/>
          </a:xfrm>
          <a:prstGeom prst="roundRect">
            <a:avLst/>
          </a:prstGeom>
          <a:solidFill>
            <a:srgbClr val="C9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000" b="0" i="0">
                <a:latin typeface="Arial"/>
              </a:rPr>
              <a:t>Task 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65392"/>
            <a:ext cx="11185855" cy="18288"/>
          </a:xfrm>
          <a:prstGeom prst="rect">
            <a:avLst/>
          </a:prstGeom>
          <a:solidFill>
            <a:srgbClr val="D8D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pic>
        <p:nvPicPr>
          <p:cNvPr id="8" name="Picture 7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83" y="2215221"/>
            <a:ext cx="7751757" cy="21921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852160"/>
            <a:ext cx="74523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defRPr sz="1000" b="0">
                <a:solidFill>
                  <a:srgbClr val="676F71"/>
                </a:solidFill>
                <a:latin typeface="Arial"/>
              </a:defRPr>
            </a:pPr>
            <a:r>
              <a:rPr sz="1000" b="0" i="0">
                <a:latin typeface="Arial"/>
              </a:rPr>
              <a:t>Partitioned 8x2 physical arrangement used as the basis for later hierarchical implementation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463040"/>
            <a:ext cx="283464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85632" y="1554480"/>
            <a:ext cx="250545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Partition fences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1847088"/>
            <a:ext cx="2505456" cy="5760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Each repeated tile region is enclosed by a fence, defining the physical boundary of one partition.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743200"/>
            <a:ext cx="283464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85632" y="2834640"/>
            <a:ext cx="250545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Why it helps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3127248"/>
            <a:ext cx="2505456" cy="5760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Partitioning reduces physical problem size and lets the blocks be processed more independently.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4023360"/>
            <a:ext cx="283464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85632" y="4114800"/>
            <a:ext cx="250545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Input to Task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4407408"/>
            <a:ext cx="2505456" cy="5760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These partitions are reused in Task 6 and then integrated again at the top level.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611112"/>
            <a:ext cx="5029200" cy="13716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850">
                <a:solidFill>
                  <a:srgbClr val="676F71"/>
                </a:solidFill>
                <a:latin typeface="Arial"/>
              </a:defRPr>
            </a:pPr>
            <a:r>
              <a:rPr sz="700" b="0" i="0">
                <a:latin typeface="Arial"/>
              </a:rPr>
              <a:t>IL2225 project presentation | SiLagoNN implementation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92824"/>
            <a:ext cx="41148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r">
              <a:defRPr sz="900" b="1">
                <a:solidFill>
                  <a:srgbClr val="676F71"/>
                </a:solidFill>
                <a:latin typeface="Arial"/>
              </a:defRPr>
            </a:pPr>
            <a:r>
              <a:rPr sz="800" b="0" i="0"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C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097280" cy="73152"/>
          </a:xfrm>
          <a:prstGeom prst="rect">
            <a:avLst/>
          </a:prstGeom>
          <a:solidFill>
            <a:srgbClr val="D4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926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rPr sz="2400" b="0" i="0">
                <a:latin typeface="Georgia"/>
              </a:rPr>
              <a:t>Task 6 Step 1: Block-Level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005840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1200">
                <a:solidFill>
                  <a:srgbClr val="676F71"/>
                </a:solidFill>
                <a:latin typeface="Arial"/>
              </a:defRPr>
            </a:pPr>
            <a:r>
              <a:rPr sz="1200" b="0" i="0">
                <a:latin typeface="Arial"/>
              </a:rPr>
              <a:t>First, each partition is implemented as its own smaller physical block.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128016"/>
            <a:ext cx="1188720" cy="310896"/>
          </a:xfrm>
          <a:prstGeom prst="roundRect">
            <a:avLst/>
          </a:prstGeom>
          <a:solidFill>
            <a:srgbClr val="C9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000" b="0" i="0">
                <a:latin typeface="Arial"/>
              </a:rPr>
              <a:t>Task 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65392"/>
            <a:ext cx="11185855" cy="18288"/>
          </a:xfrm>
          <a:prstGeom prst="rect">
            <a:avLst/>
          </a:prstGeom>
          <a:solidFill>
            <a:srgbClr val="D8D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pic>
        <p:nvPicPr>
          <p:cNvPr id="8" name="Picture 7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" y="1216152"/>
            <a:ext cx="6539266" cy="46751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011" y="5933803"/>
            <a:ext cx="39319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defRPr sz="1000" b="0">
                <a:solidFill>
                  <a:srgbClr val="676F71"/>
                </a:solidFill>
                <a:latin typeface="Arial"/>
              </a:defRPr>
            </a:pPr>
            <a:r>
              <a:rPr sz="900" b="0" i="0" dirty="0">
                <a:latin typeface="Arial"/>
              </a:rPr>
              <a:t>Example submodule physical result from the original Task 6 material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87551" y="1986888"/>
            <a:ext cx="4745490" cy="269682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38357" y="2261208"/>
            <a:ext cx="2934114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 dirty="0">
                <a:latin typeface="Arial"/>
              </a:rPr>
              <a:t>Main 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6006" y="2562960"/>
            <a:ext cx="4288536" cy="1710255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 dirty="0">
                <a:latin typeface="Arial"/>
              </a:rPr>
              <a:t>Read one partition database at a time.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 dirty="0">
                <a:latin typeface="Arial"/>
              </a:rPr>
              <a:t>Run placement, CTS, and routing on that block.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 dirty="0">
                <a:latin typeface="Arial"/>
              </a:rPr>
              <a:t>Generate an ILM for the block boundary abstraction.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 dirty="0">
                <a:latin typeface="Arial"/>
              </a:rPr>
              <a:t>Save the block result so the top-level design can reuse it later.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 dirty="0">
                <a:latin typeface="Arial"/>
              </a:rPr>
              <a:t>This reduces the complexity compared with implementing the full chip at once.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611112"/>
            <a:ext cx="5029200" cy="13716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850">
                <a:solidFill>
                  <a:srgbClr val="676F71"/>
                </a:solidFill>
                <a:latin typeface="Arial"/>
              </a:defRPr>
            </a:pPr>
            <a:r>
              <a:rPr sz="700" b="0" i="0">
                <a:latin typeface="Arial"/>
              </a:rPr>
              <a:t>IL2225 project presentation | SiLagoNN implementation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92824"/>
            <a:ext cx="41148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r">
              <a:defRPr sz="900" b="1">
                <a:solidFill>
                  <a:srgbClr val="676F71"/>
                </a:solidFill>
                <a:latin typeface="Arial"/>
              </a:defRPr>
            </a:pPr>
            <a:r>
              <a:rPr sz="800" b="0" i="0"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C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097280" cy="73152"/>
          </a:xfrm>
          <a:prstGeom prst="rect">
            <a:avLst/>
          </a:prstGeom>
          <a:solidFill>
            <a:srgbClr val="D4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926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rPr sz="2400" b="0" i="0">
                <a:latin typeface="Georgia"/>
              </a:rPr>
              <a:t>Task 6 Step 2: Top-Level Assembly With ILMs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005840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1200">
                <a:solidFill>
                  <a:srgbClr val="676F71"/>
                </a:solidFill>
                <a:latin typeface="Arial"/>
              </a:defRPr>
            </a:pPr>
            <a:r>
              <a:rPr sz="1200" b="0" i="0">
                <a:latin typeface="Arial"/>
              </a:rPr>
              <a:t>After block implementation, the top-level design is reopened and the partition ILMs are linked back 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128016"/>
            <a:ext cx="1188720" cy="310896"/>
          </a:xfrm>
          <a:prstGeom prst="roundRect">
            <a:avLst/>
          </a:prstGeom>
          <a:solidFill>
            <a:srgbClr val="C9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000" b="0" i="0">
                <a:latin typeface="Arial"/>
              </a:rPr>
              <a:t>Task 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65392"/>
            <a:ext cx="11185855" cy="18288"/>
          </a:xfrm>
          <a:prstGeom prst="rect">
            <a:avLst/>
          </a:prstGeom>
          <a:solidFill>
            <a:srgbClr val="D8D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pic>
        <p:nvPicPr>
          <p:cNvPr id="8" name="Picture 7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80" y="1261872"/>
            <a:ext cx="5979414" cy="43159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5623560"/>
            <a:ext cx="72694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defRPr sz="1000" b="0">
                <a:solidFill>
                  <a:srgbClr val="676F71"/>
                </a:solidFill>
                <a:latin typeface="Arial"/>
              </a:defRPr>
            </a:pPr>
            <a:r>
              <a:rPr sz="1000" b="0" i="0">
                <a:latin typeface="Arial"/>
              </a:rPr>
              <a:t>Top-level hierarchical physical view showing the assembled partitioned design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508760"/>
            <a:ext cx="3017520" cy="4069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48471" y="1600200"/>
            <a:ext cx="268833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What happens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1" y="1892808"/>
            <a:ext cx="2688336" cy="3593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59" y="1892808"/>
            <a:ext cx="2697480" cy="359359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Read the top partition DB.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Load the ILMs of the implemented blocks.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Flatten the ILMs for top-level integration.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Run top-level placement, CTS, and routing.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Save the final assembled design.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611112"/>
            <a:ext cx="5029200" cy="13716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850">
                <a:solidFill>
                  <a:srgbClr val="676F71"/>
                </a:solidFill>
                <a:latin typeface="Arial"/>
              </a:defRPr>
            </a:pPr>
            <a:r>
              <a:rPr sz="700" b="0" i="0">
                <a:latin typeface="Arial"/>
              </a:rPr>
              <a:t>IL2225 project presentation | SiLagoNN implementation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92824"/>
            <a:ext cx="41148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r">
              <a:defRPr sz="900" b="1">
                <a:solidFill>
                  <a:srgbClr val="676F71"/>
                </a:solidFill>
                <a:latin typeface="Arial"/>
              </a:defRPr>
            </a:pPr>
            <a:r>
              <a:rPr sz="800" b="0" i="0"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C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097280" cy="73152"/>
          </a:xfrm>
          <a:prstGeom prst="rect">
            <a:avLst/>
          </a:prstGeom>
          <a:solidFill>
            <a:srgbClr val="D4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926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rPr sz="2400" b="0" i="0">
                <a:latin typeface="Georgia"/>
              </a:rPr>
              <a:t>Task 6: Key Hierarchical Scripts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005840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1200">
                <a:solidFill>
                  <a:srgbClr val="676F71"/>
                </a:solidFill>
                <a:latin typeface="Arial"/>
              </a:defRPr>
            </a:pPr>
            <a:r>
              <a:rPr sz="1200" b="0" i="0">
                <a:latin typeface="Arial"/>
              </a:rPr>
              <a:t>The wrapper script captures the full sequence from partition creation to final top-level assembly.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128016"/>
            <a:ext cx="1188720" cy="310896"/>
          </a:xfrm>
          <a:prstGeom prst="roundRect">
            <a:avLst/>
          </a:prstGeom>
          <a:solidFill>
            <a:srgbClr val="C9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000" b="0" i="0">
                <a:latin typeface="Arial"/>
              </a:rPr>
              <a:t>Task 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65392"/>
            <a:ext cx="11185855" cy="18288"/>
          </a:xfrm>
          <a:prstGeom prst="rect">
            <a:avLst/>
          </a:prstGeom>
          <a:solidFill>
            <a:srgbClr val="D8D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440680" cy="4023360"/>
          </a:xfrm>
          <a:prstGeom prst="roundRect">
            <a:avLst/>
          </a:prstGeom>
          <a:solidFill>
            <a:srgbClr val="1E2B34"/>
          </a:solidFill>
          <a:ln w="19050">
            <a:solidFill>
              <a:srgbClr val="C96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6112" y="1527048"/>
            <a:ext cx="1508760" cy="292608"/>
          </a:xfrm>
          <a:prstGeom prst="roundRect">
            <a:avLst/>
          </a:prstGeom>
          <a:solidFill>
            <a:srgbClr val="C9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000" b="0" i="0">
                <a:latin typeface="Arial"/>
              </a:rPr>
              <a:t>run_hierarchical_pnr.sh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20240"/>
            <a:ext cx="5038344" cy="318211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rPr sz="1000" b="0" i="0">
                <a:latin typeface="Consolas"/>
              </a:rPr>
              <a:t># Step 1: Create partitions (Task 5)</a:t>
            </a:r>
            <a:br>
              <a:rPr sz="1000" b="0" i="0">
                <a:latin typeface="Consolas"/>
              </a:rPr>
            </a:br>
            <a:r>
              <a:rPr sz="1000" b="0" i="0">
                <a:latin typeface="Consolas"/>
              </a:rPr>
              <a:t>innovus -stylus -batch -files ../phy/scr/create_partitions.tcl</a:t>
            </a:r>
            <a:br>
              <a:rPr sz="1000" b="0" i="0">
                <a:latin typeface="Consolas"/>
              </a:rPr>
            </a:br>
            <a:br>
              <a:rPr sz="1000" b="0" i="0">
                <a:latin typeface="Consolas"/>
              </a:rPr>
            </a:br>
            <a:r>
              <a:rPr sz="1000" b="0" i="0">
                <a:latin typeface="Consolas"/>
              </a:rPr>
              <a:t># Step 2: Run partition PnR</a:t>
            </a:r>
            <a:br>
              <a:rPr sz="1000" b="0" i="0">
                <a:latin typeface="Consolas"/>
              </a:rPr>
            </a:br>
            <a:r>
              <a:rPr sz="1000" b="0" i="0">
                <a:latin typeface="Consolas"/>
              </a:rPr>
              <a:t>bash ../phy/scr/pnr_partition.sh</a:t>
            </a:r>
            <a:br>
              <a:rPr sz="1000" b="0" i="0">
                <a:latin typeface="Consolas"/>
              </a:rPr>
            </a:br>
            <a:br>
              <a:rPr sz="1000" b="0" i="0">
                <a:latin typeface="Consolas"/>
              </a:rPr>
            </a:br>
            <a:r>
              <a:rPr sz="1000" b="0" i="0">
                <a:latin typeface="Consolas"/>
              </a:rPr>
              <a:t># Step 3: Top-level PnR</a:t>
            </a:r>
            <a:br>
              <a:rPr sz="1000" b="0" i="0">
                <a:latin typeface="Consolas"/>
              </a:rPr>
            </a:br>
            <a:r>
              <a:rPr sz="1000" b="0" i="0">
                <a:latin typeface="Consolas"/>
              </a:rPr>
              <a:t>innovus -stylus -batch -files ../phy/scr/pnr_top.tcl</a:t>
            </a:r>
            <a:br>
              <a:rPr sz="1000" b="0" i="0">
                <a:latin typeface="Consolas"/>
              </a:rPr>
            </a:br>
            <a:br>
              <a:rPr sz="1000" b="0" i="0">
                <a:latin typeface="Consolas"/>
              </a:rPr>
            </a:br>
            <a:r>
              <a:rPr sz="1000" b="0" i="0">
                <a:latin typeface="Consolas"/>
              </a:rPr>
              <a:t># Step 4: Assemble final design</a:t>
            </a:r>
            <a:br>
              <a:rPr sz="1000" b="0" i="0">
                <a:latin typeface="Consolas"/>
              </a:rPr>
            </a:br>
            <a:r>
              <a:rPr sz="1000" b="0" i="0">
                <a:latin typeface="Consolas"/>
              </a:rPr>
              <a:t>innovus -stylus -batch -files ../phy/scr/assemble_design.tcl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5184648"/>
            <a:ext cx="5038344" cy="146304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rPr sz="800" b="0" i="0">
                <a:latin typeface="Arial"/>
              </a:rPr>
              <a:t>Source: main/phy/scr/run_hierarchical_pnr.sh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417320"/>
            <a:ext cx="4892040" cy="4023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1508760"/>
            <a:ext cx="456285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Hierarchy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1801368"/>
            <a:ext cx="4562856" cy="35478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1801368"/>
            <a:ext cx="4572000" cy="354787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Task 5 creates partitions.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Task 6 implements the partitions individually.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ILMs let the top-level run avoid full detailed block netlists.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The final top-level stage restores the chip-wide view and closes the design.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611112"/>
            <a:ext cx="5029200" cy="13716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850">
                <a:solidFill>
                  <a:srgbClr val="676F71"/>
                </a:solidFill>
                <a:latin typeface="Arial"/>
              </a:defRPr>
            </a:pPr>
            <a:r>
              <a:rPr sz="700" b="0" i="0">
                <a:latin typeface="Arial"/>
              </a:rPr>
              <a:t>IL2225 project presentation | SiLagoNN implementation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92824"/>
            <a:ext cx="41148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r">
              <a:defRPr sz="900" b="1">
                <a:solidFill>
                  <a:srgbClr val="676F71"/>
                </a:solidFill>
                <a:latin typeface="Arial"/>
              </a:defRPr>
            </a:pPr>
            <a:r>
              <a:rPr sz="800" b="0" i="0"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C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097280" cy="73152"/>
          </a:xfrm>
          <a:prstGeom prst="rect">
            <a:avLst/>
          </a:prstGeom>
          <a:solidFill>
            <a:srgbClr val="D4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926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rPr sz="2400" b="0" i="0">
                <a:latin typeface="Georgia"/>
              </a:rPr>
              <a:t>Project Script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005840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1200">
                <a:solidFill>
                  <a:srgbClr val="676F71"/>
                </a:solidFill>
                <a:latin typeface="Arial"/>
              </a:defRPr>
            </a:pPr>
            <a:r>
              <a:rPr sz="1200" b="0" i="0">
                <a:latin typeface="Arial"/>
              </a:rPr>
              <a:t>Each implementation stage is driven by a small set of scripts in the consolidated main workspace.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128016"/>
            <a:ext cx="1188720" cy="310896"/>
          </a:xfrm>
          <a:prstGeom prst="roundRect">
            <a:avLst/>
          </a:prstGeom>
          <a:solidFill>
            <a:srgbClr val="C9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000" b="0" i="0">
                <a:latin typeface="Arial"/>
              </a:rPr>
              <a:t>Scripts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65392"/>
            <a:ext cx="11185855" cy="18288"/>
          </a:xfrm>
          <a:prstGeom prst="rect">
            <a:avLst/>
          </a:prstGeom>
          <a:solidFill>
            <a:srgbClr val="D8D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28016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Task</a:t>
                      </a:r>
                    </a:p>
                  </a:txBody>
                  <a:tcPr>
                    <a:solidFill>
                      <a:srgbClr val="D4A2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Main entry scripts in main</a:t>
                      </a:r>
                    </a:p>
                  </a:txBody>
                  <a:tcPr>
                    <a:solidFill>
                      <a:srgbClr val="D4A2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What they do</a:t>
                      </a:r>
                    </a:p>
                  </a:txBody>
                  <a:tcPr>
                    <a:solidFill>
                      <a:srgbClr val="D4A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Task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rtl/compile.do</a:t>
                      </a:r>
                    </a:p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rtl/simulate.do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Compile RTL + TB, then run and inspect waveforms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Task 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syn/run_task2_flat.sh</a:t>
                      </a:r>
                    </a:p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syn/scr/dc_flat.tcl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Flat logic synthesis and PPA reports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Task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syn/run_task3_bottomup.sh</a:t>
                      </a:r>
                    </a:p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syn/scr/dc_bottomup.tcl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Bottom-up synthesis and hierarchical handoff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Task 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phy/scr/run_flat_pnr.sh</a:t>
                      </a:r>
                    </a:p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phy/scr/pnr_flat.tcl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Flat physical synthesis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Task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phy/scr/create_partitions.tcl</a:t>
                      </a:r>
                    </a:p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phy/scr/floorplan.tcl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Floorplan, fences, partitions, budgeting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Task 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phy/scr/run_hierarchical_pnr.sh</a:t>
                      </a:r>
                    </a:p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phy/scr/pnr_partition.sh</a:t>
                      </a:r>
                    </a:p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phy/scr/pnr_top.tcl</a:t>
                      </a:r>
                    </a:p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phy/scr/assemble_design.tcl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B3036"/>
                          </a:solidFill>
                          <a:latin typeface="Arial"/>
                        </a:defRPr>
                      </a:pPr>
                      <a:r>
                        <a:rPr sz="900">
                          <a:latin typeface="Arial"/>
                        </a:rPr>
                        <a:t>Partition PnR + top-level assembly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611112"/>
            <a:ext cx="5029200" cy="13716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850">
                <a:solidFill>
                  <a:srgbClr val="676F71"/>
                </a:solidFill>
                <a:latin typeface="Arial"/>
              </a:defRPr>
            </a:pPr>
            <a:r>
              <a:rPr sz="700" b="0" i="0">
                <a:latin typeface="Arial"/>
              </a:rPr>
              <a:t>IL2225 project presentation | SiLagoNN implementation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92824"/>
            <a:ext cx="41148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r">
              <a:defRPr sz="900" b="1">
                <a:solidFill>
                  <a:srgbClr val="676F71"/>
                </a:solidFill>
                <a:latin typeface="Arial"/>
              </a:defRPr>
            </a:pPr>
            <a:r>
              <a:rPr sz="800" b="0" i="0"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C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097280" cy="73152"/>
          </a:xfrm>
          <a:prstGeom prst="rect">
            <a:avLst/>
          </a:prstGeom>
          <a:solidFill>
            <a:srgbClr val="D4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926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Georgia"/>
              </a:defRPr>
            </a:pPr>
            <a:r>
              <a:rPr sz="2400" b="0" i="0">
                <a:latin typeface="Georgia"/>
              </a:rPr>
              <a:t>Project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005840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1200">
                <a:solidFill>
                  <a:srgbClr val="676F71"/>
                </a:solidFill>
                <a:latin typeface="Arial"/>
              </a:defRPr>
            </a:pPr>
            <a:r>
              <a:rPr sz="1200" b="0" i="0">
                <a:latin typeface="Arial"/>
              </a:rPr>
              <a:t>The complete flow shows how implementation choices affect PPA, hierarchy, and physical realizability.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128016"/>
            <a:ext cx="1188720" cy="310896"/>
          </a:xfrm>
          <a:prstGeom prst="roundRect">
            <a:avLst/>
          </a:prstGeom>
          <a:solidFill>
            <a:srgbClr val="C96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000" b="0" i="0">
                <a:latin typeface="Arial"/>
              </a:rPr>
              <a:t>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65392"/>
            <a:ext cx="11185855" cy="18288"/>
          </a:xfrm>
          <a:prstGeom prst="rect">
            <a:avLst/>
          </a:prstGeom>
          <a:solidFill>
            <a:srgbClr val="D8D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325880"/>
            <a:ext cx="539496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506577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Technical conclusions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09928"/>
            <a:ext cx="5065776" cy="3639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1709928"/>
            <a:ext cx="5074920" cy="363931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RTL simulation confirms functional correctness before implementation.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Flat synthesis provides stronger global optimization.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Bottom-up synthesis preserves hierarchy and supports later partitioning.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Physical synthesis introduces realistic wire, clock, and routing overhead.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Hierarchical implementation scales the physical flow through partitions and ILMs.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25880"/>
            <a:ext cx="50292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1417320"/>
            <a:ext cx="470001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500" b="1">
                <a:solidFill>
                  <a:srgbClr val="1C3F35"/>
                </a:solidFill>
                <a:latin typeface="Arial"/>
              </a:defRPr>
            </a:pPr>
            <a:r>
              <a:rPr sz="1500" b="0" i="0">
                <a:latin typeface="Arial"/>
              </a:rPr>
              <a:t>Main observations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709928"/>
            <a:ext cx="4700016" cy="3639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defRPr sz="1250" b="0">
                <a:solidFill>
                  <a:srgbClr val="2B3036"/>
                </a:solidFill>
                <a:latin typeface="Arial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1709928"/>
            <a:ext cx="4709160" cy="3639312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As the clock target tightens, power rises and slack shrinks.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Flat and bottom-up flows show different PPA behavior under the same constraints.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Task 5 is the physical preparation step for Task 6.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Task 6 completes the flow by combining block-level implementation with top-level assembly.</a:t>
            </a:r>
          </a:p>
          <a:p>
            <a:pPr>
              <a:spcAft>
                <a:spcPts val="600"/>
              </a:spcAft>
              <a:defRPr sz="1250">
                <a:solidFill>
                  <a:srgbClr val="2B3036"/>
                </a:solidFill>
                <a:latin typeface="Arial"/>
              </a:defRPr>
            </a:pPr>
            <a:r>
              <a:rPr sz="1200" b="0" i="0">
                <a:latin typeface="Arial"/>
              </a:rPr>
              <a:t>The project demonstrates a full path from verified RTL to hierarchical physical design.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611112"/>
            <a:ext cx="5029200" cy="137160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defRPr sz="850">
                <a:solidFill>
                  <a:srgbClr val="676F71"/>
                </a:solidFill>
                <a:latin typeface="Arial"/>
              </a:defRPr>
            </a:pPr>
            <a:r>
              <a:rPr sz="700" b="0" i="0">
                <a:latin typeface="Arial"/>
              </a:rPr>
              <a:t>IL2225 project presentation | SiLagoNN implementation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92824"/>
            <a:ext cx="41148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 algn="r">
              <a:defRPr sz="900" b="1">
                <a:solidFill>
                  <a:srgbClr val="676F71"/>
                </a:solidFill>
                <a:latin typeface="Arial"/>
              </a:defRPr>
            </a:pPr>
            <a:r>
              <a:rPr sz="800" b="0" i="0"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22960"/>
            <a:ext cx="12191695" cy="5029200"/>
          </a:xfrm>
          <a:prstGeom prst="rect">
            <a:avLst/>
          </a:prstGeom>
          <a:solidFill>
            <a:srgbClr val="1C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8680" y="1828800"/>
            <a:ext cx="1554480" cy="73152"/>
          </a:xfrm>
          <a:prstGeom prst="rect">
            <a:avLst/>
          </a:prstGeom>
          <a:solidFill>
            <a:srgbClr val="D4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64008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rPr sz="2800" b="0" i="0"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731520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700" b="0">
                <a:solidFill>
                  <a:srgbClr val="E2E8F0"/>
                </a:solidFill>
                <a:latin typeface="Arial"/>
              </a:defRPr>
            </a:pPr>
            <a:r>
              <a:rPr sz="1700" b="0" i="0">
                <a:latin typeface="Arial"/>
              </a:rPr>
              <a:t>SiLagoNN implementation flow from RTL verification to hierarchical physical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694944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Arial"/>
              </a:defRPr>
            </a:pPr>
            <a:r>
              <a:rPr sz="1400" b="0" i="0">
                <a:latin typeface="Arial"/>
              </a:rPr>
              <a:t>Questions on methodology, scripts, results, or design trade-offs are welcome.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5349240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rial"/>
              </a:defRPr>
            </a:pPr>
            <a:r>
              <a:rPr sz="1600" b="0" i="0">
                <a:latin typeface="Arial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</TotalTime>
  <Words>3153</Words>
  <Application>Microsoft Office PowerPoint</Application>
  <PresentationFormat>宽屏</PresentationFormat>
  <Paragraphs>332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Arial</vt:lpstr>
      <vt:lpstr>Calibri</vt:lpstr>
      <vt:lpstr>Consolas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day night</cp:lastModifiedBy>
  <cp:revision>7</cp:revision>
  <dcterms:created xsi:type="dcterms:W3CDTF">2013-01-27T09:14:16Z</dcterms:created>
  <dcterms:modified xsi:type="dcterms:W3CDTF">2026-04-10T10:33:05Z</dcterms:modified>
  <cp:category/>
</cp:coreProperties>
</file>