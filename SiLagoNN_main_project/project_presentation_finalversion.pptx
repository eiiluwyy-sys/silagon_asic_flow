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96" y="3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2F96BE-2C0F-4DA9-8227-601AC7037A0F}" type="datetimeFigureOut">
              <a:rPr lang="zh-CN" altLang="en-US" smtClean="0"/>
              <a:t>2026/4/10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B9316-E5A8-4B8D-BD35-FA8077CA6683}" type="slidenum">
              <a:rPr lang="zh-CN" altLang="en-US" smtClean="0"/>
              <a:t>‹#›</a:t>
            </a:fld>
            <a:endParaRPr lang="zh-CN" altLang="en-US"/>
          </a:p>
        </p:txBody>
      </p:sp>
    </p:spTree>
    <p:extLst>
      <p:ext uri="{BB962C8B-B14F-4D97-AF65-F5344CB8AC3E}">
        <p14:creationId xmlns:p14="http://schemas.microsoft.com/office/powerpoint/2010/main" val="2844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B9B9316-E5A8-4B8D-BD35-FA8077CA6683}" type="slidenum">
              <a:rPr lang="zh-CN" altLang="en-US" smtClean="0"/>
              <a:t>1</a:t>
            </a:fld>
            <a:endParaRPr lang="zh-CN" altLang="en-US"/>
          </a:p>
        </p:txBody>
      </p:sp>
    </p:spTree>
    <p:extLst>
      <p:ext uri="{BB962C8B-B14F-4D97-AF65-F5344CB8AC3E}">
        <p14:creationId xmlns:p14="http://schemas.microsoft.com/office/powerpoint/2010/main" val="1679811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main flow is: compile.do reads silagonn_hierarchy.txt and compiles the full RTL hierarchy plus the testbench, then simulate.do launches </a:t>
            </a:r>
            <a:r>
              <a:rPr lang="en-US" altLang="zh-CN" dirty="0" err="1"/>
              <a:t>work.testbench</a:t>
            </a:r>
            <a:r>
              <a:rPr lang="en-US" altLang="zh-CN" dirty="0"/>
              <a:t> and adds the key waveform signals. In the testbench, reset is asserted first, then </a:t>
            </a:r>
            <a:r>
              <a:rPr lang="en-US" altLang="zh-CN" dirty="0" err="1"/>
              <a:t>deasserted</a:t>
            </a:r>
            <a:r>
              <a:rPr lang="en-US" altLang="zh-CN" dirty="0"/>
              <a:t>, memory and instructions are loaded, and the instruction sequence from </a:t>
            </a:r>
            <a:r>
              <a:rPr lang="en-US" altLang="zh-CN" dirty="0" err="1"/>
              <a:t>instruction.bin</a:t>
            </a:r>
            <a:r>
              <a:rPr lang="en-US" altLang="zh-CN" dirty="0"/>
              <a:t> configures the data path for the target operation. After that, the DPU in tile &lt;0,0&gt; begins to operate.</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3</a:t>
            </a:fld>
            <a:endParaRPr lang="zh-CN" altLang="en-US"/>
          </a:p>
        </p:txBody>
      </p:sp>
    </p:spTree>
    <p:extLst>
      <p:ext uri="{BB962C8B-B14F-4D97-AF65-F5344CB8AC3E}">
        <p14:creationId xmlns:p14="http://schemas.microsoft.com/office/powerpoint/2010/main" val="3097687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key waveform evidence is the DPU input-output relation. In the execution phase, dpu_in_0 shows values from 0 to 15 and dpu_in_1 shows values from 16 to 31. The observed dpu_out_0 values are 16, 18, 20, up to 46, which matches the expected addition result dpu_in_0 + dpu_in_1. This shows that the instruction loading and data-path configuration work correctly and that the DPU performs the intended ADD function in this testbench</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4</a:t>
            </a:fld>
            <a:endParaRPr lang="zh-CN" altLang="en-US"/>
          </a:p>
        </p:txBody>
      </p:sp>
    </p:spTree>
    <p:extLst>
      <p:ext uri="{BB962C8B-B14F-4D97-AF65-F5344CB8AC3E}">
        <p14:creationId xmlns:p14="http://schemas.microsoft.com/office/powerpoint/2010/main" val="4147127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Task 2 performs flat logic synthesis of </a:t>
            </a:r>
            <a:r>
              <a:rPr lang="en-US" altLang="zh-CN" sz="1200" b="0" i="0" kern="1200" dirty="0" err="1">
                <a:solidFill>
                  <a:schemeClr val="tx1"/>
                </a:solidFill>
                <a:effectLst/>
                <a:latin typeface="+mn-lt"/>
                <a:ea typeface="+mn-ea"/>
                <a:cs typeface="+mn-cs"/>
              </a:rPr>
              <a:t>DRRA_wrapper</a:t>
            </a:r>
            <a:r>
              <a:rPr lang="en-US" altLang="zh-CN" sz="1200" b="0" i="0" kern="1200" dirty="0">
                <a:solidFill>
                  <a:schemeClr val="tx1"/>
                </a:solidFill>
                <a:effectLst/>
                <a:latin typeface="+mn-lt"/>
                <a:ea typeface="+mn-ea"/>
                <a:cs typeface="+mn-cs"/>
              </a:rPr>
              <a:t> in Design Compiler. Its purpose is to convert the RTL design into a synthesized gate-level implementation under a given timing constraint, and to prepare the design for later physical implementation.</a:t>
            </a:r>
          </a:p>
          <a:p>
            <a:r>
              <a:rPr lang="en-US" altLang="zh-CN" sz="1200" b="0" i="0" kern="1200" dirty="0">
                <a:solidFill>
                  <a:schemeClr val="tx1"/>
                </a:solidFill>
                <a:effectLst/>
                <a:latin typeface="+mn-lt"/>
                <a:ea typeface="+mn-ea"/>
                <a:cs typeface="+mn-cs"/>
              </a:rPr>
              <a:t>The main script is syn/</a:t>
            </a:r>
            <a:r>
              <a:rPr lang="en-US" altLang="zh-CN" sz="1200" b="0" i="0" kern="1200" dirty="0" err="1">
                <a:solidFill>
                  <a:schemeClr val="tx1"/>
                </a:solidFill>
                <a:effectLst/>
                <a:latin typeface="+mn-lt"/>
                <a:ea typeface="+mn-ea"/>
                <a:cs typeface="+mn-cs"/>
              </a:rPr>
              <a:t>scr</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dc_flat.tcl</a:t>
            </a:r>
            <a:r>
              <a:rPr lang="en-US" altLang="zh-CN" sz="1200" b="0" i="0" kern="1200" dirty="0">
                <a:solidFill>
                  <a:schemeClr val="tx1"/>
                </a:solidFill>
                <a:effectLst/>
                <a:latin typeface="+mn-lt"/>
                <a:ea typeface="+mn-ea"/>
                <a:cs typeface="+mn-cs"/>
              </a:rPr>
              <a:t>. It first loads syn/</a:t>
            </a:r>
            <a:r>
              <a:rPr lang="en-US" altLang="zh-CN" sz="1200" b="0" i="0" kern="1200" dirty="0" err="1">
                <a:solidFill>
                  <a:schemeClr val="tx1"/>
                </a:solidFill>
                <a:effectLst/>
                <a:latin typeface="+mn-lt"/>
                <a:ea typeface="+mn-ea"/>
                <a:cs typeface="+mn-cs"/>
              </a:rPr>
              <a:t>synopsys_dc.setup</a:t>
            </a:r>
            <a:r>
              <a:rPr lang="en-US" altLang="zh-CN" sz="1200" b="0" i="0" kern="1200" dirty="0">
                <a:solidFill>
                  <a:schemeClr val="tx1"/>
                </a:solidFill>
                <a:effectLst/>
                <a:latin typeface="+mn-lt"/>
                <a:ea typeface="+mn-ea"/>
                <a:cs typeface="+mn-cs"/>
              </a:rPr>
              <a:t>, which provides the synthesis library environment, including the technology library, search path, and link settings. Then it reads the RTL file list from </a:t>
            </a:r>
            <a:r>
              <a:rPr lang="en-US" altLang="zh-CN" sz="1200" b="0" i="0" kern="1200" dirty="0" err="1">
                <a:solidFill>
                  <a:schemeClr val="tx1"/>
                </a:solidFill>
                <a:effectLst/>
                <a:latin typeface="+mn-lt"/>
                <a:ea typeface="+mn-ea"/>
                <a:cs typeface="+mn-cs"/>
              </a:rPr>
              <a:t>rtl</a:t>
            </a:r>
            <a:r>
              <a:rPr lang="en-US" altLang="zh-CN" sz="1200" b="0" i="0" kern="1200" dirty="0">
                <a:solidFill>
                  <a:schemeClr val="tx1"/>
                </a:solidFill>
                <a:effectLst/>
                <a:latin typeface="+mn-lt"/>
                <a:ea typeface="+mn-ea"/>
                <a:cs typeface="+mn-cs"/>
              </a:rPr>
              <a:t>/drra_wrapper_hierarchy.txt, so the whole </a:t>
            </a:r>
            <a:r>
              <a:rPr lang="en-US" altLang="zh-CN" sz="1200" b="0" i="0" kern="1200" dirty="0" err="1">
                <a:solidFill>
                  <a:schemeClr val="tx1"/>
                </a:solidFill>
                <a:effectLst/>
                <a:latin typeface="+mn-lt"/>
                <a:ea typeface="+mn-ea"/>
                <a:cs typeface="+mn-cs"/>
              </a:rPr>
              <a:t>DRRA_wrapper</a:t>
            </a:r>
            <a:r>
              <a:rPr lang="en-US" altLang="zh-CN" sz="1200" b="0" i="0" kern="1200" dirty="0">
                <a:solidFill>
                  <a:schemeClr val="tx1"/>
                </a:solidFill>
                <a:effectLst/>
                <a:latin typeface="+mn-lt"/>
                <a:ea typeface="+mn-ea"/>
                <a:cs typeface="+mn-cs"/>
              </a:rPr>
              <a:t> design is synthesized as one complete top-level block.</a:t>
            </a:r>
          </a:p>
          <a:p>
            <a:r>
              <a:rPr lang="en-US" altLang="zh-CN" sz="1200" b="0" i="0" kern="1200" dirty="0">
                <a:solidFill>
                  <a:schemeClr val="tx1"/>
                </a:solidFill>
                <a:effectLst/>
                <a:latin typeface="+mn-lt"/>
                <a:ea typeface="+mn-ea"/>
                <a:cs typeface="+mn-cs"/>
              </a:rPr>
              <a:t>After reading the RTL hierarchy, the script elaborates and links the top-level design </a:t>
            </a:r>
            <a:r>
              <a:rPr lang="en-US" altLang="zh-CN" sz="1200" b="0" i="0" kern="1200" dirty="0" err="1">
                <a:solidFill>
                  <a:schemeClr val="tx1"/>
                </a:solidFill>
                <a:effectLst/>
                <a:latin typeface="+mn-lt"/>
                <a:ea typeface="+mn-ea"/>
                <a:cs typeface="+mn-cs"/>
              </a:rPr>
              <a:t>drra_wrapper</a:t>
            </a:r>
            <a:r>
              <a:rPr lang="en-US" altLang="zh-CN" sz="1200" b="0" i="0" kern="1200" dirty="0">
                <a:solidFill>
                  <a:schemeClr val="tx1"/>
                </a:solidFill>
                <a:effectLst/>
                <a:latin typeface="+mn-lt"/>
                <a:ea typeface="+mn-ea"/>
                <a:cs typeface="+mn-cs"/>
              </a:rPr>
              <a:t>, applies the timing constraints from syn/</a:t>
            </a:r>
            <a:r>
              <a:rPr lang="en-US" altLang="zh-CN" sz="1200" b="0" i="0" kern="1200" dirty="0" err="1">
                <a:solidFill>
                  <a:schemeClr val="tx1"/>
                </a:solidFill>
                <a:effectLst/>
                <a:latin typeface="+mn-lt"/>
                <a:ea typeface="+mn-ea"/>
                <a:cs typeface="+mn-cs"/>
              </a:rPr>
              <a:t>constraints.sdc</a:t>
            </a:r>
            <a:r>
              <a:rPr lang="en-US" altLang="zh-CN" sz="1200" b="0" i="0" kern="1200" dirty="0">
                <a:solidFill>
                  <a:schemeClr val="tx1"/>
                </a:solidFill>
                <a:effectLst/>
                <a:latin typeface="+mn-lt"/>
                <a:ea typeface="+mn-ea"/>
                <a:cs typeface="+mn-cs"/>
              </a:rPr>
              <a:t>, and sets the target clock period for the current run. It then runs compile, which maps the RTL into standard cells from the selected library.</a:t>
            </a:r>
          </a:p>
          <a:p>
            <a:r>
              <a:rPr lang="en-US" altLang="zh-CN" sz="1200" b="0" i="0" kern="1200" dirty="0">
                <a:solidFill>
                  <a:schemeClr val="tx1"/>
                </a:solidFill>
                <a:effectLst/>
                <a:latin typeface="+mn-lt"/>
                <a:ea typeface="+mn-ea"/>
                <a:cs typeface="+mn-cs"/>
              </a:rPr>
              <a:t>After synthesis, the script writes out the main reports, including timing, area, and power. It also exports the synthesized design files into syn/</a:t>
            </a:r>
            <a:r>
              <a:rPr lang="en-US" altLang="zh-CN" sz="1200" b="0" i="0" kern="1200" dirty="0" err="1">
                <a:solidFill>
                  <a:schemeClr val="tx1"/>
                </a:solidFill>
                <a:effectLst/>
                <a:latin typeface="+mn-lt"/>
                <a:ea typeface="+mn-ea"/>
                <a:cs typeface="+mn-cs"/>
              </a:rPr>
              <a:t>db</a:t>
            </a:r>
            <a:r>
              <a:rPr lang="en-US" altLang="zh-CN" sz="1200" b="0" i="0" kern="1200" dirty="0">
                <a:solidFill>
                  <a:schemeClr val="tx1"/>
                </a:solidFill>
                <a:effectLst/>
                <a:latin typeface="+mn-lt"/>
                <a:ea typeface="+mn-ea"/>
                <a:cs typeface="+mn-cs"/>
              </a:rPr>
              <a:t>, including the .</a:t>
            </a:r>
            <a:r>
              <a:rPr lang="en-US" altLang="zh-CN" sz="1200" b="0" i="0" kern="1200" dirty="0" err="1">
                <a:solidFill>
                  <a:schemeClr val="tx1"/>
                </a:solidFill>
                <a:effectLst/>
                <a:latin typeface="+mn-lt"/>
                <a:ea typeface="+mn-ea"/>
                <a:cs typeface="+mn-cs"/>
              </a:rPr>
              <a:t>ddc</a:t>
            </a:r>
            <a:r>
              <a:rPr lang="en-US" altLang="zh-CN" sz="1200" b="0" i="0" kern="1200" dirty="0">
                <a:solidFill>
                  <a:schemeClr val="tx1"/>
                </a:solidFill>
                <a:effectLst/>
                <a:latin typeface="+mn-lt"/>
                <a:ea typeface="+mn-ea"/>
                <a:cs typeface="+mn-cs"/>
              </a:rPr>
              <a:t> database, the synthesized .v gate-level netlist, and the exported .</a:t>
            </a:r>
            <a:r>
              <a:rPr lang="en-US" altLang="zh-CN" sz="1200" b="0" i="0" kern="1200" dirty="0" err="1">
                <a:solidFill>
                  <a:schemeClr val="tx1"/>
                </a:solidFill>
                <a:effectLst/>
                <a:latin typeface="+mn-lt"/>
                <a:ea typeface="+mn-ea"/>
                <a:cs typeface="+mn-cs"/>
              </a:rPr>
              <a:t>sdc</a:t>
            </a:r>
            <a:r>
              <a:rPr lang="en-US" altLang="zh-CN" sz="1200" b="0" i="0" kern="1200" dirty="0">
                <a:solidFill>
                  <a:schemeClr val="tx1"/>
                </a:solidFill>
                <a:effectLst/>
                <a:latin typeface="+mn-lt"/>
                <a:ea typeface="+mn-ea"/>
                <a:cs typeface="+mn-cs"/>
              </a:rPr>
              <a:t> constraints file. These outputs are the handoff files for later tasks.</a:t>
            </a:r>
          </a:p>
          <a:p>
            <a:r>
              <a:rPr lang="en-US" altLang="zh-CN" sz="1200" b="0" i="0" kern="1200" dirty="0">
                <a:solidFill>
                  <a:schemeClr val="tx1"/>
                </a:solidFill>
                <a:effectLst/>
                <a:latin typeface="+mn-lt"/>
                <a:ea typeface="+mn-ea"/>
                <a:cs typeface="+mn-cs"/>
              </a:rPr>
              <a:t>The repository also includes helper launcher scripts such as run_task2_flat.sh, run_task2_flat_sweep.sh, and run_synthesis.sh, which make it easier to rerun the same flat synthesis flow under different clock periods. So the overall Task 2 flow is: load the library setup, read the RTL hierarchy, apply constraints, synthesize the full top-level design flat, and generate reports and handoff files.</a:t>
            </a:r>
          </a:p>
          <a:p>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5</a:t>
            </a:fld>
            <a:endParaRPr lang="zh-CN" altLang="en-US"/>
          </a:p>
        </p:txBody>
      </p:sp>
    </p:spTree>
    <p:extLst>
      <p:ext uri="{BB962C8B-B14F-4D97-AF65-F5344CB8AC3E}">
        <p14:creationId xmlns:p14="http://schemas.microsoft.com/office/powerpoint/2010/main" val="323152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tighter clock targets increase implementation cost. Power and area go up, while timing margin shrinks. This is exactly the expected trade-off in flat synthesis, because the tool must use stronger and more timing-driven optimizations as the clock requirement becomes more demanding.</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6</a:t>
            </a:fld>
            <a:endParaRPr lang="zh-CN" altLang="en-US"/>
          </a:p>
        </p:txBody>
      </p:sp>
    </p:spTree>
    <p:extLst>
      <p:ext uri="{BB962C8B-B14F-4D97-AF65-F5344CB8AC3E}">
        <p14:creationId xmlns:p14="http://schemas.microsoft.com/office/powerpoint/2010/main" val="596947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main script is syn/</a:t>
            </a:r>
            <a:r>
              <a:rPr lang="en-US" altLang="zh-CN" dirty="0" err="1"/>
              <a:t>scr</a:t>
            </a:r>
            <a:r>
              <a:rPr lang="en-US" altLang="zh-CN" dirty="0"/>
              <a:t>/</a:t>
            </a:r>
            <a:r>
              <a:rPr lang="en-US" altLang="zh-CN" dirty="0" err="1"/>
              <a:t>dc_bottomup.tcl</a:t>
            </a:r>
            <a:r>
              <a:rPr lang="en-US" altLang="zh-CN" dirty="0"/>
              <a:t>. It first loads syn/</a:t>
            </a:r>
            <a:r>
              <a:rPr lang="en-US" altLang="zh-CN" dirty="0" err="1"/>
              <a:t>synopsys_dc.setup</a:t>
            </a:r>
            <a:r>
              <a:rPr lang="en-US" altLang="zh-CN" dirty="0"/>
              <a:t> to set up the synthesis libraries and environment. Then it defines the top design, the clock period, and the output directories for reports and synthesized files.</a:t>
            </a:r>
          </a:p>
          <a:p>
            <a:endParaRPr lang="en-US" altLang="zh-CN" dirty="0"/>
          </a:p>
          <a:p>
            <a:r>
              <a:rPr lang="en-US" altLang="zh-CN" dirty="0"/>
              <a:t>The flow starts by reading the package hierarchy files, because these provide shared type and constant definitions for the design. After that, it synthesizes key lower-level modules first, especially </a:t>
            </a:r>
            <a:r>
              <a:rPr lang="en-US" altLang="zh-CN" dirty="0" err="1"/>
              <a:t>divider_pipe</a:t>
            </a:r>
            <a:r>
              <a:rPr lang="en-US" altLang="zh-CN" dirty="0"/>
              <a:t>, and then synthesizes the shared core module </a:t>
            </a:r>
            <a:r>
              <a:rPr lang="en-US" altLang="zh-CN" dirty="0" err="1"/>
              <a:t>silego</a:t>
            </a:r>
            <a:r>
              <a:rPr lang="en-US" altLang="zh-CN" dirty="0"/>
              <a:t>. The script applies timing constraints during these steps and uses </a:t>
            </a:r>
            <a:r>
              <a:rPr lang="en-US" altLang="zh-CN" dirty="0" err="1"/>
              <a:t>dont_touch</a:t>
            </a:r>
            <a:r>
              <a:rPr lang="en-US" altLang="zh-CN" dirty="0"/>
              <a:t> to preserve already synthesized blocks so they are not re-optimized unnecessarily in later stages.</a:t>
            </a:r>
          </a:p>
          <a:p>
            <a:endParaRPr lang="en-US" altLang="zh-CN" dirty="0"/>
          </a:p>
          <a:p>
            <a:r>
              <a:rPr lang="en-US" altLang="zh-CN" dirty="0"/>
              <a:t>After the lower-level modules are synthesized, the script continues with the tile-level wrapper modules, such as </a:t>
            </a:r>
            <a:r>
              <a:rPr lang="en-US" altLang="zh-CN" dirty="0" err="1"/>
              <a:t>Silago_top</a:t>
            </a:r>
            <a:r>
              <a:rPr lang="en-US" altLang="zh-CN" dirty="0"/>
              <a:t>, </a:t>
            </a:r>
            <a:r>
              <a:rPr lang="en-US" altLang="zh-CN" dirty="0" err="1"/>
              <a:t>Silago_bot</a:t>
            </a:r>
            <a:r>
              <a:rPr lang="en-US" altLang="zh-CN" dirty="0"/>
              <a:t>, and the corner blocks. Only after these lower-level and intermediate modules are prepared does the script synthesize the top-level design </a:t>
            </a:r>
            <a:r>
              <a:rPr lang="en-US" altLang="zh-CN" dirty="0" err="1"/>
              <a:t>drra_wrapper</a:t>
            </a:r>
            <a:r>
              <a:rPr lang="en-US" altLang="zh-CN" dirty="0"/>
              <a:t>.</a:t>
            </a:r>
          </a:p>
          <a:p>
            <a:endParaRPr lang="en-US" altLang="zh-CN" dirty="0"/>
          </a:p>
          <a:p>
            <a:r>
              <a:rPr lang="en-US" altLang="zh-CN" dirty="0"/>
              <a:t>The script is also iterative. It defines a pass-based procedure and runs two synthesis passes. In the first pass, it synthesizes the important blocks and generates constraint information for reuse. It then uses characterize and writes intermediate constraint scripts, so that the second pass can reuse this information and better support the bottom-up flow.</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7</a:t>
            </a:fld>
            <a:endParaRPr lang="zh-CN" altLang="en-US"/>
          </a:p>
        </p:txBody>
      </p:sp>
    </p:spTree>
    <p:extLst>
      <p:ext uri="{BB962C8B-B14F-4D97-AF65-F5344CB8AC3E}">
        <p14:creationId xmlns:p14="http://schemas.microsoft.com/office/powerpoint/2010/main" val="1108966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Compared with flat synthesis, bottom-up synthesis preserves hierarchy but usually gives slightly weaker global PPA. The reason is that bottom-up synthesis first optimizes important submodules and then reuses them at the top level, so cross-boundary optimization is more limited than in a fully flat flow. In other words, bottom-up trades some global optimization for hierarchy preservation and later physical-design convenience.</a:t>
            </a:r>
          </a:p>
          <a:p>
            <a:r>
              <a:rPr lang="en-US" altLang="zh-CN" dirty="0"/>
              <a:t>6 ns violates timing, the answer is that the clock target is too aggressive for this bottom-up flow. As the required period becomes too small, the available timing margin disappears, and the design can no longer meet the constraint. If asked why bottom-up differs from flat synthesis</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8</a:t>
            </a:fld>
            <a:endParaRPr lang="zh-CN" altLang="en-US"/>
          </a:p>
        </p:txBody>
      </p:sp>
    </p:spTree>
    <p:extLst>
      <p:ext uri="{BB962C8B-B14F-4D97-AF65-F5344CB8AC3E}">
        <p14:creationId xmlns:p14="http://schemas.microsoft.com/office/powerpoint/2010/main" val="1128706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main scripts are run_flat_pnr.sh, </a:t>
            </a:r>
            <a:r>
              <a:rPr lang="en-US" altLang="zh-CN" dirty="0" err="1"/>
              <a:t>pnr_flat.tcl</a:t>
            </a:r>
            <a:r>
              <a:rPr lang="en-US" altLang="zh-CN" dirty="0"/>
              <a:t>, </a:t>
            </a:r>
            <a:r>
              <a:rPr lang="en-US" altLang="zh-CN" dirty="0" err="1"/>
              <a:t>global_variables.tcl</a:t>
            </a:r>
            <a:r>
              <a:rPr lang="en-US" altLang="zh-CN" dirty="0"/>
              <a:t>, and </a:t>
            </a:r>
            <a:r>
              <a:rPr lang="en-US" altLang="zh-CN" dirty="0" err="1"/>
              <a:t>read_design.tcl</a:t>
            </a:r>
            <a:r>
              <a:rPr lang="en-US" altLang="zh-CN" dirty="0"/>
              <a:t>. The wrapper script run_flat_pnr.sh launches the flat physical flow. The main implementation script </a:t>
            </a:r>
            <a:r>
              <a:rPr lang="en-US" altLang="zh-CN" dirty="0" err="1"/>
              <a:t>pnr_flat.tcl</a:t>
            </a:r>
            <a:r>
              <a:rPr lang="en-US" altLang="zh-CN" dirty="0"/>
              <a:t> controls the actual physical-design steps. </a:t>
            </a:r>
            <a:r>
              <a:rPr lang="en-US" altLang="zh-CN" dirty="0" err="1"/>
              <a:t>global_variables.tcl</a:t>
            </a:r>
            <a:r>
              <a:rPr lang="en-US" altLang="zh-CN" dirty="0"/>
              <a:t> defines the input netlist, the LEF files, the MMMC file, the SDC constraints, and the output directories. </a:t>
            </a:r>
            <a:r>
              <a:rPr lang="en-US" altLang="zh-CN" dirty="0" err="1"/>
              <a:t>read_design.tcl</a:t>
            </a:r>
            <a:r>
              <a:rPr lang="en-US" altLang="zh-CN" dirty="0"/>
              <a:t> then reads the MMMC setup, the physical library data, and the synthesized netlist into </a:t>
            </a:r>
            <a:r>
              <a:rPr lang="en-US" altLang="zh-CN" dirty="0" err="1"/>
              <a:t>Innovus</a:t>
            </a:r>
            <a:r>
              <a:rPr lang="en-US" altLang="zh-CN" dirty="0"/>
              <a:t> and initializes the design.</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10</a:t>
            </a:fld>
            <a:endParaRPr lang="zh-CN" altLang="en-US"/>
          </a:p>
        </p:txBody>
      </p:sp>
    </p:spTree>
    <p:extLst>
      <p:ext uri="{BB962C8B-B14F-4D97-AF65-F5344CB8AC3E}">
        <p14:creationId xmlns:p14="http://schemas.microsoft.com/office/powerpoint/2010/main" val="690183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Physical synthesis considers real interconnect RC, clock-tree insertion, buffering, and congestion-aware optimization. It also uses the real physical design setup, including LEF data and MMMC timing analysis. Because of these physical effects, the total power increases significantly compared with logic synthesis, and the total cell area also increases. At the same time, the slack becomes negative, which means timing violations occur in physical synthesis, while the logic-synthesis result may still look timing-clean</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11</a:t>
            </a:fld>
            <a:endParaRPr lang="zh-CN" altLang="en-US"/>
          </a:p>
        </p:txBody>
      </p:sp>
    </p:spTree>
    <p:extLst>
      <p:ext uri="{BB962C8B-B14F-4D97-AF65-F5344CB8AC3E}">
        <p14:creationId xmlns:p14="http://schemas.microsoft.com/office/powerpoint/2010/main" val="1284772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floorplan.tcl</a:t>
            </a:r>
            <a:r>
              <a:rPr lang="en-US" altLang="zh-CN" dirty="0"/>
              <a:t> defines the physical layout structure and fenced regions, while </a:t>
            </a:r>
            <a:r>
              <a:rPr lang="en-US" altLang="zh-CN" dirty="0" err="1"/>
              <a:t>partition.tcl</a:t>
            </a:r>
            <a:r>
              <a:rPr lang="en-US" altLang="zh-CN" dirty="0"/>
              <a:t> turns those planned regions into actual physical partitions with interfaces, timing budgets, and written partition data. </a:t>
            </a:r>
            <a:r>
              <a:rPr lang="zh-CN" altLang="en-US" dirty="0"/>
              <a:t>主脚本</a:t>
            </a:r>
            <a:r>
              <a:rPr lang="en-US" altLang="zh-CN" dirty="0"/>
              <a:t>create partition</a:t>
            </a:r>
          </a:p>
          <a:p>
            <a:r>
              <a:rPr lang="en-US" altLang="zh-CN" sz="1200" b="0" i="0" kern="1200" dirty="0">
                <a:solidFill>
                  <a:schemeClr val="tx1"/>
                </a:solidFill>
                <a:effectLst/>
                <a:latin typeface="+mn-lt"/>
                <a:ea typeface="+mn-ea"/>
                <a:cs typeface="+mn-cs"/>
              </a:rPr>
              <a:t>The main entry script is </a:t>
            </a:r>
            <a:r>
              <a:rPr lang="en-US" altLang="zh-CN" sz="1200" b="0" i="0" kern="1200" dirty="0" err="1">
                <a:solidFill>
                  <a:schemeClr val="tx1"/>
                </a:solidFill>
                <a:effectLst/>
                <a:latin typeface="+mn-lt"/>
                <a:ea typeface="+mn-ea"/>
                <a:cs typeface="+mn-cs"/>
              </a:rPr>
              <a:t>create_partitions.tcl</a:t>
            </a:r>
            <a:r>
              <a:rPr lang="en-US" altLang="zh-CN" sz="1200" b="0" i="0" kern="1200" dirty="0">
                <a:solidFill>
                  <a:schemeClr val="tx1"/>
                </a:solidFill>
                <a:effectLst/>
                <a:latin typeface="+mn-lt"/>
                <a:ea typeface="+mn-ea"/>
                <a:cs typeface="+mn-cs"/>
              </a:rPr>
              <a:t>. This script first loads the hierarchical physical-design variables and the design-specific partition definitions, then reads the synthesized design into </a:t>
            </a:r>
            <a:r>
              <a:rPr lang="en-US" altLang="zh-CN" sz="1200" b="0" i="0" kern="1200" dirty="0" err="1">
                <a:solidFill>
                  <a:schemeClr val="tx1"/>
                </a:solidFill>
                <a:effectLst/>
                <a:latin typeface="+mn-lt"/>
                <a:ea typeface="+mn-ea"/>
                <a:cs typeface="+mn-cs"/>
              </a:rPr>
              <a:t>Innovus</a:t>
            </a:r>
            <a:r>
              <a:rPr lang="en-US" altLang="zh-CN" sz="1200" b="0" i="0" kern="1200" dirty="0">
                <a:solidFill>
                  <a:schemeClr val="tx1"/>
                </a:solidFill>
                <a:effectLst/>
                <a:latin typeface="+mn-lt"/>
                <a:ea typeface="+mn-ea"/>
                <a:cs typeface="+mn-cs"/>
              </a:rPr>
              <a:t>. After the design is initialized, the flow creates the top-level floorplan, defines fence or boundary constraints for each tile-level block, and then creates the physical partitions.</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12</a:t>
            </a:fld>
            <a:endParaRPr lang="zh-CN" altLang="en-US"/>
          </a:p>
        </p:txBody>
      </p:sp>
    </p:spTree>
    <p:extLst>
      <p:ext uri="{BB962C8B-B14F-4D97-AF65-F5344CB8AC3E}">
        <p14:creationId xmlns:p14="http://schemas.microsoft.com/office/powerpoint/2010/main" val="1426791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Step 1 is partition creation, which reuses the Task 5 flow. In this step, </a:t>
            </a:r>
            <a:r>
              <a:rPr lang="en-US" altLang="zh-CN" dirty="0" err="1"/>
              <a:t>create_partitions.tcl</a:t>
            </a:r>
            <a:r>
              <a:rPr lang="en-US" altLang="zh-CN" dirty="0"/>
              <a:t> creates the floorplan, assigns fenced block regions, creates the physical partitions, and writes the partition data needed for the later hierarchical implementation stages.</a:t>
            </a:r>
          </a:p>
          <a:p>
            <a:endParaRPr lang="en-US" altLang="zh-CN" dirty="0"/>
          </a:p>
          <a:p>
            <a:r>
              <a:rPr lang="en-US" altLang="zh-CN" dirty="0"/>
              <a:t>Step 2 is partition-level </a:t>
            </a:r>
            <a:r>
              <a:rPr lang="en-US" altLang="zh-CN" dirty="0" err="1"/>
              <a:t>PnR</a:t>
            </a:r>
            <a:r>
              <a:rPr lang="en-US" altLang="zh-CN" dirty="0"/>
              <a:t>. Here, pnr_partition.sh automatically launches </a:t>
            </a:r>
            <a:r>
              <a:rPr lang="en-US" altLang="zh-CN" dirty="0" err="1"/>
              <a:t>pnr_partition.tcl</a:t>
            </a:r>
            <a:r>
              <a:rPr lang="en-US" altLang="zh-CN" dirty="0"/>
              <a:t> for the different partitions. Each partition is implemented independently as a smaller block, including placement, clock-tree synthesis, routing, and generation of block-level outputs such as ILMs. This is the core hierarchical step where the large design is split into manageable sub-blocks.</a:t>
            </a:r>
          </a:p>
          <a:p>
            <a:endParaRPr lang="en-US" altLang="zh-CN" dirty="0"/>
          </a:p>
          <a:p>
            <a:r>
              <a:rPr lang="en-US" altLang="zh-CN" dirty="0"/>
              <a:t>Step 3 is top-level </a:t>
            </a:r>
            <a:r>
              <a:rPr lang="en-US" altLang="zh-CN" dirty="0" err="1"/>
              <a:t>PnR</a:t>
            </a:r>
            <a:r>
              <a:rPr lang="en-US" altLang="zh-CN" dirty="0"/>
              <a:t>. After the block-level implementations are finished, </a:t>
            </a:r>
            <a:r>
              <a:rPr lang="en-US" altLang="zh-CN" dirty="0" err="1"/>
              <a:t>pnr_top.tcl</a:t>
            </a:r>
            <a:r>
              <a:rPr lang="en-US" altLang="zh-CN" dirty="0"/>
              <a:t> performs the top-level physical integration. It uses the partition results and ILMs to handle the top-level placement, clock-tree synthesis, and routing without reopening the entire detailed block internals as one flat design.</a:t>
            </a:r>
          </a:p>
          <a:p>
            <a:endParaRPr lang="en-US" altLang="zh-CN" dirty="0"/>
          </a:p>
          <a:p>
            <a:r>
              <a:rPr lang="en-US" altLang="zh-CN" dirty="0"/>
              <a:t>Step 4 is final assembly. The script </a:t>
            </a:r>
            <a:r>
              <a:rPr lang="en-US" altLang="zh-CN" dirty="0" err="1"/>
              <a:t>assemble_design.tcl</a:t>
            </a:r>
            <a:r>
              <a:rPr lang="en-US" altLang="zh-CN" dirty="0"/>
              <a:t> assembles the implemented partitions back into the complete hierarchical design and writes out the final integrated database, netlist, and reports.</a:t>
            </a:r>
            <a:endParaRPr lang="zh-CN" altLang="en-US" dirty="0"/>
          </a:p>
        </p:txBody>
      </p:sp>
      <p:sp>
        <p:nvSpPr>
          <p:cNvPr id="4" name="灯片编号占位符 3"/>
          <p:cNvSpPr>
            <a:spLocks noGrp="1"/>
          </p:cNvSpPr>
          <p:nvPr>
            <p:ph type="sldNum" sz="quarter" idx="5"/>
          </p:nvPr>
        </p:nvSpPr>
        <p:spPr/>
        <p:txBody>
          <a:bodyPr/>
          <a:lstStyle/>
          <a:p>
            <a:fld id="{7B9B9316-E5A8-4B8D-BD35-FA8077CA6683}" type="slidenum">
              <a:rPr lang="zh-CN" altLang="en-US" smtClean="0"/>
              <a:t>16</a:t>
            </a:fld>
            <a:endParaRPr lang="zh-CN" altLang="en-US"/>
          </a:p>
        </p:txBody>
      </p:sp>
    </p:spTree>
    <p:extLst>
      <p:ext uri="{BB962C8B-B14F-4D97-AF65-F5344CB8AC3E}">
        <p14:creationId xmlns:p14="http://schemas.microsoft.com/office/powerpoint/2010/main" val="2421130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0" y="5074920"/>
            <a:ext cx="12191695" cy="1783080"/>
          </a:xfrm>
          <a:prstGeom prst="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4" name="Rectangle 3"/>
          <p:cNvSpPr/>
          <p:nvPr/>
        </p:nvSpPr>
        <p:spPr>
          <a:xfrm>
            <a:off x="713232" y="914400"/>
            <a:ext cx="13258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5" name="TextBox 4"/>
          <p:cNvSpPr txBox="1"/>
          <p:nvPr/>
        </p:nvSpPr>
        <p:spPr>
          <a:xfrm>
            <a:off x="777240" y="1143000"/>
            <a:ext cx="8961120" cy="914400"/>
          </a:xfrm>
          <a:prstGeom prst="rect">
            <a:avLst/>
          </a:prstGeom>
          <a:noFill/>
        </p:spPr>
        <p:txBody>
          <a:bodyPr wrap="square" lIns="36576" tIns="18288" rIns="36576" bIns="18288" anchor="t">
            <a:noAutofit/>
          </a:bodyPr>
          <a:lstStyle/>
          <a:p>
            <a:pPr algn="l">
              <a:defRPr sz="2800" b="1">
                <a:solidFill>
                  <a:srgbClr val="FFFFFF"/>
                </a:solidFill>
                <a:latin typeface="Arial"/>
              </a:defRPr>
            </a:pPr>
            <a:r>
              <a:rPr sz="2800" b="0" i="0">
                <a:latin typeface="Arial"/>
              </a:rPr>
              <a:t>IL2225 Project Presentation</a:t>
            </a:r>
          </a:p>
        </p:txBody>
      </p:sp>
      <p:sp>
        <p:nvSpPr>
          <p:cNvPr id="6" name="TextBox 5"/>
          <p:cNvSpPr txBox="1"/>
          <p:nvPr/>
        </p:nvSpPr>
        <p:spPr>
          <a:xfrm>
            <a:off x="777240" y="1965960"/>
            <a:ext cx="9509760" cy="685800"/>
          </a:xfrm>
          <a:prstGeom prst="rect">
            <a:avLst/>
          </a:prstGeom>
          <a:noFill/>
        </p:spPr>
        <p:txBody>
          <a:bodyPr wrap="square" lIns="36576" tIns="18288" rIns="36576" bIns="18288" anchor="t">
            <a:noAutofit/>
          </a:bodyPr>
          <a:lstStyle/>
          <a:p>
            <a:pPr algn="l">
              <a:defRPr sz="1800" b="0">
                <a:solidFill>
                  <a:srgbClr val="E2E8F0"/>
                </a:solidFill>
                <a:latin typeface="Arial"/>
              </a:defRPr>
            </a:pPr>
            <a:r>
              <a:rPr sz="1800" b="0" i="0">
                <a:latin typeface="Arial"/>
              </a:rPr>
              <a:t>SiLagoNN: From RTL Verification To Hierarchical Physical Synthesis</a:t>
            </a:r>
          </a:p>
        </p:txBody>
      </p:sp>
      <p:sp>
        <p:nvSpPr>
          <p:cNvPr id="7" name="TextBox 6"/>
          <p:cNvSpPr txBox="1"/>
          <p:nvPr/>
        </p:nvSpPr>
        <p:spPr>
          <a:xfrm>
            <a:off x="777240" y="2880360"/>
            <a:ext cx="8503920" cy="1097280"/>
          </a:xfrm>
          <a:prstGeom prst="rect">
            <a:avLst/>
          </a:prstGeom>
          <a:noFill/>
        </p:spPr>
        <p:txBody>
          <a:bodyPr wrap="square" lIns="36576" tIns="18288" rIns="36576" bIns="18288" anchor="t">
            <a:noAutofit/>
          </a:bodyPr>
          <a:lstStyle/>
          <a:p>
            <a:pPr algn="l">
              <a:defRPr sz="1600" b="0">
                <a:solidFill>
                  <a:srgbClr val="CBD5E1"/>
                </a:solidFill>
                <a:latin typeface="Arial"/>
              </a:defRPr>
            </a:pPr>
            <a:r>
              <a:rPr sz="1600" b="0" i="0">
                <a:latin typeface="Arial"/>
              </a:rPr>
              <a:t>A full design flow covering RTL simulation, logic synthesis, physical synthesis, floorplanning, partitioning, and hierarchical implementation.</a:t>
            </a:r>
          </a:p>
        </p:txBody>
      </p:sp>
      <p:sp>
        <p:nvSpPr>
          <p:cNvPr id="8" name="TextBox 7"/>
          <p:cNvSpPr txBox="1"/>
          <p:nvPr/>
        </p:nvSpPr>
        <p:spPr>
          <a:xfrm>
            <a:off x="777240" y="5486400"/>
            <a:ext cx="6217920" cy="274320"/>
          </a:xfrm>
          <a:prstGeom prst="rect">
            <a:avLst/>
          </a:prstGeom>
          <a:noFill/>
        </p:spPr>
        <p:txBody>
          <a:bodyPr wrap="square" lIns="36576" tIns="18288" rIns="36576" bIns="18288" anchor="t">
            <a:noAutofit/>
          </a:bodyPr>
          <a:lstStyle/>
          <a:p>
            <a:pPr algn="l">
              <a:defRPr sz="1050" b="0">
                <a:solidFill>
                  <a:srgbClr val="FFFFFF"/>
                </a:solidFill>
                <a:latin typeface="Arial"/>
              </a:defRPr>
            </a:pPr>
            <a:r>
              <a:rPr sz="1000" b="0" i="0">
                <a:latin typeface="Arial"/>
              </a:rPr>
              <a:t>Results and scripts consolidated into one coherent presentation flow</a:t>
            </a:r>
          </a:p>
        </p:txBody>
      </p:sp>
      <p:sp>
        <p:nvSpPr>
          <p:cNvPr id="9" name="TextBox 8"/>
          <p:cNvSpPr txBox="1"/>
          <p:nvPr/>
        </p:nvSpPr>
        <p:spPr>
          <a:xfrm>
            <a:off x="9509760" y="5623560"/>
            <a:ext cx="2011680" cy="274320"/>
          </a:xfrm>
          <a:prstGeom prst="rect">
            <a:avLst/>
          </a:prstGeom>
          <a:noFill/>
        </p:spPr>
        <p:txBody>
          <a:bodyPr wrap="square" lIns="36576" tIns="18288" rIns="36576" bIns="18288" anchor="t">
            <a:noAutofit/>
          </a:bodyPr>
          <a:lstStyle/>
          <a:p>
            <a:pPr algn="r">
              <a:defRPr sz="1300" b="1">
                <a:solidFill>
                  <a:srgbClr val="FFFFFF"/>
                </a:solidFill>
                <a:latin typeface="Arial"/>
              </a:defRPr>
            </a:pPr>
            <a:r>
              <a:rPr sz="1300" b="0" i="0">
                <a:latin typeface="Arial"/>
              </a:rPr>
              <a:t>April 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Dependencies And Data Handoff</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Each stage produces the input used by the next stage, forming one continuous implementation flow.</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Flow</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85800" y="1828800"/>
            <a:ext cx="1691640" cy="731520"/>
          </a:xfrm>
          <a:prstGeom prst="roundRect">
            <a:avLst/>
          </a:prstGeom>
          <a:solidFill>
            <a:srgbClr val="FFFFFF"/>
          </a:solidFill>
          <a:ln w="1778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300" b="1">
                <a:solidFill>
                  <a:srgbClr val="1C3F35"/>
                </a:solidFill>
                <a:latin typeface="Arial"/>
              </a:defRPr>
            </a:pPr>
            <a:r>
              <a:rPr sz="1800" b="0" i="0">
                <a:latin typeface="Arial"/>
              </a:rPr>
              <a:t>Task 1</a:t>
            </a:r>
          </a:p>
          <a:p>
            <a:pPr algn="ctr">
              <a:defRPr sz="1100">
                <a:solidFill>
                  <a:srgbClr val="676F71"/>
                </a:solidFill>
                <a:latin typeface="Arial"/>
              </a:defRPr>
            </a:pPr>
            <a:r>
              <a:rPr sz="1800" b="0" i="0">
                <a:latin typeface="Arial"/>
              </a:rPr>
              <a:t>RTL sim</a:t>
            </a:r>
          </a:p>
        </p:txBody>
      </p:sp>
      <p:sp>
        <p:nvSpPr>
          <p:cNvPr id="9" name="Chevron 8"/>
          <p:cNvSpPr/>
          <p:nvPr/>
        </p:nvSpPr>
        <p:spPr>
          <a:xfrm>
            <a:off x="2395728" y="2011680"/>
            <a:ext cx="155448" cy="365760"/>
          </a:xfrm>
          <a:prstGeom prst="chevron">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0" name="Rounded Rectangle 9"/>
          <p:cNvSpPr/>
          <p:nvPr/>
        </p:nvSpPr>
        <p:spPr>
          <a:xfrm>
            <a:off x="2532888" y="1828800"/>
            <a:ext cx="1691640" cy="731520"/>
          </a:xfrm>
          <a:prstGeom prst="roundRect">
            <a:avLst/>
          </a:prstGeom>
          <a:solidFill>
            <a:srgbClr val="FFFFFF"/>
          </a:solidFill>
          <a:ln w="1778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300" b="1">
                <a:solidFill>
                  <a:srgbClr val="1C3F35"/>
                </a:solidFill>
                <a:latin typeface="Arial"/>
              </a:defRPr>
            </a:pPr>
            <a:r>
              <a:rPr sz="1800" b="0" i="0">
                <a:latin typeface="Arial"/>
              </a:rPr>
              <a:t>Task 2</a:t>
            </a:r>
          </a:p>
          <a:p>
            <a:pPr algn="ctr">
              <a:defRPr sz="1100">
                <a:solidFill>
                  <a:srgbClr val="676F71"/>
                </a:solidFill>
                <a:latin typeface="Arial"/>
              </a:defRPr>
            </a:pPr>
            <a:r>
              <a:rPr sz="1800" b="0" i="0">
                <a:latin typeface="Arial"/>
              </a:rPr>
              <a:t>Flat synth</a:t>
            </a:r>
          </a:p>
        </p:txBody>
      </p:sp>
      <p:sp>
        <p:nvSpPr>
          <p:cNvPr id="11" name="Chevron 10"/>
          <p:cNvSpPr/>
          <p:nvPr/>
        </p:nvSpPr>
        <p:spPr>
          <a:xfrm>
            <a:off x="4242816" y="2011680"/>
            <a:ext cx="155448" cy="365760"/>
          </a:xfrm>
          <a:prstGeom prst="chevron">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2" name="Rounded Rectangle 11"/>
          <p:cNvSpPr/>
          <p:nvPr/>
        </p:nvSpPr>
        <p:spPr>
          <a:xfrm>
            <a:off x="4379976" y="1828800"/>
            <a:ext cx="1691640" cy="731520"/>
          </a:xfrm>
          <a:prstGeom prst="roundRect">
            <a:avLst/>
          </a:prstGeom>
          <a:solidFill>
            <a:srgbClr val="FFFFFF"/>
          </a:solidFill>
          <a:ln w="1778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300" b="1">
                <a:solidFill>
                  <a:srgbClr val="1C3F35"/>
                </a:solidFill>
                <a:latin typeface="Arial"/>
              </a:defRPr>
            </a:pPr>
            <a:r>
              <a:rPr sz="1800" b="0" i="0">
                <a:latin typeface="Arial"/>
              </a:rPr>
              <a:t>Task 3</a:t>
            </a:r>
          </a:p>
          <a:p>
            <a:pPr algn="ctr">
              <a:defRPr sz="1100">
                <a:solidFill>
                  <a:srgbClr val="676F71"/>
                </a:solidFill>
                <a:latin typeface="Arial"/>
              </a:defRPr>
            </a:pPr>
            <a:r>
              <a:rPr sz="1800" b="0" i="0">
                <a:latin typeface="Arial"/>
              </a:rPr>
              <a:t>Bottom-up synth</a:t>
            </a:r>
          </a:p>
        </p:txBody>
      </p:sp>
      <p:sp>
        <p:nvSpPr>
          <p:cNvPr id="13" name="Chevron 12"/>
          <p:cNvSpPr/>
          <p:nvPr/>
        </p:nvSpPr>
        <p:spPr>
          <a:xfrm>
            <a:off x="6089904" y="2011680"/>
            <a:ext cx="155448" cy="365760"/>
          </a:xfrm>
          <a:prstGeom prst="chevron">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4" name="Rounded Rectangle 13"/>
          <p:cNvSpPr/>
          <p:nvPr/>
        </p:nvSpPr>
        <p:spPr>
          <a:xfrm>
            <a:off x="6227064" y="1828800"/>
            <a:ext cx="1691640" cy="731520"/>
          </a:xfrm>
          <a:prstGeom prst="roundRect">
            <a:avLst/>
          </a:prstGeom>
          <a:solidFill>
            <a:srgbClr val="FFFFFF"/>
          </a:solidFill>
          <a:ln w="1778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300" b="1">
                <a:solidFill>
                  <a:srgbClr val="1C3F35"/>
                </a:solidFill>
                <a:latin typeface="Arial"/>
              </a:defRPr>
            </a:pPr>
            <a:r>
              <a:rPr sz="1800" b="0" i="0">
                <a:latin typeface="Arial"/>
              </a:rPr>
              <a:t>Task 4</a:t>
            </a:r>
          </a:p>
          <a:p>
            <a:pPr algn="ctr">
              <a:defRPr sz="1100">
                <a:solidFill>
                  <a:srgbClr val="676F71"/>
                </a:solidFill>
                <a:latin typeface="Arial"/>
              </a:defRPr>
            </a:pPr>
            <a:r>
              <a:rPr sz="1800" b="0" i="0">
                <a:latin typeface="Arial"/>
              </a:rPr>
              <a:t>Flat PnR</a:t>
            </a:r>
          </a:p>
        </p:txBody>
      </p:sp>
      <p:sp>
        <p:nvSpPr>
          <p:cNvPr id="15" name="Chevron 14"/>
          <p:cNvSpPr/>
          <p:nvPr/>
        </p:nvSpPr>
        <p:spPr>
          <a:xfrm>
            <a:off x="7936992" y="2011680"/>
            <a:ext cx="155448" cy="365760"/>
          </a:xfrm>
          <a:prstGeom prst="chevron">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6" name="Rounded Rectangle 15"/>
          <p:cNvSpPr/>
          <p:nvPr/>
        </p:nvSpPr>
        <p:spPr>
          <a:xfrm>
            <a:off x="8074152" y="1828800"/>
            <a:ext cx="1691640" cy="731520"/>
          </a:xfrm>
          <a:prstGeom prst="roundRect">
            <a:avLst/>
          </a:prstGeom>
          <a:solidFill>
            <a:srgbClr val="FFFFFF"/>
          </a:solidFill>
          <a:ln w="1778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300" b="1">
                <a:solidFill>
                  <a:srgbClr val="1C3F35"/>
                </a:solidFill>
                <a:latin typeface="Arial"/>
              </a:defRPr>
            </a:pPr>
            <a:r>
              <a:rPr sz="1800" b="0" i="0">
                <a:latin typeface="Arial"/>
              </a:rPr>
              <a:t>Task 5</a:t>
            </a:r>
          </a:p>
          <a:p>
            <a:pPr algn="ctr">
              <a:defRPr sz="1100">
                <a:solidFill>
                  <a:srgbClr val="676F71"/>
                </a:solidFill>
                <a:latin typeface="Arial"/>
              </a:defRPr>
            </a:pPr>
            <a:r>
              <a:rPr sz="1800" b="0" i="0">
                <a:latin typeface="Arial"/>
              </a:rPr>
              <a:t>Floorplan</a:t>
            </a:r>
          </a:p>
        </p:txBody>
      </p:sp>
      <p:sp>
        <p:nvSpPr>
          <p:cNvPr id="17" name="Chevron 16"/>
          <p:cNvSpPr/>
          <p:nvPr/>
        </p:nvSpPr>
        <p:spPr>
          <a:xfrm>
            <a:off x="9784080" y="2011680"/>
            <a:ext cx="155448" cy="365760"/>
          </a:xfrm>
          <a:prstGeom prst="chevron">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8" name="Rounded Rectangle 17"/>
          <p:cNvSpPr/>
          <p:nvPr/>
        </p:nvSpPr>
        <p:spPr>
          <a:xfrm>
            <a:off x="9921240" y="1828800"/>
            <a:ext cx="1691640" cy="731520"/>
          </a:xfrm>
          <a:prstGeom prst="roundRect">
            <a:avLst/>
          </a:prstGeom>
          <a:solidFill>
            <a:srgbClr val="FFFFFF"/>
          </a:solidFill>
          <a:ln w="1778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300" b="1">
                <a:solidFill>
                  <a:srgbClr val="1C3F35"/>
                </a:solidFill>
                <a:latin typeface="Arial"/>
              </a:defRPr>
            </a:pPr>
            <a:r>
              <a:rPr sz="1800" b="0" i="0">
                <a:latin typeface="Arial"/>
              </a:rPr>
              <a:t>Task 6</a:t>
            </a:r>
          </a:p>
          <a:p>
            <a:pPr algn="ctr">
              <a:defRPr sz="1100">
                <a:solidFill>
                  <a:srgbClr val="676F71"/>
                </a:solidFill>
                <a:latin typeface="Arial"/>
              </a:defRPr>
            </a:pPr>
            <a:r>
              <a:rPr sz="1800" b="0" i="0">
                <a:latin typeface="Arial"/>
              </a:rPr>
              <a:t>Hier PnR</a:t>
            </a:r>
          </a:p>
        </p:txBody>
      </p:sp>
      <p:sp>
        <p:nvSpPr>
          <p:cNvPr id="19" name="Rounded Rectangle 18"/>
          <p:cNvSpPr/>
          <p:nvPr/>
        </p:nvSpPr>
        <p:spPr>
          <a:xfrm>
            <a:off x="640080" y="2926080"/>
            <a:ext cx="3657600" cy="24231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20" name="TextBox 19"/>
          <p:cNvSpPr txBox="1"/>
          <p:nvPr/>
        </p:nvSpPr>
        <p:spPr>
          <a:xfrm>
            <a:off x="804672" y="3017520"/>
            <a:ext cx="33284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Logical progression</a:t>
            </a:r>
          </a:p>
        </p:txBody>
      </p:sp>
      <p:sp>
        <p:nvSpPr>
          <p:cNvPr id="21" name="TextBox 20"/>
          <p:cNvSpPr txBox="1"/>
          <p:nvPr/>
        </p:nvSpPr>
        <p:spPr>
          <a:xfrm>
            <a:off x="804672" y="3310128"/>
            <a:ext cx="3328416" cy="194767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22" name="TextBox 21"/>
          <p:cNvSpPr txBox="1"/>
          <p:nvPr/>
        </p:nvSpPr>
        <p:spPr>
          <a:xfrm>
            <a:off x="822960" y="3310128"/>
            <a:ext cx="3337560" cy="194767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Task 1 validates functionality at RTL level.</a:t>
            </a:r>
          </a:p>
          <a:p>
            <a:pPr>
              <a:spcAft>
                <a:spcPts val="600"/>
              </a:spcAft>
              <a:defRPr sz="1250">
                <a:solidFill>
                  <a:srgbClr val="2B3036"/>
                </a:solidFill>
                <a:latin typeface="Arial"/>
              </a:defRPr>
            </a:pPr>
            <a:r>
              <a:rPr sz="1200" b="0" i="0">
                <a:latin typeface="Arial"/>
              </a:rPr>
              <a:t>Task 2 produces a flat synthesized netlist.</a:t>
            </a:r>
          </a:p>
          <a:p>
            <a:pPr>
              <a:spcAft>
                <a:spcPts val="600"/>
              </a:spcAft>
              <a:defRPr sz="1250">
                <a:solidFill>
                  <a:srgbClr val="2B3036"/>
                </a:solidFill>
                <a:latin typeface="Arial"/>
              </a:defRPr>
            </a:pPr>
            <a:r>
              <a:rPr sz="1200" b="0" i="0">
                <a:latin typeface="Arial"/>
              </a:rPr>
              <a:t>Task 3 produces a hierarchical synthesis handoff.</a:t>
            </a:r>
          </a:p>
          <a:p>
            <a:pPr>
              <a:spcAft>
                <a:spcPts val="600"/>
              </a:spcAft>
              <a:defRPr sz="1250">
                <a:solidFill>
                  <a:srgbClr val="2B3036"/>
                </a:solidFill>
                <a:latin typeface="Arial"/>
              </a:defRPr>
            </a:pPr>
            <a:r>
              <a:rPr sz="1200" b="0" i="0">
                <a:latin typeface="Arial"/>
              </a:rPr>
              <a:t>Task 4 to Task 6 move into physical implementation.</a:t>
            </a:r>
          </a:p>
        </p:txBody>
      </p:sp>
      <p:sp>
        <p:nvSpPr>
          <p:cNvPr id="23" name="Rounded Rectangle 22"/>
          <p:cNvSpPr/>
          <p:nvPr/>
        </p:nvSpPr>
        <p:spPr>
          <a:xfrm>
            <a:off x="4462272" y="2926080"/>
            <a:ext cx="3383280" cy="24231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24" name="TextBox 23"/>
          <p:cNvSpPr txBox="1"/>
          <p:nvPr/>
        </p:nvSpPr>
        <p:spPr>
          <a:xfrm>
            <a:off x="4626864" y="3017520"/>
            <a:ext cx="305409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Key inputs and outputs</a:t>
            </a:r>
          </a:p>
        </p:txBody>
      </p:sp>
      <p:sp>
        <p:nvSpPr>
          <p:cNvPr id="25" name="TextBox 24"/>
          <p:cNvSpPr txBox="1"/>
          <p:nvPr/>
        </p:nvSpPr>
        <p:spPr>
          <a:xfrm>
            <a:off x="4626864" y="3310128"/>
            <a:ext cx="3054096" cy="194767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26" name="TextBox 25"/>
          <p:cNvSpPr txBox="1"/>
          <p:nvPr/>
        </p:nvSpPr>
        <p:spPr>
          <a:xfrm>
            <a:off x="4645152" y="3310128"/>
            <a:ext cx="3063240" cy="194767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RTL hierarchy and testbench drive Task 1.</a:t>
            </a:r>
          </a:p>
          <a:p>
            <a:pPr>
              <a:spcAft>
                <a:spcPts val="600"/>
              </a:spcAft>
              <a:defRPr sz="1250">
                <a:solidFill>
                  <a:srgbClr val="2B3036"/>
                </a:solidFill>
                <a:latin typeface="Arial"/>
              </a:defRPr>
            </a:pPr>
            <a:r>
              <a:rPr sz="1200" b="0" i="0">
                <a:latin typeface="Arial"/>
              </a:rPr>
              <a:t>SDC constraints and DC scripts drive Task 2 and Task 3.</a:t>
            </a:r>
          </a:p>
          <a:p>
            <a:pPr>
              <a:spcAft>
                <a:spcPts val="600"/>
              </a:spcAft>
              <a:defRPr sz="1250">
                <a:solidFill>
                  <a:srgbClr val="2B3036"/>
                </a:solidFill>
                <a:latin typeface="Arial"/>
              </a:defRPr>
            </a:pPr>
            <a:r>
              <a:rPr sz="1200" b="0" i="0">
                <a:latin typeface="Arial"/>
              </a:rPr>
              <a:t>Synthesized netlists feed the Innovus physical flow.</a:t>
            </a:r>
          </a:p>
        </p:txBody>
      </p:sp>
      <p:sp>
        <p:nvSpPr>
          <p:cNvPr id="27" name="Rounded Rectangle 26"/>
          <p:cNvSpPr/>
          <p:nvPr/>
        </p:nvSpPr>
        <p:spPr>
          <a:xfrm>
            <a:off x="8010144" y="2926080"/>
            <a:ext cx="3566160" cy="24231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28" name="TextBox 27"/>
          <p:cNvSpPr txBox="1"/>
          <p:nvPr/>
        </p:nvSpPr>
        <p:spPr>
          <a:xfrm>
            <a:off x="8174736" y="3017520"/>
            <a:ext cx="323697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Physical-flow transition</a:t>
            </a:r>
          </a:p>
        </p:txBody>
      </p:sp>
      <p:sp>
        <p:nvSpPr>
          <p:cNvPr id="29" name="TextBox 28"/>
          <p:cNvSpPr txBox="1"/>
          <p:nvPr/>
        </p:nvSpPr>
        <p:spPr>
          <a:xfrm>
            <a:off x="8174736" y="3310128"/>
            <a:ext cx="3236976" cy="194767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30" name="TextBox 29"/>
          <p:cNvSpPr txBox="1"/>
          <p:nvPr/>
        </p:nvSpPr>
        <p:spPr>
          <a:xfrm>
            <a:off x="8193024" y="3310128"/>
            <a:ext cx="3246120" cy="194767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Task 4 implements the full design flat.</a:t>
            </a:r>
          </a:p>
          <a:p>
            <a:pPr>
              <a:spcAft>
                <a:spcPts val="600"/>
              </a:spcAft>
              <a:defRPr sz="1250">
                <a:solidFill>
                  <a:srgbClr val="2B3036"/>
                </a:solidFill>
                <a:latin typeface="Arial"/>
              </a:defRPr>
            </a:pPr>
            <a:r>
              <a:rPr sz="1200" b="0" i="0">
                <a:latin typeface="Arial"/>
              </a:rPr>
              <a:t>Task 5 defines the floorplan and partitions.</a:t>
            </a:r>
          </a:p>
          <a:p>
            <a:pPr>
              <a:spcAft>
                <a:spcPts val="600"/>
              </a:spcAft>
              <a:defRPr sz="1250">
                <a:solidFill>
                  <a:srgbClr val="2B3036"/>
                </a:solidFill>
                <a:latin typeface="Arial"/>
              </a:defRPr>
            </a:pPr>
            <a:r>
              <a:rPr sz="1200" b="0" i="0">
                <a:latin typeface="Arial"/>
              </a:rPr>
              <a:t>Task 6 implements partitions first, then assembles the top level.</a:t>
            </a:r>
          </a:p>
        </p:txBody>
      </p:sp>
      <p:sp>
        <p:nvSpPr>
          <p:cNvPr id="31" name="TextBox 30"/>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32" name="TextBox 31"/>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1: Simulation Scripts</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The simulation flow creates libraries, compiles the hierarchy and testbench, then runs vsim with the key waveforms enabled.</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1</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85800" y="1417320"/>
            <a:ext cx="5440680" cy="3886200"/>
          </a:xfrm>
          <a:prstGeom prst="roundRect">
            <a:avLst/>
          </a:prstGeom>
          <a:solidFill>
            <a:srgbClr val="1E2B34"/>
          </a:solidFill>
          <a:ln w="1905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Rounded Rectangle 8"/>
          <p:cNvSpPr/>
          <p:nvPr/>
        </p:nvSpPr>
        <p:spPr>
          <a:xfrm>
            <a:off x="850392" y="1527048"/>
            <a:ext cx="1508760" cy="292608"/>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compile.do</a:t>
            </a:r>
          </a:p>
        </p:txBody>
      </p:sp>
      <p:sp>
        <p:nvSpPr>
          <p:cNvPr id="10" name="TextBox 9"/>
          <p:cNvSpPr txBox="1"/>
          <p:nvPr/>
        </p:nvSpPr>
        <p:spPr>
          <a:xfrm>
            <a:off x="886968" y="1920240"/>
            <a:ext cx="5038344" cy="3044952"/>
          </a:xfrm>
          <a:prstGeom prst="rect">
            <a:avLst/>
          </a:prstGeom>
          <a:noFill/>
        </p:spPr>
        <p:txBody>
          <a:bodyPr wrap="square" lIns="36576" tIns="18288" rIns="36576" bIns="18288">
            <a:noAutofit/>
          </a:bodyPr>
          <a:lstStyle/>
          <a:p>
            <a:pPr>
              <a:defRPr sz="1050">
                <a:solidFill>
                  <a:srgbClr val="E2E8F0"/>
                </a:solidFill>
                <a:latin typeface="Consolas"/>
              </a:defRPr>
            </a:pPr>
            <a:r>
              <a:rPr sz="1000" b="0" i="0">
                <a:latin typeface="Consolas"/>
              </a:rPr>
              <a:t>if {[file exists work]} { vdel -lib work -all }</a:t>
            </a:r>
            <a:br>
              <a:rPr sz="1000" b="0" i="0">
                <a:latin typeface="Consolas"/>
              </a:rPr>
            </a:br>
            <a:r>
              <a:rPr sz="1000" b="0" i="0">
                <a:latin typeface="Consolas"/>
              </a:rPr>
              <a:t>vlib work</a:t>
            </a:r>
            <a:br>
              <a:rPr sz="1000" b="0" i="0">
                <a:latin typeface="Consolas"/>
              </a:rPr>
            </a:br>
            <a:r>
              <a:rPr sz="1000" b="0" i="0">
                <a:latin typeface="Consolas"/>
              </a:rPr>
              <a:t>vmap work work</a:t>
            </a:r>
            <a:br>
              <a:rPr sz="1000" b="0" i="0">
                <a:latin typeface="Consolas"/>
              </a:rPr>
            </a:br>
            <a:br>
              <a:rPr sz="1000" b="0" i="0">
                <a:latin typeface="Consolas"/>
              </a:rPr>
            </a:br>
            <a:r>
              <a:rPr sz="1000" b="0" i="0">
                <a:latin typeface="Consolas"/>
              </a:rPr>
              <a:t>vcom -work dware -2008 DW/DWpackages.vhd</a:t>
            </a:r>
            <a:br>
              <a:rPr sz="1000" b="0" i="0">
                <a:latin typeface="Consolas"/>
              </a:rPr>
            </a:br>
            <a:r>
              <a:rPr sz="1000" b="0" i="0">
                <a:latin typeface="Consolas"/>
              </a:rPr>
              <a:t>...</a:t>
            </a:r>
            <a:br>
              <a:rPr sz="1000" b="0" i="0">
                <a:latin typeface="Consolas"/>
              </a:rPr>
            </a:br>
            <a:r>
              <a:rPr sz="1000" b="0" i="0">
                <a:latin typeface="Consolas"/>
              </a:rPr>
              <a:t>set fp [open "silagonn_hierarchy.txt" r]</a:t>
            </a:r>
            <a:br>
              <a:rPr sz="1000" b="0" i="0">
                <a:latin typeface="Consolas"/>
              </a:rPr>
            </a:br>
            <a:r>
              <a:rPr sz="1000" b="0" i="0">
                <a:latin typeface="Consolas"/>
              </a:rPr>
              <a:t>while {[gets $fp line] &gt;= 0} {</a:t>
            </a:r>
            <a:br>
              <a:rPr sz="1000" b="0" i="0">
                <a:latin typeface="Consolas"/>
              </a:rPr>
            </a:br>
            <a:r>
              <a:rPr sz="1000" b="0" i="0">
                <a:latin typeface="Consolas"/>
              </a:rPr>
              <a:t>    vcom -work work -2008 $line</a:t>
            </a:r>
            <a:br>
              <a:rPr sz="1000" b="0" i="0">
                <a:latin typeface="Consolas"/>
              </a:rPr>
            </a:br>
            <a:r>
              <a:rPr sz="1000" b="0" i="0">
                <a:latin typeface="Consolas"/>
              </a:rPr>
              <a:t>}</a:t>
            </a:r>
            <a:br>
              <a:rPr sz="1000" b="0" i="0">
                <a:latin typeface="Consolas"/>
              </a:rPr>
            </a:br>
            <a:r>
              <a:rPr sz="1000" b="0" i="0">
                <a:latin typeface="Consolas"/>
              </a:rPr>
              <a:t>vcom -work work -2008 ../tb/vec_add/testbench.vhd</a:t>
            </a:r>
          </a:p>
        </p:txBody>
      </p:sp>
      <p:sp>
        <p:nvSpPr>
          <p:cNvPr id="11" name="TextBox 10"/>
          <p:cNvSpPr txBox="1"/>
          <p:nvPr/>
        </p:nvSpPr>
        <p:spPr>
          <a:xfrm>
            <a:off x="886968" y="5047488"/>
            <a:ext cx="5038344" cy="146304"/>
          </a:xfrm>
          <a:prstGeom prst="rect">
            <a:avLst/>
          </a:prstGeom>
          <a:noFill/>
        </p:spPr>
        <p:txBody>
          <a:bodyPr wrap="square" lIns="36576" tIns="18288" rIns="36576" bIns="18288">
            <a:noAutofit/>
          </a:bodyPr>
          <a:lstStyle/>
          <a:p>
            <a:pPr>
              <a:defRPr sz="850">
                <a:solidFill>
                  <a:srgbClr val="94A3B8"/>
                </a:solidFill>
                <a:latin typeface="Arial"/>
              </a:defRPr>
            </a:pPr>
            <a:r>
              <a:rPr sz="800" b="0" i="0">
                <a:latin typeface="Arial"/>
              </a:rPr>
              <a:t>Source: main/rtl/compile.do</a:t>
            </a:r>
          </a:p>
        </p:txBody>
      </p:sp>
      <p:sp>
        <p:nvSpPr>
          <p:cNvPr id="12" name="Rounded Rectangle 11"/>
          <p:cNvSpPr/>
          <p:nvPr/>
        </p:nvSpPr>
        <p:spPr>
          <a:xfrm>
            <a:off x="6144768" y="1417320"/>
            <a:ext cx="5376672" cy="3886200"/>
          </a:xfrm>
          <a:prstGeom prst="roundRect">
            <a:avLst/>
          </a:prstGeom>
          <a:solidFill>
            <a:srgbClr val="1E2B34"/>
          </a:solidFill>
          <a:ln w="1905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Rounded Rectangle 12"/>
          <p:cNvSpPr/>
          <p:nvPr/>
        </p:nvSpPr>
        <p:spPr>
          <a:xfrm>
            <a:off x="6309360" y="1527048"/>
            <a:ext cx="1508760" cy="292608"/>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simulate.do</a:t>
            </a:r>
          </a:p>
        </p:txBody>
      </p:sp>
      <p:sp>
        <p:nvSpPr>
          <p:cNvPr id="14" name="TextBox 13"/>
          <p:cNvSpPr txBox="1"/>
          <p:nvPr/>
        </p:nvSpPr>
        <p:spPr>
          <a:xfrm>
            <a:off x="6345936" y="1920240"/>
            <a:ext cx="4974336" cy="3044952"/>
          </a:xfrm>
          <a:prstGeom prst="rect">
            <a:avLst/>
          </a:prstGeom>
          <a:noFill/>
        </p:spPr>
        <p:txBody>
          <a:bodyPr wrap="square" lIns="36576" tIns="18288" rIns="36576" bIns="18288">
            <a:noAutofit/>
          </a:bodyPr>
          <a:lstStyle/>
          <a:p>
            <a:pPr>
              <a:defRPr sz="1050">
                <a:solidFill>
                  <a:srgbClr val="E2E8F0"/>
                </a:solidFill>
                <a:latin typeface="Consolas"/>
              </a:defRPr>
            </a:pPr>
            <a:r>
              <a:rPr sz="1000" b="0" i="0">
                <a:latin typeface="Consolas"/>
              </a:rPr>
              <a:t>vsim -suppress 1549 -voptargs=+acc work.testbench</a:t>
            </a:r>
            <a:br>
              <a:rPr sz="1000" b="0" i="0">
                <a:latin typeface="Consolas"/>
              </a:rPr>
            </a:br>
            <a:r>
              <a:rPr sz="1000" b="0" i="0">
                <a:latin typeface="Consolas"/>
              </a:rPr>
              <a:t>set DPU_PATH {.../MTRF_cell/dpu_gen}</a:t>
            </a:r>
            <a:br>
              <a:rPr sz="1000" b="0" i="0">
                <a:latin typeface="Consolas"/>
              </a:rPr>
            </a:br>
            <a:r>
              <a:rPr sz="1000" b="0" i="0">
                <a:latin typeface="Consolas"/>
              </a:rPr>
              <a:t>add wave /testbench/clk</a:t>
            </a:r>
            <a:br>
              <a:rPr sz="1000" b="0" i="0">
                <a:latin typeface="Consolas"/>
              </a:rPr>
            </a:br>
            <a:r>
              <a:rPr sz="1000" b="0" i="0">
                <a:latin typeface="Consolas"/>
              </a:rPr>
              <a:t>add wave /testbench/rst_n</a:t>
            </a:r>
            <a:br>
              <a:rPr sz="1000" b="0" i="0">
                <a:latin typeface="Consolas"/>
              </a:rPr>
            </a:br>
            <a:r>
              <a:rPr sz="1000" b="0" i="0">
                <a:latin typeface="Consolas"/>
              </a:rPr>
              <a:t>add wave -radix decimal $DPU_PATH/dpu_out_0</a:t>
            </a:r>
            <a:br>
              <a:rPr sz="1000" b="0" i="0">
                <a:latin typeface="Consolas"/>
              </a:rPr>
            </a:br>
            <a:r>
              <a:rPr sz="1000" b="0" i="0">
                <a:latin typeface="Consolas"/>
              </a:rPr>
              <a:t>add wave -radix decimal $DPU_PATH/dpu_out_1</a:t>
            </a:r>
            <a:br>
              <a:rPr sz="1000" b="0" i="0">
                <a:latin typeface="Consolas"/>
              </a:rPr>
            </a:br>
            <a:r>
              <a:rPr sz="1000" b="0" i="0">
                <a:latin typeface="Consolas"/>
              </a:rPr>
              <a:t>add wave -radix decimal $DPU_PATH/dpu_in_0</a:t>
            </a:r>
            <a:br>
              <a:rPr sz="1000" b="0" i="0">
                <a:latin typeface="Consolas"/>
              </a:rPr>
            </a:br>
            <a:r>
              <a:rPr sz="1000" b="0" i="0">
                <a:latin typeface="Consolas"/>
              </a:rPr>
              <a:t>run -all</a:t>
            </a:r>
          </a:p>
        </p:txBody>
      </p:sp>
      <p:sp>
        <p:nvSpPr>
          <p:cNvPr id="15" name="TextBox 14"/>
          <p:cNvSpPr txBox="1"/>
          <p:nvPr/>
        </p:nvSpPr>
        <p:spPr>
          <a:xfrm>
            <a:off x="6345936" y="5047488"/>
            <a:ext cx="4974336" cy="146304"/>
          </a:xfrm>
          <a:prstGeom prst="rect">
            <a:avLst/>
          </a:prstGeom>
          <a:noFill/>
        </p:spPr>
        <p:txBody>
          <a:bodyPr wrap="square" lIns="36576" tIns="18288" rIns="36576" bIns="18288">
            <a:noAutofit/>
          </a:bodyPr>
          <a:lstStyle/>
          <a:p>
            <a:pPr>
              <a:defRPr sz="850">
                <a:solidFill>
                  <a:srgbClr val="94A3B8"/>
                </a:solidFill>
                <a:latin typeface="Arial"/>
              </a:defRPr>
            </a:pPr>
            <a:r>
              <a:rPr sz="800" b="0" i="0">
                <a:latin typeface="Arial"/>
              </a:rPr>
              <a:t>Source: main/rtl/simulate.do</a:t>
            </a:r>
          </a:p>
        </p:txBody>
      </p:sp>
      <p:sp>
        <p:nvSpPr>
          <p:cNvPr id="16" name="Rounded Rectangle 15"/>
          <p:cNvSpPr/>
          <p:nvPr/>
        </p:nvSpPr>
        <p:spPr>
          <a:xfrm>
            <a:off x="822960" y="5440680"/>
            <a:ext cx="10332720" cy="86868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7" name="TextBox 16"/>
          <p:cNvSpPr txBox="1"/>
          <p:nvPr/>
        </p:nvSpPr>
        <p:spPr>
          <a:xfrm>
            <a:off x="987552" y="5532120"/>
            <a:ext cx="1000353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Simulation flow</a:t>
            </a:r>
          </a:p>
        </p:txBody>
      </p:sp>
      <p:sp>
        <p:nvSpPr>
          <p:cNvPr id="18" name="TextBox 17"/>
          <p:cNvSpPr txBox="1"/>
          <p:nvPr/>
        </p:nvSpPr>
        <p:spPr>
          <a:xfrm>
            <a:off x="987552" y="5824728"/>
            <a:ext cx="10003536" cy="39319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compile.do builds the libraries and RTL hierarchy, while simulate.do launches the testbench and adds the waveform signals used for debug and result inspection.</a:t>
            </a:r>
          </a:p>
        </p:txBody>
      </p:sp>
      <p:sp>
        <p:nvSpPr>
          <p:cNvPr id="19" name="TextBox 18"/>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0" name="TextBox 19"/>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1: RTL Simulation Confirms Functional Behavior</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Before synthesis, we verify that the testbench, instruction loading, and DPU outputs behave as expected.</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1</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pic>
        <p:nvPicPr>
          <p:cNvPr id="8" name="Picture 7" descr="image3.png"/>
          <p:cNvPicPr>
            <a:picLocks noChangeAspect="1"/>
          </p:cNvPicPr>
          <p:nvPr/>
        </p:nvPicPr>
        <p:blipFill>
          <a:blip r:embed="rId3"/>
          <a:stretch>
            <a:fillRect/>
          </a:stretch>
        </p:blipFill>
        <p:spPr>
          <a:xfrm>
            <a:off x="104328" y="1225296"/>
            <a:ext cx="5976432" cy="2986720"/>
          </a:xfrm>
          <a:prstGeom prst="rect">
            <a:avLst/>
          </a:prstGeom>
        </p:spPr>
      </p:pic>
      <p:sp>
        <p:nvSpPr>
          <p:cNvPr id="9" name="TextBox 8"/>
          <p:cNvSpPr txBox="1"/>
          <p:nvPr/>
        </p:nvSpPr>
        <p:spPr>
          <a:xfrm>
            <a:off x="640080" y="4434840"/>
            <a:ext cx="544068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1000" b="0" i="0">
                <a:latin typeface="Arial"/>
              </a:rPr>
              <a:t>Waveform view with reset, instruction load, and DPU signal groups</a:t>
            </a:r>
          </a:p>
        </p:txBody>
      </p:sp>
      <p:pic>
        <p:nvPicPr>
          <p:cNvPr id="10" name="Picture 9" descr="image4.png"/>
          <p:cNvPicPr>
            <a:picLocks noChangeAspect="1"/>
          </p:cNvPicPr>
          <p:nvPr/>
        </p:nvPicPr>
        <p:blipFill>
          <a:blip r:embed="rId4"/>
          <a:stretch>
            <a:fillRect/>
          </a:stretch>
        </p:blipFill>
        <p:spPr>
          <a:xfrm>
            <a:off x="6118598" y="1266444"/>
            <a:ext cx="6035324" cy="2898648"/>
          </a:xfrm>
          <a:prstGeom prst="rect">
            <a:avLst/>
          </a:prstGeom>
        </p:spPr>
      </p:pic>
      <p:sp>
        <p:nvSpPr>
          <p:cNvPr id="11" name="TextBox 10"/>
          <p:cNvSpPr txBox="1"/>
          <p:nvPr/>
        </p:nvSpPr>
        <p:spPr>
          <a:xfrm>
            <a:off x="6199632" y="4434840"/>
            <a:ext cx="534924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1000" b="0" i="0">
                <a:latin typeface="Arial"/>
              </a:rPr>
              <a:t>Decimal DPU outputs show the expected vector-add style data movement</a:t>
            </a:r>
          </a:p>
        </p:txBody>
      </p:sp>
      <p:sp>
        <p:nvSpPr>
          <p:cNvPr id="12" name="Rounded Rectangle 11"/>
          <p:cNvSpPr/>
          <p:nvPr/>
        </p:nvSpPr>
        <p:spPr>
          <a:xfrm>
            <a:off x="868680" y="4754880"/>
            <a:ext cx="10287000" cy="132588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TextBox 12"/>
          <p:cNvSpPr txBox="1"/>
          <p:nvPr/>
        </p:nvSpPr>
        <p:spPr>
          <a:xfrm>
            <a:off x="1033272" y="4846320"/>
            <a:ext cx="99578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Functional verification result</a:t>
            </a:r>
          </a:p>
        </p:txBody>
      </p:sp>
      <p:sp>
        <p:nvSpPr>
          <p:cNvPr id="14" name="TextBox 13"/>
          <p:cNvSpPr txBox="1"/>
          <p:nvPr/>
        </p:nvSpPr>
        <p:spPr>
          <a:xfrm>
            <a:off x="1101852" y="5189220"/>
            <a:ext cx="9957816" cy="85039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Task 1 establishes functional correctness before implementation: compile the RTL hierarchy, run the testbench, and inspect control signals together with DPU inputs and outputs in the waveform window.</a:t>
            </a:r>
          </a:p>
        </p:txBody>
      </p:sp>
      <p:sp>
        <p:nvSpPr>
          <p:cNvPr id="15" name="TextBox 14"/>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6" name="TextBox 15"/>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2: Flat Logic Synthesis Flow</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One top-level DC run reads the whole RTL hierarchy, applies one clock constraint, compiles the full design, and writes reports plus a netlist.</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2</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58368" y="1325880"/>
            <a:ext cx="4617720" cy="352044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TextBox 8"/>
          <p:cNvSpPr txBox="1"/>
          <p:nvPr/>
        </p:nvSpPr>
        <p:spPr>
          <a:xfrm>
            <a:off x="822960" y="1417320"/>
            <a:ext cx="428853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Flow steps</a:t>
            </a:r>
          </a:p>
        </p:txBody>
      </p:sp>
      <p:sp>
        <p:nvSpPr>
          <p:cNvPr id="10" name="TextBox 9"/>
          <p:cNvSpPr txBox="1"/>
          <p:nvPr/>
        </p:nvSpPr>
        <p:spPr>
          <a:xfrm>
            <a:off x="822960" y="1709928"/>
            <a:ext cx="4288536" cy="304495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1" name="TextBox 10"/>
          <p:cNvSpPr txBox="1"/>
          <p:nvPr/>
        </p:nvSpPr>
        <p:spPr>
          <a:xfrm>
            <a:off x="841248" y="1709928"/>
            <a:ext cx="4297680" cy="304495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Load synopsys_dc.setup and the technology libraries.</a:t>
            </a:r>
          </a:p>
          <a:p>
            <a:pPr>
              <a:spcAft>
                <a:spcPts val="600"/>
              </a:spcAft>
              <a:defRPr sz="1250">
                <a:solidFill>
                  <a:srgbClr val="2B3036"/>
                </a:solidFill>
                <a:latin typeface="Arial"/>
              </a:defRPr>
            </a:pPr>
            <a:r>
              <a:rPr sz="1200" b="0" i="0">
                <a:latin typeface="Arial"/>
              </a:rPr>
              <a:t>Read the RTL hierarchy from drra_wrapper_hierarchy.txt.</a:t>
            </a:r>
          </a:p>
          <a:p>
            <a:pPr>
              <a:spcAft>
                <a:spcPts val="600"/>
              </a:spcAft>
              <a:defRPr sz="1250">
                <a:solidFill>
                  <a:srgbClr val="2B3036"/>
                </a:solidFill>
                <a:latin typeface="Arial"/>
              </a:defRPr>
            </a:pPr>
            <a:r>
              <a:rPr sz="1200" b="0" i="0">
                <a:latin typeface="Arial"/>
              </a:rPr>
              <a:t>Elaborate and link the top-level design drra_wrapper.</a:t>
            </a:r>
          </a:p>
          <a:p>
            <a:pPr>
              <a:spcAft>
                <a:spcPts val="600"/>
              </a:spcAft>
              <a:defRPr sz="1250">
                <a:solidFill>
                  <a:srgbClr val="2B3036"/>
                </a:solidFill>
                <a:latin typeface="Arial"/>
              </a:defRPr>
            </a:pPr>
            <a:r>
              <a:rPr sz="1200" b="0" i="0">
                <a:latin typeface="Arial"/>
              </a:rPr>
              <a:t>Apply SDC timing constraints and set the clock period.</a:t>
            </a:r>
          </a:p>
          <a:p>
            <a:pPr>
              <a:spcAft>
                <a:spcPts val="600"/>
              </a:spcAft>
              <a:defRPr sz="1250">
                <a:solidFill>
                  <a:srgbClr val="2B3036"/>
                </a:solidFill>
                <a:latin typeface="Arial"/>
              </a:defRPr>
            </a:pPr>
            <a:r>
              <a:rPr sz="1200" b="0" i="0">
                <a:latin typeface="Arial"/>
              </a:rPr>
              <a:t>Compile the whole design flat, then report area, power, and timing.</a:t>
            </a:r>
          </a:p>
        </p:txBody>
      </p:sp>
      <p:sp>
        <p:nvSpPr>
          <p:cNvPr id="12" name="Rounded Rectangle 11"/>
          <p:cNvSpPr/>
          <p:nvPr/>
        </p:nvSpPr>
        <p:spPr>
          <a:xfrm>
            <a:off x="5486400" y="1371600"/>
            <a:ext cx="5486400" cy="3474720"/>
          </a:xfrm>
          <a:prstGeom prst="roundRect">
            <a:avLst/>
          </a:prstGeom>
          <a:solidFill>
            <a:srgbClr val="1E2B34"/>
          </a:solidFill>
          <a:ln w="1905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Rounded Rectangle 12"/>
          <p:cNvSpPr/>
          <p:nvPr/>
        </p:nvSpPr>
        <p:spPr>
          <a:xfrm>
            <a:off x="5650992" y="1481328"/>
            <a:ext cx="1508760" cy="292608"/>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dc_flat.tcl</a:t>
            </a:r>
          </a:p>
        </p:txBody>
      </p:sp>
      <p:sp>
        <p:nvSpPr>
          <p:cNvPr id="14" name="TextBox 13"/>
          <p:cNvSpPr txBox="1"/>
          <p:nvPr/>
        </p:nvSpPr>
        <p:spPr>
          <a:xfrm>
            <a:off x="5687568" y="1874520"/>
            <a:ext cx="5084064" cy="2633472"/>
          </a:xfrm>
          <a:prstGeom prst="rect">
            <a:avLst/>
          </a:prstGeom>
          <a:noFill/>
        </p:spPr>
        <p:txBody>
          <a:bodyPr wrap="square" lIns="36576" tIns="18288" rIns="36576" bIns="18288">
            <a:noAutofit/>
          </a:bodyPr>
          <a:lstStyle/>
          <a:p>
            <a:pPr>
              <a:defRPr sz="1050">
                <a:solidFill>
                  <a:srgbClr val="E2E8F0"/>
                </a:solidFill>
                <a:latin typeface="Consolas"/>
              </a:defRPr>
            </a:pPr>
            <a:r>
              <a:rPr sz="1000" dirty="0">
                <a:latin typeface="Consolas"/>
              </a:rPr>
              <a:t>source ../syn/</a:t>
            </a:r>
            <a:r>
              <a:rPr sz="1000" dirty="0" err="1">
                <a:latin typeface="Consolas"/>
              </a:rPr>
              <a:t>synopsys_dc.setup</a:t>
            </a:r>
            <a:r>
              <a:rPr sz="1000" dirty="0">
                <a:latin typeface="Consolas"/>
              </a:rPr>
              <a:t>
set TOP_NAME </a:t>
            </a:r>
            <a:r>
              <a:rPr sz="1000" dirty="0" err="1">
                <a:latin typeface="Consolas"/>
              </a:rPr>
              <a:t>drra_wrapper</a:t>
            </a:r>
            <a:r>
              <a:rPr sz="1000" dirty="0">
                <a:latin typeface="Consolas"/>
              </a:rPr>
              <a:t>
set </a:t>
            </a:r>
            <a:r>
              <a:rPr sz="1000" dirty="0" err="1">
                <a:latin typeface="Consolas"/>
              </a:rPr>
              <a:t>hierarchy_file</a:t>
            </a:r>
            <a:r>
              <a:rPr sz="1000" dirty="0">
                <a:latin typeface="Consolas"/>
              </a:rPr>
              <a:t> "../</a:t>
            </a:r>
            <a:r>
              <a:rPr sz="1000" dirty="0" err="1">
                <a:latin typeface="Consolas"/>
              </a:rPr>
              <a:t>rtl</a:t>
            </a:r>
            <a:r>
              <a:rPr sz="1000" dirty="0">
                <a:latin typeface="Consolas"/>
              </a:rPr>
              <a:t>/${TOP_NAME}_hierarchy.txt"
set </a:t>
            </a:r>
            <a:r>
              <a:rPr sz="1000" dirty="0" err="1">
                <a:latin typeface="Consolas"/>
              </a:rPr>
              <a:t>hierarchy_files</a:t>
            </a:r>
            <a:r>
              <a:rPr sz="1000" dirty="0">
                <a:latin typeface="Consolas"/>
              </a:rPr>
              <a:t> [split [read [open $</a:t>
            </a:r>
            <a:r>
              <a:rPr sz="1000" dirty="0" err="1">
                <a:latin typeface="Consolas"/>
              </a:rPr>
              <a:t>hierarchy_file</a:t>
            </a:r>
            <a:r>
              <a:rPr sz="1000" dirty="0">
                <a:latin typeface="Consolas"/>
              </a:rPr>
              <a:t> r]] "\n"]
foreach filename [</a:t>
            </a:r>
            <a:r>
              <a:rPr sz="1000" dirty="0" err="1">
                <a:latin typeface="Consolas"/>
              </a:rPr>
              <a:t>lrange</a:t>
            </a:r>
            <a:r>
              <a:rPr sz="1000" dirty="0">
                <a:latin typeface="Consolas"/>
              </a:rPr>
              <a:t> $</a:t>
            </a:r>
            <a:r>
              <a:rPr sz="1000" dirty="0" err="1">
                <a:latin typeface="Consolas"/>
              </a:rPr>
              <a:t>hierarchy_files</a:t>
            </a:r>
            <a:r>
              <a:rPr sz="1000" dirty="0">
                <a:latin typeface="Consolas"/>
              </a:rPr>
              <a:t> 0 end-1] {
    if {[string trim $filename] ne ""} { analyze -format VHDL -lib WORK "../</a:t>
            </a:r>
            <a:r>
              <a:rPr sz="1000" dirty="0" err="1">
                <a:latin typeface="Consolas"/>
              </a:rPr>
              <a:t>rtl</a:t>
            </a:r>
            <a:r>
              <a:rPr sz="1000" dirty="0">
                <a:latin typeface="Consolas"/>
              </a:rPr>
              <a:t>/${filename}" }
}
elaborate $TOP_NAME ; link ; </a:t>
            </a:r>
            <a:r>
              <a:rPr sz="1000" dirty="0" err="1">
                <a:latin typeface="Consolas"/>
              </a:rPr>
              <a:t>current_design</a:t>
            </a:r>
            <a:r>
              <a:rPr sz="1000" dirty="0">
                <a:latin typeface="Consolas"/>
              </a:rPr>
              <a:t> $TOP_NAME ; uniquify
source ../syn/</a:t>
            </a:r>
            <a:r>
              <a:rPr sz="1000" dirty="0" err="1">
                <a:latin typeface="Consolas"/>
              </a:rPr>
              <a:t>constraints.sdc</a:t>
            </a:r>
            <a:r>
              <a:rPr sz="1000" dirty="0">
                <a:latin typeface="Consolas"/>
              </a:rPr>
              <a:t>
</a:t>
            </a:r>
            <a:r>
              <a:rPr sz="1000" dirty="0" err="1">
                <a:latin typeface="Consolas"/>
              </a:rPr>
              <a:t>create_clock</a:t>
            </a:r>
            <a:r>
              <a:rPr sz="1000" dirty="0">
                <a:latin typeface="Consolas"/>
              </a:rPr>
              <a:t> -name </a:t>
            </a:r>
            <a:r>
              <a:rPr sz="1000" dirty="0" err="1">
                <a:latin typeface="Consolas"/>
              </a:rPr>
              <a:t>clk</a:t>
            </a:r>
            <a:r>
              <a:rPr sz="1000" dirty="0">
                <a:latin typeface="Consolas"/>
              </a:rPr>
              <a:t> -period $CLOCK_PERIOD_PS $</a:t>
            </a:r>
            <a:r>
              <a:rPr sz="1000" dirty="0" err="1">
                <a:latin typeface="Consolas"/>
              </a:rPr>
              <a:t>clk_ports</a:t>
            </a:r>
            <a:r>
              <a:rPr sz="1000" dirty="0">
                <a:latin typeface="Consolas"/>
              </a:rPr>
              <a:t>
compile -</a:t>
            </a:r>
            <a:r>
              <a:rPr sz="1000" dirty="0" err="1">
                <a:latin typeface="Consolas"/>
              </a:rPr>
              <a:t>map_effort</a:t>
            </a:r>
            <a:r>
              <a:rPr sz="1000" dirty="0">
                <a:latin typeface="Consolas"/>
              </a:rPr>
              <a:t> medium
</a:t>
            </a:r>
            <a:r>
              <a:rPr sz="1000" dirty="0" err="1">
                <a:latin typeface="Consolas"/>
              </a:rPr>
              <a:t>report_area</a:t>
            </a:r>
            <a:r>
              <a:rPr sz="1000" dirty="0">
                <a:latin typeface="Consolas"/>
              </a:rPr>
              <a:t> &gt; ... ; </a:t>
            </a:r>
            <a:r>
              <a:rPr sz="1000" dirty="0" err="1">
                <a:latin typeface="Consolas"/>
              </a:rPr>
              <a:t>report_timing</a:t>
            </a:r>
            <a:r>
              <a:rPr sz="1000" dirty="0">
                <a:latin typeface="Consolas"/>
              </a:rPr>
              <a:t> &gt; ... ; </a:t>
            </a:r>
            <a:r>
              <a:rPr sz="1000" dirty="0" err="1">
                <a:latin typeface="Consolas"/>
              </a:rPr>
              <a:t>report_power</a:t>
            </a:r>
            <a:r>
              <a:rPr sz="1000" dirty="0">
                <a:latin typeface="Consolas"/>
              </a:rPr>
              <a:t> &gt; ...
write -format </a:t>
            </a:r>
            <a:r>
              <a:rPr sz="1000" dirty="0" err="1">
                <a:latin typeface="Consolas"/>
              </a:rPr>
              <a:t>ddc</a:t>
            </a:r>
            <a:r>
              <a:rPr sz="1000" dirty="0">
                <a:latin typeface="Consolas"/>
              </a:rPr>
              <a:t> ... ; write -format </a:t>
            </a:r>
            <a:r>
              <a:rPr sz="1000" dirty="0" err="1">
                <a:latin typeface="Consolas"/>
              </a:rPr>
              <a:t>verilog</a:t>
            </a:r>
            <a:r>
              <a:rPr sz="1000" dirty="0">
                <a:latin typeface="Consolas"/>
              </a:rPr>
              <a:t> ... ; </a:t>
            </a:r>
            <a:r>
              <a:rPr sz="1000" dirty="0" err="1">
                <a:latin typeface="Consolas"/>
              </a:rPr>
              <a:t>write_sdc</a:t>
            </a:r>
            <a:r>
              <a:rPr sz="1000" dirty="0">
                <a:latin typeface="Consolas"/>
              </a:rPr>
              <a:t> ...</a:t>
            </a:r>
          </a:p>
        </p:txBody>
      </p:sp>
      <p:sp>
        <p:nvSpPr>
          <p:cNvPr id="15" name="TextBox 14"/>
          <p:cNvSpPr txBox="1"/>
          <p:nvPr/>
        </p:nvSpPr>
        <p:spPr>
          <a:xfrm>
            <a:off x="5687568" y="4590288"/>
            <a:ext cx="5084064" cy="146304"/>
          </a:xfrm>
          <a:prstGeom prst="rect">
            <a:avLst/>
          </a:prstGeom>
          <a:noFill/>
        </p:spPr>
        <p:txBody>
          <a:bodyPr wrap="square" lIns="36576" tIns="18288" rIns="36576" bIns="18288">
            <a:noAutofit/>
          </a:bodyPr>
          <a:lstStyle/>
          <a:p>
            <a:pPr>
              <a:defRPr sz="850">
                <a:solidFill>
                  <a:srgbClr val="94A3B8"/>
                </a:solidFill>
                <a:latin typeface="Arial"/>
              </a:defRPr>
            </a:pPr>
            <a:r>
              <a:rPr sz="800" b="0" i="0">
                <a:latin typeface="Arial"/>
              </a:rPr>
              <a:t>Source: main/syn/scr/dc_flat.tcl</a:t>
            </a:r>
          </a:p>
        </p:txBody>
      </p:sp>
      <p:sp>
        <p:nvSpPr>
          <p:cNvPr id="16" name="Rounded Rectangle 15"/>
          <p:cNvSpPr/>
          <p:nvPr/>
        </p:nvSpPr>
        <p:spPr>
          <a:xfrm>
            <a:off x="822960" y="5074920"/>
            <a:ext cx="10149840" cy="100584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7" name="TextBox 16"/>
          <p:cNvSpPr txBox="1"/>
          <p:nvPr/>
        </p:nvSpPr>
        <p:spPr>
          <a:xfrm>
            <a:off x="987552" y="5166360"/>
            <a:ext cx="98206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Main takeaway</a:t>
            </a:r>
          </a:p>
        </p:txBody>
      </p:sp>
      <p:sp>
        <p:nvSpPr>
          <p:cNvPr id="18" name="TextBox 17"/>
          <p:cNvSpPr txBox="1"/>
          <p:nvPr/>
        </p:nvSpPr>
        <p:spPr>
          <a:xfrm>
            <a:off x="987552" y="5458968"/>
            <a:ext cx="9820656" cy="53035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Flat synthesis gives the tool complete visibility of the whole design. That often improves global optimization, but the run is heavier and less modular than bottom-up synthesis.</a:t>
            </a:r>
          </a:p>
        </p:txBody>
      </p:sp>
      <p:sp>
        <p:nvSpPr>
          <p:cNvPr id="19" name="TextBox 18"/>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0" name="TextBox 19"/>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2: Flat Synthesis PPA Summary</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As the clock target tightens, the flat flow shows higher power and area together with a shrinking timing margin.</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2</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881574937"/>
              </p:ext>
            </p:extLst>
          </p:nvPr>
        </p:nvGraphicFramePr>
        <p:xfrm>
          <a:off x="658368" y="1325880"/>
          <a:ext cx="6748888" cy="4148980"/>
        </p:xfrm>
        <a:graphic>
          <a:graphicData uri="http://schemas.openxmlformats.org/drawingml/2006/table">
            <a:tbl>
              <a:tblPr firstRow="1" bandRow="1">
                <a:tableStyleId>{5C22544A-7EE6-4342-B048-85BDC9FD1C3A}</a:tableStyleId>
              </a:tblPr>
              <a:tblGrid>
                <a:gridCol w="1687222">
                  <a:extLst>
                    <a:ext uri="{9D8B030D-6E8A-4147-A177-3AD203B41FA5}">
                      <a16:colId xmlns:a16="http://schemas.microsoft.com/office/drawing/2014/main" val="20000"/>
                    </a:ext>
                  </a:extLst>
                </a:gridCol>
                <a:gridCol w="1687222">
                  <a:extLst>
                    <a:ext uri="{9D8B030D-6E8A-4147-A177-3AD203B41FA5}">
                      <a16:colId xmlns:a16="http://schemas.microsoft.com/office/drawing/2014/main" val="20001"/>
                    </a:ext>
                  </a:extLst>
                </a:gridCol>
                <a:gridCol w="1687222">
                  <a:extLst>
                    <a:ext uri="{9D8B030D-6E8A-4147-A177-3AD203B41FA5}">
                      <a16:colId xmlns:a16="http://schemas.microsoft.com/office/drawing/2014/main" val="20002"/>
                    </a:ext>
                  </a:extLst>
                </a:gridCol>
                <a:gridCol w="1687222">
                  <a:extLst>
                    <a:ext uri="{9D8B030D-6E8A-4147-A177-3AD203B41FA5}">
                      <a16:colId xmlns:a16="http://schemas.microsoft.com/office/drawing/2014/main" val="20003"/>
                    </a:ext>
                  </a:extLst>
                </a:gridCol>
              </a:tblGrid>
              <a:tr h="829796">
                <a:tc>
                  <a:txBody>
                    <a:bodyPr/>
                    <a:lstStyle/>
                    <a:p>
                      <a:pPr algn="ctr">
                        <a:defRPr sz="1000" b="1">
                          <a:solidFill>
                            <a:srgbClr val="FFFFFF"/>
                          </a:solidFill>
                          <a:latin typeface="Arial"/>
                        </a:defRPr>
                      </a:pPr>
                      <a:r>
                        <a:rPr sz="1400">
                          <a:latin typeface="Arial"/>
                        </a:rPr>
                        <a:t>Clock Period (ns)</a:t>
                      </a:r>
                    </a:p>
                  </a:txBody>
                  <a:tcPr>
                    <a:solidFill>
                      <a:srgbClr val="1C3F35"/>
                    </a:solidFill>
                  </a:tcPr>
                </a:tc>
                <a:tc>
                  <a:txBody>
                    <a:bodyPr/>
                    <a:lstStyle/>
                    <a:p>
                      <a:pPr algn="ctr">
                        <a:defRPr sz="1000" b="1">
                          <a:solidFill>
                            <a:srgbClr val="FFFFFF"/>
                          </a:solidFill>
                          <a:latin typeface="Arial"/>
                        </a:defRPr>
                      </a:pPr>
                      <a:r>
                        <a:rPr sz="1400" dirty="0">
                          <a:latin typeface="Arial"/>
                        </a:rPr>
                        <a:t>Total Power (</a:t>
                      </a:r>
                      <a:r>
                        <a:rPr sz="1400" dirty="0" err="1">
                          <a:latin typeface="Arial"/>
                        </a:rPr>
                        <a:t>mW</a:t>
                      </a:r>
                      <a:r>
                        <a:rPr sz="1400" dirty="0">
                          <a:latin typeface="Arial"/>
                        </a:rPr>
                        <a:t>)</a:t>
                      </a:r>
                    </a:p>
                  </a:txBody>
                  <a:tcPr>
                    <a:solidFill>
                      <a:srgbClr val="1C3F35"/>
                    </a:solidFill>
                  </a:tcPr>
                </a:tc>
                <a:tc>
                  <a:txBody>
                    <a:bodyPr/>
                    <a:lstStyle/>
                    <a:p>
                      <a:pPr algn="ctr">
                        <a:defRPr sz="1000" b="1">
                          <a:solidFill>
                            <a:srgbClr val="FFFFFF"/>
                          </a:solidFill>
                          <a:latin typeface="Arial"/>
                        </a:defRPr>
                      </a:pPr>
                      <a:r>
                        <a:rPr sz="1400">
                          <a:latin typeface="Arial"/>
                        </a:rPr>
                        <a:t>Total Cell Area (um^2)</a:t>
                      </a:r>
                    </a:p>
                  </a:txBody>
                  <a:tcPr>
                    <a:solidFill>
                      <a:srgbClr val="1C3F35"/>
                    </a:solidFill>
                  </a:tcPr>
                </a:tc>
                <a:tc>
                  <a:txBody>
                    <a:bodyPr/>
                    <a:lstStyle/>
                    <a:p>
                      <a:pPr algn="ctr">
                        <a:defRPr sz="1000" b="1">
                          <a:solidFill>
                            <a:srgbClr val="FFFFFF"/>
                          </a:solidFill>
                          <a:latin typeface="Arial"/>
                        </a:defRPr>
                      </a:pPr>
                      <a:r>
                        <a:rPr sz="1400">
                          <a:latin typeface="Arial"/>
                        </a:rPr>
                        <a:t>Slack (ps)</a:t>
                      </a:r>
                    </a:p>
                  </a:txBody>
                  <a:tcPr>
                    <a:solidFill>
                      <a:srgbClr val="1C3F35"/>
                    </a:solidFill>
                  </a:tcPr>
                </a:tc>
                <a:extLst>
                  <a:ext uri="{0D108BD9-81ED-4DB2-BD59-A6C34878D82A}">
                    <a16:rowId xmlns:a16="http://schemas.microsoft.com/office/drawing/2014/main" val="10000"/>
                  </a:ext>
                </a:extLst>
              </a:tr>
              <a:tr h="829796">
                <a:tc>
                  <a:txBody>
                    <a:bodyPr/>
                    <a:lstStyle/>
                    <a:p>
                      <a:pPr algn="ctr">
                        <a:defRPr sz="950">
                          <a:solidFill>
                            <a:srgbClr val="2B3036"/>
                          </a:solidFill>
                          <a:latin typeface="Arial"/>
                        </a:defRPr>
                      </a:pPr>
                      <a:r>
                        <a:rPr sz="1400" dirty="0">
                          <a:latin typeface="Arial"/>
                        </a:rPr>
                        <a:t>20</a:t>
                      </a:r>
                    </a:p>
                  </a:txBody>
                  <a:tcPr>
                    <a:solidFill>
                      <a:srgbClr val="FFFFFF"/>
                    </a:solidFill>
                  </a:tcPr>
                </a:tc>
                <a:tc>
                  <a:txBody>
                    <a:bodyPr/>
                    <a:lstStyle/>
                    <a:p>
                      <a:pPr algn="ctr">
                        <a:defRPr sz="950">
                          <a:solidFill>
                            <a:srgbClr val="2B3036"/>
                          </a:solidFill>
                          <a:latin typeface="Arial"/>
                        </a:defRPr>
                      </a:pPr>
                      <a:r>
                        <a:rPr sz="1400" dirty="0">
                          <a:latin typeface="Arial"/>
                        </a:rPr>
                        <a:t>10.4133</a:t>
                      </a:r>
                    </a:p>
                  </a:txBody>
                  <a:tcPr>
                    <a:solidFill>
                      <a:srgbClr val="FFFFFF"/>
                    </a:solidFill>
                  </a:tcPr>
                </a:tc>
                <a:tc>
                  <a:txBody>
                    <a:bodyPr/>
                    <a:lstStyle/>
                    <a:p>
                      <a:pPr algn="ctr">
                        <a:defRPr sz="950">
                          <a:solidFill>
                            <a:srgbClr val="2B3036"/>
                          </a:solidFill>
                          <a:latin typeface="Arial"/>
                        </a:defRPr>
                      </a:pPr>
                      <a:r>
                        <a:rPr sz="1400" dirty="0">
                          <a:latin typeface="Arial"/>
                        </a:rPr>
                        <a:t>358652</a:t>
                      </a:r>
                    </a:p>
                  </a:txBody>
                  <a:tcPr>
                    <a:solidFill>
                      <a:srgbClr val="FFFFFF"/>
                    </a:solidFill>
                  </a:tcPr>
                </a:tc>
                <a:tc>
                  <a:txBody>
                    <a:bodyPr/>
                    <a:lstStyle/>
                    <a:p>
                      <a:pPr algn="ctr">
                        <a:defRPr sz="950">
                          <a:solidFill>
                            <a:srgbClr val="2B3036"/>
                          </a:solidFill>
                          <a:latin typeface="Arial"/>
                        </a:defRPr>
                      </a:pPr>
                      <a:r>
                        <a:rPr sz="1400" dirty="0">
                          <a:latin typeface="Arial"/>
                        </a:rPr>
                        <a:t>20.10</a:t>
                      </a:r>
                    </a:p>
                  </a:txBody>
                  <a:tcPr>
                    <a:solidFill>
                      <a:srgbClr val="FFFFFF"/>
                    </a:solidFill>
                  </a:tcPr>
                </a:tc>
                <a:extLst>
                  <a:ext uri="{0D108BD9-81ED-4DB2-BD59-A6C34878D82A}">
                    <a16:rowId xmlns:a16="http://schemas.microsoft.com/office/drawing/2014/main" val="10001"/>
                  </a:ext>
                </a:extLst>
              </a:tr>
              <a:tr h="829796">
                <a:tc>
                  <a:txBody>
                    <a:bodyPr/>
                    <a:lstStyle/>
                    <a:p>
                      <a:pPr algn="ctr">
                        <a:defRPr sz="950">
                          <a:solidFill>
                            <a:srgbClr val="2B3036"/>
                          </a:solidFill>
                          <a:latin typeface="Arial"/>
                        </a:defRPr>
                      </a:pPr>
                      <a:r>
                        <a:rPr sz="1400">
                          <a:latin typeface="Arial"/>
                        </a:rPr>
                        <a:t>10</a:t>
                      </a:r>
                    </a:p>
                  </a:txBody>
                  <a:tcPr>
                    <a:solidFill>
                      <a:srgbClr val="F0F4F8"/>
                    </a:solidFill>
                  </a:tcPr>
                </a:tc>
                <a:tc>
                  <a:txBody>
                    <a:bodyPr/>
                    <a:lstStyle/>
                    <a:p>
                      <a:pPr algn="ctr">
                        <a:defRPr sz="950">
                          <a:solidFill>
                            <a:srgbClr val="2B3036"/>
                          </a:solidFill>
                          <a:latin typeface="Arial"/>
                        </a:defRPr>
                      </a:pPr>
                      <a:r>
                        <a:rPr sz="1400">
                          <a:latin typeface="Arial"/>
                        </a:rPr>
                        <a:t>20.6254</a:t>
                      </a:r>
                    </a:p>
                  </a:txBody>
                  <a:tcPr>
                    <a:solidFill>
                      <a:srgbClr val="F0F4F8"/>
                    </a:solidFill>
                  </a:tcPr>
                </a:tc>
                <a:tc>
                  <a:txBody>
                    <a:bodyPr/>
                    <a:lstStyle/>
                    <a:p>
                      <a:pPr algn="ctr">
                        <a:defRPr sz="950">
                          <a:solidFill>
                            <a:srgbClr val="2B3036"/>
                          </a:solidFill>
                          <a:latin typeface="Arial"/>
                        </a:defRPr>
                      </a:pPr>
                      <a:r>
                        <a:rPr sz="1400">
                          <a:latin typeface="Arial"/>
                        </a:rPr>
                        <a:t>359511</a:t>
                      </a:r>
                    </a:p>
                  </a:txBody>
                  <a:tcPr>
                    <a:solidFill>
                      <a:srgbClr val="F0F4F8"/>
                    </a:solidFill>
                  </a:tcPr>
                </a:tc>
                <a:tc>
                  <a:txBody>
                    <a:bodyPr/>
                    <a:lstStyle/>
                    <a:p>
                      <a:pPr algn="ctr">
                        <a:defRPr sz="950">
                          <a:solidFill>
                            <a:srgbClr val="2B3036"/>
                          </a:solidFill>
                          <a:latin typeface="Arial"/>
                        </a:defRPr>
                      </a:pPr>
                      <a:r>
                        <a:rPr sz="1400">
                          <a:latin typeface="Arial"/>
                        </a:rPr>
                        <a:t>37.47</a:t>
                      </a:r>
                    </a:p>
                  </a:txBody>
                  <a:tcPr>
                    <a:solidFill>
                      <a:srgbClr val="F0F4F8"/>
                    </a:solidFill>
                  </a:tcPr>
                </a:tc>
                <a:extLst>
                  <a:ext uri="{0D108BD9-81ED-4DB2-BD59-A6C34878D82A}">
                    <a16:rowId xmlns:a16="http://schemas.microsoft.com/office/drawing/2014/main" val="10002"/>
                  </a:ext>
                </a:extLst>
              </a:tr>
              <a:tr h="829796">
                <a:tc>
                  <a:txBody>
                    <a:bodyPr/>
                    <a:lstStyle/>
                    <a:p>
                      <a:pPr algn="ctr">
                        <a:defRPr sz="950">
                          <a:solidFill>
                            <a:srgbClr val="2B3036"/>
                          </a:solidFill>
                          <a:latin typeface="Arial"/>
                        </a:defRPr>
                      </a:pPr>
                      <a:r>
                        <a:rPr sz="1400">
                          <a:latin typeface="Arial"/>
                        </a:rPr>
                        <a:t>8</a:t>
                      </a:r>
                    </a:p>
                  </a:txBody>
                  <a:tcPr>
                    <a:solidFill>
                      <a:srgbClr val="FFFFFF"/>
                    </a:solidFill>
                  </a:tcPr>
                </a:tc>
                <a:tc>
                  <a:txBody>
                    <a:bodyPr/>
                    <a:lstStyle/>
                    <a:p>
                      <a:pPr algn="ctr">
                        <a:defRPr sz="950">
                          <a:solidFill>
                            <a:srgbClr val="2B3036"/>
                          </a:solidFill>
                          <a:latin typeface="Arial"/>
                        </a:defRPr>
                      </a:pPr>
                      <a:r>
                        <a:rPr sz="1400">
                          <a:latin typeface="Arial"/>
                        </a:rPr>
                        <a:t>25.9535</a:t>
                      </a:r>
                    </a:p>
                  </a:txBody>
                  <a:tcPr>
                    <a:solidFill>
                      <a:srgbClr val="FFFFFF"/>
                    </a:solidFill>
                  </a:tcPr>
                </a:tc>
                <a:tc>
                  <a:txBody>
                    <a:bodyPr/>
                    <a:lstStyle/>
                    <a:p>
                      <a:pPr algn="ctr">
                        <a:defRPr sz="950">
                          <a:solidFill>
                            <a:srgbClr val="2B3036"/>
                          </a:solidFill>
                          <a:latin typeface="Arial"/>
                        </a:defRPr>
                      </a:pPr>
                      <a:r>
                        <a:rPr sz="1400">
                          <a:latin typeface="Arial"/>
                        </a:rPr>
                        <a:t>365373</a:t>
                      </a:r>
                    </a:p>
                  </a:txBody>
                  <a:tcPr>
                    <a:solidFill>
                      <a:srgbClr val="FFFFFF"/>
                    </a:solidFill>
                  </a:tcPr>
                </a:tc>
                <a:tc>
                  <a:txBody>
                    <a:bodyPr/>
                    <a:lstStyle/>
                    <a:p>
                      <a:pPr algn="ctr">
                        <a:defRPr sz="950">
                          <a:solidFill>
                            <a:srgbClr val="2B3036"/>
                          </a:solidFill>
                          <a:latin typeface="Arial"/>
                        </a:defRPr>
                      </a:pPr>
                      <a:r>
                        <a:rPr sz="1400">
                          <a:latin typeface="Arial"/>
                        </a:rPr>
                        <a:t>3.23</a:t>
                      </a:r>
                    </a:p>
                  </a:txBody>
                  <a:tcPr>
                    <a:solidFill>
                      <a:srgbClr val="FFFFFF"/>
                    </a:solidFill>
                  </a:tcPr>
                </a:tc>
                <a:extLst>
                  <a:ext uri="{0D108BD9-81ED-4DB2-BD59-A6C34878D82A}">
                    <a16:rowId xmlns:a16="http://schemas.microsoft.com/office/drawing/2014/main" val="10003"/>
                  </a:ext>
                </a:extLst>
              </a:tr>
              <a:tr h="829796">
                <a:tc>
                  <a:txBody>
                    <a:bodyPr/>
                    <a:lstStyle/>
                    <a:p>
                      <a:pPr algn="ctr">
                        <a:defRPr sz="950">
                          <a:solidFill>
                            <a:srgbClr val="2B3036"/>
                          </a:solidFill>
                          <a:latin typeface="Arial"/>
                        </a:defRPr>
                      </a:pPr>
                      <a:r>
                        <a:rPr sz="1400">
                          <a:latin typeface="Arial"/>
                        </a:rPr>
                        <a:t>6</a:t>
                      </a:r>
                    </a:p>
                  </a:txBody>
                  <a:tcPr>
                    <a:solidFill>
                      <a:srgbClr val="F0F4F8"/>
                    </a:solidFill>
                  </a:tcPr>
                </a:tc>
                <a:tc>
                  <a:txBody>
                    <a:bodyPr/>
                    <a:lstStyle/>
                    <a:p>
                      <a:pPr algn="ctr">
                        <a:defRPr sz="950">
                          <a:solidFill>
                            <a:srgbClr val="2B3036"/>
                          </a:solidFill>
                          <a:latin typeface="Arial"/>
                        </a:defRPr>
                      </a:pPr>
                      <a:r>
                        <a:rPr sz="1400">
                          <a:latin typeface="Arial"/>
                        </a:rPr>
                        <a:t>34.4214</a:t>
                      </a:r>
                    </a:p>
                  </a:txBody>
                  <a:tcPr>
                    <a:solidFill>
                      <a:srgbClr val="F0F4F8"/>
                    </a:solidFill>
                  </a:tcPr>
                </a:tc>
                <a:tc>
                  <a:txBody>
                    <a:bodyPr/>
                    <a:lstStyle/>
                    <a:p>
                      <a:pPr algn="ctr">
                        <a:defRPr sz="950">
                          <a:solidFill>
                            <a:srgbClr val="2B3036"/>
                          </a:solidFill>
                          <a:latin typeface="Arial"/>
                        </a:defRPr>
                      </a:pPr>
                      <a:r>
                        <a:rPr sz="1400">
                          <a:latin typeface="Arial"/>
                        </a:rPr>
                        <a:t>389591</a:t>
                      </a:r>
                    </a:p>
                  </a:txBody>
                  <a:tcPr>
                    <a:solidFill>
                      <a:srgbClr val="F0F4F8"/>
                    </a:solidFill>
                  </a:tcPr>
                </a:tc>
                <a:tc>
                  <a:txBody>
                    <a:bodyPr/>
                    <a:lstStyle/>
                    <a:p>
                      <a:pPr algn="ctr">
                        <a:defRPr sz="950">
                          <a:solidFill>
                            <a:srgbClr val="2B3036"/>
                          </a:solidFill>
                          <a:latin typeface="Arial"/>
                        </a:defRPr>
                      </a:pPr>
                      <a:r>
                        <a:rPr sz="1400" dirty="0">
                          <a:latin typeface="Arial"/>
                        </a:rPr>
                        <a:t>0.10</a:t>
                      </a:r>
                    </a:p>
                  </a:txBody>
                  <a:tcPr>
                    <a:solidFill>
                      <a:srgbClr val="F0F4F8"/>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7479792" y="1325880"/>
            <a:ext cx="3886200" cy="123444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0" name="TextBox 9"/>
          <p:cNvSpPr txBox="1"/>
          <p:nvPr/>
        </p:nvSpPr>
        <p:spPr>
          <a:xfrm>
            <a:off x="7644384" y="1417320"/>
            <a:ext cx="35570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Clock-scaling trend</a:t>
            </a:r>
          </a:p>
        </p:txBody>
      </p:sp>
      <p:sp>
        <p:nvSpPr>
          <p:cNvPr id="11" name="TextBox 10"/>
          <p:cNvSpPr txBox="1"/>
          <p:nvPr/>
        </p:nvSpPr>
        <p:spPr>
          <a:xfrm>
            <a:off x="7644384" y="1709928"/>
            <a:ext cx="3557016" cy="75895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As the period becomes smaller, the design is pushed harder. Power and area rise, while slack shrinks toward zero.</a:t>
            </a:r>
          </a:p>
        </p:txBody>
      </p:sp>
      <p:sp>
        <p:nvSpPr>
          <p:cNvPr id="12" name="Rounded Rectangle 11"/>
          <p:cNvSpPr/>
          <p:nvPr/>
        </p:nvSpPr>
        <p:spPr>
          <a:xfrm>
            <a:off x="7479792" y="2697480"/>
            <a:ext cx="3886200" cy="10515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TextBox 12"/>
          <p:cNvSpPr txBox="1"/>
          <p:nvPr/>
        </p:nvSpPr>
        <p:spPr>
          <a:xfrm>
            <a:off x="7644384" y="2788920"/>
            <a:ext cx="35570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Tightest summarized point</a:t>
            </a:r>
          </a:p>
        </p:txBody>
      </p:sp>
      <p:sp>
        <p:nvSpPr>
          <p:cNvPr id="14" name="TextBox 13"/>
          <p:cNvSpPr txBox="1"/>
          <p:nvPr/>
        </p:nvSpPr>
        <p:spPr>
          <a:xfrm>
            <a:off x="7644384" y="3081528"/>
            <a:ext cx="355701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In this summary table, 6 ns is the most aggressive flat operating point that still remains slightly positive.</a:t>
            </a:r>
          </a:p>
        </p:txBody>
      </p:sp>
      <p:sp>
        <p:nvSpPr>
          <p:cNvPr id="18" name="TextBox 17"/>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9" name="TextBox 18"/>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3: Bottom-Up Logic Synthesis Flow</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Bottom-up synthesis compiles sub-designs independently, then reuses those characterized blocks when synthesizing the top level.</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3</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58368" y="1325880"/>
            <a:ext cx="4617720" cy="3749039"/>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TextBox 8"/>
          <p:cNvSpPr txBox="1"/>
          <p:nvPr/>
        </p:nvSpPr>
        <p:spPr>
          <a:xfrm>
            <a:off x="822960" y="1417320"/>
            <a:ext cx="428853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Why bottom-up</a:t>
            </a:r>
          </a:p>
        </p:txBody>
      </p:sp>
      <p:sp>
        <p:nvSpPr>
          <p:cNvPr id="10" name="TextBox 9"/>
          <p:cNvSpPr txBox="1"/>
          <p:nvPr/>
        </p:nvSpPr>
        <p:spPr>
          <a:xfrm>
            <a:off x="822960" y="1709928"/>
            <a:ext cx="4288536" cy="3273551"/>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1" name="TextBox 10"/>
          <p:cNvSpPr txBox="1"/>
          <p:nvPr/>
        </p:nvSpPr>
        <p:spPr>
          <a:xfrm>
            <a:off x="841248" y="1709928"/>
            <a:ext cx="4297680" cy="3273551"/>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Reduce runtime and memory by compiling smaller modules first.</a:t>
            </a:r>
          </a:p>
          <a:p>
            <a:pPr>
              <a:spcAft>
                <a:spcPts val="600"/>
              </a:spcAft>
              <a:defRPr sz="1250">
                <a:solidFill>
                  <a:srgbClr val="2B3036"/>
                </a:solidFill>
                <a:latin typeface="Arial"/>
              </a:defRPr>
            </a:pPr>
            <a:r>
              <a:rPr sz="1200" b="0" i="0">
                <a:latin typeface="Arial"/>
              </a:rPr>
              <a:t>Preserve hierarchy so the design is easier to partition later.</a:t>
            </a:r>
          </a:p>
          <a:p>
            <a:pPr>
              <a:spcAft>
                <a:spcPts val="600"/>
              </a:spcAft>
              <a:defRPr sz="1250">
                <a:solidFill>
                  <a:srgbClr val="2B3036"/>
                </a:solidFill>
                <a:latin typeface="Arial"/>
              </a:defRPr>
            </a:pPr>
            <a:r>
              <a:rPr sz="1200" b="0" i="0">
                <a:latin typeface="Arial"/>
              </a:rPr>
              <a:t>Generate characterized sub-blocks that can be reused at top level.</a:t>
            </a:r>
          </a:p>
          <a:p>
            <a:pPr>
              <a:spcAft>
                <a:spcPts val="600"/>
              </a:spcAft>
              <a:defRPr sz="1250">
                <a:solidFill>
                  <a:srgbClr val="2B3036"/>
                </a:solidFill>
                <a:latin typeface="Arial"/>
              </a:defRPr>
            </a:pPr>
            <a:r>
              <a:rPr sz="1200" b="0" i="0">
                <a:latin typeface="Arial"/>
              </a:rPr>
              <a:t>Prepare a more natural handoff for hierarchical physical synthesis.</a:t>
            </a:r>
          </a:p>
        </p:txBody>
      </p:sp>
      <p:sp>
        <p:nvSpPr>
          <p:cNvPr id="12" name="Rounded Rectangle 11"/>
          <p:cNvSpPr/>
          <p:nvPr/>
        </p:nvSpPr>
        <p:spPr>
          <a:xfrm>
            <a:off x="5486400" y="1325880"/>
            <a:ext cx="5486400" cy="3749039"/>
          </a:xfrm>
          <a:prstGeom prst="roundRect">
            <a:avLst/>
          </a:prstGeom>
          <a:solidFill>
            <a:srgbClr val="1E2B34"/>
          </a:solidFill>
          <a:ln w="1905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Rounded Rectangle 12"/>
          <p:cNvSpPr/>
          <p:nvPr/>
        </p:nvSpPr>
        <p:spPr>
          <a:xfrm>
            <a:off x="5650992" y="1435608"/>
            <a:ext cx="1508760" cy="292608"/>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dc_bottomup.tcl</a:t>
            </a:r>
          </a:p>
        </p:txBody>
      </p:sp>
      <p:sp>
        <p:nvSpPr>
          <p:cNvPr id="14" name="TextBox 13"/>
          <p:cNvSpPr txBox="1"/>
          <p:nvPr/>
        </p:nvSpPr>
        <p:spPr>
          <a:xfrm>
            <a:off x="5687568" y="1828800"/>
            <a:ext cx="5084064" cy="2907791"/>
          </a:xfrm>
          <a:prstGeom prst="rect">
            <a:avLst/>
          </a:prstGeom>
          <a:noFill/>
        </p:spPr>
        <p:txBody>
          <a:bodyPr wrap="square" lIns="36576" tIns="18288" rIns="36576" bIns="18288">
            <a:noAutofit/>
          </a:bodyPr>
          <a:lstStyle/>
          <a:p>
            <a:pPr>
              <a:defRPr sz="1050">
                <a:solidFill>
                  <a:srgbClr val="E2E8F0"/>
                </a:solidFill>
                <a:latin typeface="Consolas"/>
              </a:defRPr>
            </a:pPr>
            <a:r>
              <a:rPr sz="1000" dirty="0">
                <a:latin typeface="Consolas"/>
              </a:rPr>
              <a:t>source ../syn/</a:t>
            </a:r>
            <a:r>
              <a:rPr sz="1000" dirty="0" err="1">
                <a:latin typeface="Consolas"/>
              </a:rPr>
              <a:t>synopsys_dc.setup</a:t>
            </a:r>
            <a:r>
              <a:rPr sz="1000" dirty="0">
                <a:latin typeface="Consolas"/>
              </a:rPr>
              <a:t>
proc </a:t>
            </a:r>
            <a:r>
              <a:rPr sz="1000" dirty="0" err="1">
                <a:latin typeface="Consolas"/>
              </a:rPr>
              <a:t>apply_project_constraints</a:t>
            </a:r>
            <a:r>
              <a:rPr sz="1000" dirty="0">
                <a:latin typeface="Consolas"/>
              </a:rPr>
              <a:t> {</a:t>
            </a:r>
            <a:r>
              <a:rPr sz="1000" dirty="0" err="1">
                <a:latin typeface="Consolas"/>
              </a:rPr>
              <a:t>syn_dir</a:t>
            </a:r>
            <a:r>
              <a:rPr sz="1000" dirty="0">
                <a:latin typeface="Consolas"/>
              </a:rPr>
              <a:t> </a:t>
            </a:r>
            <a:r>
              <a:rPr sz="1000" dirty="0" err="1">
                <a:latin typeface="Consolas"/>
              </a:rPr>
              <a:t>clock_period_ps</a:t>
            </a:r>
            <a:r>
              <a:rPr sz="1000" dirty="0">
                <a:latin typeface="Consolas"/>
              </a:rPr>
              <a:t>} { source ${</a:t>
            </a:r>
            <a:r>
              <a:rPr sz="1000" dirty="0" err="1">
                <a:latin typeface="Consolas"/>
              </a:rPr>
              <a:t>syn_dir</a:t>
            </a:r>
            <a:r>
              <a:rPr sz="1000" dirty="0">
                <a:latin typeface="Consolas"/>
              </a:rPr>
              <a:t>}/</a:t>
            </a:r>
            <a:r>
              <a:rPr sz="1000" dirty="0" err="1">
                <a:latin typeface="Consolas"/>
              </a:rPr>
              <a:t>constraints.sdc</a:t>
            </a:r>
            <a:r>
              <a:rPr sz="1000" dirty="0">
                <a:latin typeface="Consolas"/>
              </a:rPr>
              <a:t> ; </a:t>
            </a:r>
            <a:r>
              <a:rPr sz="1000" dirty="0" err="1">
                <a:latin typeface="Consolas"/>
              </a:rPr>
              <a:t>create_clock</a:t>
            </a:r>
            <a:r>
              <a:rPr sz="1000" dirty="0">
                <a:latin typeface="Consolas"/>
              </a:rPr>
              <a:t> -name </a:t>
            </a:r>
            <a:r>
              <a:rPr sz="1000" dirty="0" err="1">
                <a:latin typeface="Consolas"/>
              </a:rPr>
              <a:t>clk</a:t>
            </a:r>
            <a:r>
              <a:rPr sz="1000" dirty="0">
                <a:latin typeface="Consolas"/>
              </a:rPr>
              <a:t> -period $</a:t>
            </a:r>
            <a:r>
              <a:rPr sz="1000" dirty="0" err="1">
                <a:latin typeface="Consolas"/>
              </a:rPr>
              <a:t>clock_period_ps</a:t>
            </a:r>
            <a:r>
              <a:rPr sz="1000" dirty="0">
                <a:latin typeface="Consolas"/>
              </a:rPr>
              <a:t> ... }
set TOP_NAME </a:t>
            </a:r>
            <a:r>
              <a:rPr sz="1000" dirty="0" err="1">
                <a:latin typeface="Consolas"/>
              </a:rPr>
              <a:t>drra_wrapper</a:t>
            </a:r>
            <a:r>
              <a:rPr sz="1000" dirty="0">
                <a:latin typeface="Consolas"/>
              </a:rPr>
              <a:t>
# compile shared lower blocks first
analyze -format </a:t>
            </a:r>
            <a:r>
              <a:rPr sz="1000" dirty="0" err="1">
                <a:latin typeface="Consolas"/>
              </a:rPr>
              <a:t>vhdl</a:t>
            </a:r>
            <a:r>
              <a:rPr sz="1000" dirty="0">
                <a:latin typeface="Consolas"/>
              </a:rPr>
              <a:t> -lib WORK "../</a:t>
            </a:r>
            <a:r>
              <a:rPr sz="1000" dirty="0" err="1">
                <a:latin typeface="Consolas"/>
              </a:rPr>
              <a:t>rtl</a:t>
            </a:r>
            <a:r>
              <a:rPr sz="1000" dirty="0">
                <a:latin typeface="Consolas"/>
              </a:rPr>
              <a:t>/</a:t>
            </a:r>
            <a:r>
              <a:rPr sz="1000" dirty="0" err="1">
                <a:latin typeface="Consolas"/>
              </a:rPr>
              <a:t>mtrf</a:t>
            </a:r>
            <a:r>
              <a:rPr sz="1000" dirty="0">
                <a:latin typeface="Consolas"/>
              </a:rPr>
              <a:t>/DPU/</a:t>
            </a:r>
            <a:r>
              <a:rPr sz="1000" dirty="0" err="1">
                <a:latin typeface="Consolas"/>
              </a:rPr>
              <a:t>divider_pipe.vhd</a:t>
            </a:r>
            <a:r>
              <a:rPr sz="1000" dirty="0">
                <a:latin typeface="Consolas"/>
              </a:rPr>
              <a:t>"
elaborate </a:t>
            </a:r>
            <a:r>
              <a:rPr sz="1000" dirty="0" err="1">
                <a:latin typeface="Consolas"/>
              </a:rPr>
              <a:t>divider_pipe</a:t>
            </a:r>
            <a:r>
              <a:rPr sz="1000" dirty="0">
                <a:latin typeface="Consolas"/>
              </a:rPr>
              <a:t> ; link ; </a:t>
            </a:r>
            <a:r>
              <a:rPr sz="1000" dirty="0" err="1">
                <a:latin typeface="Consolas"/>
              </a:rPr>
              <a:t>apply_project_constraints</a:t>
            </a:r>
            <a:r>
              <a:rPr sz="1000" dirty="0">
                <a:latin typeface="Consolas"/>
              </a:rPr>
              <a:t> ${SYN_DIR} ${CLOCK_PERIOD_PS} ; compile
set </a:t>
            </a:r>
            <a:r>
              <a:rPr sz="1000" dirty="0" err="1">
                <a:latin typeface="Consolas"/>
              </a:rPr>
              <a:t>hierarchy_files</a:t>
            </a:r>
            <a:r>
              <a:rPr sz="1000" dirty="0">
                <a:latin typeface="Consolas"/>
              </a:rPr>
              <a:t> [split [read [open ../</a:t>
            </a:r>
            <a:r>
              <a:rPr sz="1000" dirty="0" err="1">
                <a:latin typeface="Consolas"/>
              </a:rPr>
              <a:t>rtl</a:t>
            </a:r>
            <a:r>
              <a:rPr sz="1000" dirty="0">
                <a:latin typeface="Consolas"/>
              </a:rPr>
              <a:t>/silego_hierarchy.txt r]] "\n"]
foreach filename [</a:t>
            </a:r>
            <a:r>
              <a:rPr sz="1000" dirty="0" err="1">
                <a:latin typeface="Consolas"/>
              </a:rPr>
              <a:t>lrange</a:t>
            </a:r>
            <a:r>
              <a:rPr sz="1000" dirty="0">
                <a:latin typeface="Consolas"/>
              </a:rPr>
              <a:t> $</a:t>
            </a:r>
            <a:r>
              <a:rPr sz="1000" dirty="0" err="1">
                <a:latin typeface="Consolas"/>
              </a:rPr>
              <a:t>hierarchy_files</a:t>
            </a:r>
            <a:r>
              <a:rPr sz="1000" dirty="0">
                <a:latin typeface="Consolas"/>
              </a:rPr>
              <a:t> 0 end-1] { if {$filename != ""} { analyze -format </a:t>
            </a:r>
            <a:r>
              <a:rPr sz="1000" dirty="0" err="1">
                <a:latin typeface="Consolas"/>
              </a:rPr>
              <a:t>vhdl</a:t>
            </a:r>
            <a:r>
              <a:rPr sz="1000" dirty="0">
                <a:latin typeface="Consolas"/>
              </a:rPr>
              <a:t> -lib WORK "../</a:t>
            </a:r>
            <a:r>
              <a:rPr sz="1000" dirty="0" err="1">
                <a:latin typeface="Consolas"/>
              </a:rPr>
              <a:t>rtl</a:t>
            </a:r>
            <a:r>
              <a:rPr sz="1000" dirty="0">
                <a:latin typeface="Consolas"/>
              </a:rPr>
              <a:t>/${filename}" } }
elaborate </a:t>
            </a:r>
            <a:r>
              <a:rPr sz="1000" dirty="0" err="1">
                <a:latin typeface="Consolas"/>
              </a:rPr>
              <a:t>silego</a:t>
            </a:r>
            <a:r>
              <a:rPr sz="1000" dirty="0">
                <a:latin typeface="Consolas"/>
              </a:rPr>
              <a:t> ; </a:t>
            </a:r>
            <a:r>
              <a:rPr sz="1000" dirty="0" err="1">
                <a:latin typeface="Consolas"/>
              </a:rPr>
              <a:t>dont_touch</a:t>
            </a:r>
            <a:r>
              <a:rPr sz="1000" dirty="0">
                <a:latin typeface="Consolas"/>
              </a:rPr>
              <a:t> </a:t>
            </a:r>
            <a:r>
              <a:rPr sz="1000" dirty="0" err="1">
                <a:latin typeface="Consolas"/>
              </a:rPr>
              <a:t>divider_pipe</a:t>
            </a:r>
            <a:r>
              <a:rPr sz="1000" dirty="0">
                <a:latin typeface="Consolas"/>
              </a:rPr>
              <a:t> true ; compile
foreach tile {</a:t>
            </a:r>
            <a:r>
              <a:rPr sz="1000" dirty="0" err="1">
                <a:latin typeface="Consolas"/>
              </a:rPr>
              <a:t>Silago_top</a:t>
            </a:r>
            <a:r>
              <a:rPr sz="1000" dirty="0">
                <a:latin typeface="Consolas"/>
              </a:rPr>
              <a:t> </a:t>
            </a:r>
            <a:r>
              <a:rPr sz="1000" dirty="0" err="1">
                <a:latin typeface="Consolas"/>
              </a:rPr>
              <a:t>Silago_bot</a:t>
            </a:r>
            <a:r>
              <a:rPr sz="1000" dirty="0">
                <a:latin typeface="Consolas"/>
              </a:rPr>
              <a:t> ...} { analyze/elaborate/link/</a:t>
            </a:r>
            <a:r>
              <a:rPr sz="1000" dirty="0" err="1">
                <a:latin typeface="Consolas"/>
              </a:rPr>
              <a:t>apply_constraints</a:t>
            </a:r>
            <a:r>
              <a:rPr sz="1000" dirty="0">
                <a:latin typeface="Consolas"/>
              </a:rPr>
              <a:t>/compile }
analyze -format </a:t>
            </a:r>
            <a:r>
              <a:rPr sz="1000" dirty="0" err="1">
                <a:latin typeface="Consolas"/>
              </a:rPr>
              <a:t>vhdl</a:t>
            </a:r>
            <a:r>
              <a:rPr sz="1000" dirty="0">
                <a:latin typeface="Consolas"/>
              </a:rPr>
              <a:t> -lib WORK "../</a:t>
            </a:r>
            <a:r>
              <a:rPr sz="1000" dirty="0" err="1">
                <a:latin typeface="Consolas"/>
              </a:rPr>
              <a:t>rtl</a:t>
            </a:r>
            <a:r>
              <a:rPr sz="1000" dirty="0">
                <a:latin typeface="Consolas"/>
              </a:rPr>
              <a:t>/</a:t>
            </a:r>
            <a:r>
              <a:rPr sz="1000" dirty="0" err="1">
                <a:latin typeface="Consolas"/>
              </a:rPr>
              <a:t>mtrf</a:t>
            </a:r>
            <a:r>
              <a:rPr sz="1000" dirty="0">
                <a:latin typeface="Consolas"/>
              </a:rPr>
              <a:t>/</a:t>
            </a:r>
            <a:r>
              <a:rPr sz="1000" dirty="0" err="1">
                <a:latin typeface="Consolas"/>
              </a:rPr>
              <a:t>drra_wrapper.vhd</a:t>
            </a:r>
            <a:r>
              <a:rPr sz="1000" dirty="0">
                <a:latin typeface="Consolas"/>
              </a:rPr>
              <a:t>"
elaborate </a:t>
            </a:r>
            <a:r>
              <a:rPr sz="1000" dirty="0" err="1">
                <a:latin typeface="Consolas"/>
              </a:rPr>
              <a:t>drra_wrapper</a:t>
            </a:r>
            <a:r>
              <a:rPr sz="1000" dirty="0">
                <a:latin typeface="Consolas"/>
              </a:rPr>
              <a:t> ; </a:t>
            </a:r>
            <a:r>
              <a:rPr sz="1000" dirty="0" err="1">
                <a:latin typeface="Consolas"/>
              </a:rPr>
              <a:t>dont_touch</a:t>
            </a:r>
            <a:r>
              <a:rPr sz="1000" dirty="0">
                <a:latin typeface="Consolas"/>
              </a:rPr>
              <a:t> {</a:t>
            </a:r>
            <a:r>
              <a:rPr sz="1000" dirty="0" err="1">
                <a:latin typeface="Consolas"/>
              </a:rPr>
              <a:t>divider_pipe</a:t>
            </a:r>
            <a:r>
              <a:rPr sz="1000" dirty="0">
                <a:latin typeface="Consolas"/>
              </a:rPr>
              <a:t> </a:t>
            </a:r>
            <a:r>
              <a:rPr sz="1000" dirty="0" err="1">
                <a:latin typeface="Consolas"/>
              </a:rPr>
              <a:t>silego</a:t>
            </a:r>
            <a:r>
              <a:rPr sz="1000" dirty="0">
                <a:latin typeface="Consolas"/>
              </a:rPr>
              <a:t> ...} true ; compile
</a:t>
            </a:r>
            <a:r>
              <a:rPr sz="1000" dirty="0" err="1">
                <a:latin typeface="Consolas"/>
              </a:rPr>
              <a:t>write_file</a:t>
            </a:r>
            <a:r>
              <a:rPr sz="1000" dirty="0">
                <a:latin typeface="Consolas"/>
              </a:rPr>
              <a:t> -format </a:t>
            </a:r>
            <a:r>
              <a:rPr sz="1000" dirty="0" err="1">
                <a:latin typeface="Consolas"/>
              </a:rPr>
              <a:t>ddc</a:t>
            </a:r>
            <a:r>
              <a:rPr sz="1000" dirty="0">
                <a:latin typeface="Consolas"/>
              </a:rPr>
              <a:t> ... ; </a:t>
            </a:r>
            <a:r>
              <a:rPr sz="1000" dirty="0" err="1">
                <a:latin typeface="Consolas"/>
              </a:rPr>
              <a:t>write_file</a:t>
            </a:r>
            <a:r>
              <a:rPr sz="1000" dirty="0">
                <a:latin typeface="Consolas"/>
              </a:rPr>
              <a:t> -format </a:t>
            </a:r>
            <a:r>
              <a:rPr sz="1000" dirty="0" err="1">
                <a:latin typeface="Consolas"/>
              </a:rPr>
              <a:t>verilog</a:t>
            </a:r>
            <a:r>
              <a:rPr sz="1000" dirty="0">
                <a:latin typeface="Consolas"/>
              </a:rPr>
              <a:t> ... ; </a:t>
            </a:r>
            <a:r>
              <a:rPr sz="1000" dirty="0" err="1">
                <a:latin typeface="Consolas"/>
              </a:rPr>
              <a:t>write_sdc</a:t>
            </a:r>
            <a:r>
              <a:rPr sz="1000" dirty="0">
                <a:latin typeface="Consolas"/>
              </a:rPr>
              <a:t> ... ; </a:t>
            </a:r>
            <a:r>
              <a:rPr sz="1000" dirty="0" err="1">
                <a:latin typeface="Consolas"/>
              </a:rPr>
              <a:t>write_sdf</a:t>
            </a:r>
            <a:r>
              <a:rPr sz="1000" dirty="0">
                <a:latin typeface="Consolas"/>
              </a:rPr>
              <a:t> ...</a:t>
            </a:r>
          </a:p>
        </p:txBody>
      </p:sp>
      <p:sp>
        <p:nvSpPr>
          <p:cNvPr id="15" name="TextBox 14"/>
          <p:cNvSpPr txBox="1"/>
          <p:nvPr/>
        </p:nvSpPr>
        <p:spPr>
          <a:xfrm>
            <a:off x="5650992" y="5100633"/>
            <a:ext cx="5084064" cy="146304"/>
          </a:xfrm>
          <a:prstGeom prst="rect">
            <a:avLst/>
          </a:prstGeom>
          <a:noFill/>
        </p:spPr>
        <p:txBody>
          <a:bodyPr wrap="square" lIns="36576" tIns="18288" rIns="36576" bIns="18288">
            <a:noAutofit/>
          </a:bodyPr>
          <a:lstStyle/>
          <a:p>
            <a:pPr>
              <a:defRPr sz="850">
                <a:solidFill>
                  <a:srgbClr val="94A3B8"/>
                </a:solidFill>
                <a:latin typeface="Arial"/>
              </a:defRPr>
            </a:pPr>
            <a:r>
              <a:rPr sz="800" b="0" i="0" dirty="0">
                <a:latin typeface="Arial"/>
              </a:rPr>
              <a:t>Source: main/syn/</a:t>
            </a:r>
            <a:r>
              <a:rPr sz="800" b="0" i="0" dirty="0" err="1">
                <a:latin typeface="Arial"/>
              </a:rPr>
              <a:t>scr</a:t>
            </a:r>
            <a:r>
              <a:rPr sz="800" b="0" i="0" dirty="0">
                <a:latin typeface="Arial"/>
              </a:rPr>
              <a:t>/</a:t>
            </a:r>
            <a:r>
              <a:rPr sz="800" b="0" i="0" dirty="0" err="1">
                <a:latin typeface="Arial"/>
              </a:rPr>
              <a:t>dc_bottomup.tcl</a:t>
            </a:r>
            <a:endParaRPr sz="800" b="0" i="0" dirty="0">
              <a:latin typeface="Arial"/>
            </a:endParaRPr>
          </a:p>
        </p:txBody>
      </p:sp>
      <p:sp>
        <p:nvSpPr>
          <p:cNvPr id="16" name="Rounded Rectangle 15"/>
          <p:cNvSpPr/>
          <p:nvPr/>
        </p:nvSpPr>
        <p:spPr>
          <a:xfrm>
            <a:off x="841248" y="5349240"/>
            <a:ext cx="10287000" cy="749808"/>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7" name="TextBox 16"/>
          <p:cNvSpPr txBox="1"/>
          <p:nvPr/>
        </p:nvSpPr>
        <p:spPr>
          <a:xfrm>
            <a:off x="1005840" y="5440680"/>
            <a:ext cx="99578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Hierarchical relevance</a:t>
            </a:r>
          </a:p>
        </p:txBody>
      </p:sp>
      <p:sp>
        <p:nvSpPr>
          <p:cNvPr id="18" name="TextBox 17"/>
          <p:cNvSpPr txBox="1"/>
          <p:nvPr/>
        </p:nvSpPr>
        <p:spPr>
          <a:xfrm>
            <a:off x="1005840" y="5733288"/>
            <a:ext cx="9957816" cy="274320"/>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This logic-synthesis flow preserves the hierarchy that is later reused in Task 5 floorplanning and Task 6 hierarchical physical implementation.</a:t>
            </a:r>
          </a:p>
        </p:txBody>
      </p:sp>
      <p:sp>
        <p:nvSpPr>
          <p:cNvPr id="19" name="TextBox 18"/>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0" name="TextBox 19"/>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3: Bottom-Up Synthesis PPA Summary</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This bottom-up summary captures the same clock-scaling trend while preserving the hierarchy-oriented synthesis story.</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3</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1917626807"/>
              </p:ext>
            </p:extLst>
          </p:nvPr>
        </p:nvGraphicFramePr>
        <p:xfrm>
          <a:off x="345385" y="1302928"/>
          <a:ext cx="6932994" cy="4099150"/>
        </p:xfrm>
        <a:graphic>
          <a:graphicData uri="http://schemas.openxmlformats.org/drawingml/2006/table">
            <a:tbl>
              <a:tblPr firstRow="1" bandRow="1">
                <a:tableStyleId>{5C22544A-7EE6-4342-B048-85BDC9FD1C3A}</a:tableStyleId>
              </a:tblPr>
              <a:tblGrid>
                <a:gridCol w="1721754">
                  <a:extLst>
                    <a:ext uri="{9D8B030D-6E8A-4147-A177-3AD203B41FA5}">
                      <a16:colId xmlns:a16="http://schemas.microsoft.com/office/drawing/2014/main" val="20000"/>
                    </a:ext>
                  </a:extLst>
                </a:gridCol>
                <a:gridCol w="1721754">
                  <a:extLst>
                    <a:ext uri="{9D8B030D-6E8A-4147-A177-3AD203B41FA5}">
                      <a16:colId xmlns:a16="http://schemas.microsoft.com/office/drawing/2014/main" val="20001"/>
                    </a:ext>
                  </a:extLst>
                </a:gridCol>
                <a:gridCol w="1721754">
                  <a:extLst>
                    <a:ext uri="{9D8B030D-6E8A-4147-A177-3AD203B41FA5}">
                      <a16:colId xmlns:a16="http://schemas.microsoft.com/office/drawing/2014/main" val="20002"/>
                    </a:ext>
                  </a:extLst>
                </a:gridCol>
                <a:gridCol w="1767732">
                  <a:extLst>
                    <a:ext uri="{9D8B030D-6E8A-4147-A177-3AD203B41FA5}">
                      <a16:colId xmlns:a16="http://schemas.microsoft.com/office/drawing/2014/main" val="20003"/>
                    </a:ext>
                  </a:extLst>
                </a:gridCol>
              </a:tblGrid>
              <a:tr h="819830">
                <a:tc>
                  <a:txBody>
                    <a:bodyPr/>
                    <a:lstStyle/>
                    <a:p>
                      <a:pPr algn="ctr">
                        <a:defRPr sz="1000" b="1">
                          <a:solidFill>
                            <a:srgbClr val="FFFFFF"/>
                          </a:solidFill>
                          <a:latin typeface="Arial"/>
                        </a:defRPr>
                      </a:pPr>
                      <a:r>
                        <a:rPr sz="1400">
                          <a:latin typeface="Arial"/>
                        </a:rPr>
                        <a:t>Clock Period (ns)</a:t>
                      </a:r>
                    </a:p>
                  </a:txBody>
                  <a:tcPr>
                    <a:solidFill>
                      <a:srgbClr val="C9633E"/>
                    </a:solidFill>
                  </a:tcPr>
                </a:tc>
                <a:tc>
                  <a:txBody>
                    <a:bodyPr/>
                    <a:lstStyle/>
                    <a:p>
                      <a:pPr algn="ctr">
                        <a:defRPr sz="1000" b="1">
                          <a:solidFill>
                            <a:srgbClr val="FFFFFF"/>
                          </a:solidFill>
                          <a:latin typeface="Arial"/>
                        </a:defRPr>
                      </a:pPr>
                      <a:r>
                        <a:rPr sz="1400">
                          <a:latin typeface="Arial"/>
                        </a:rPr>
                        <a:t>Total Power (mW)</a:t>
                      </a:r>
                    </a:p>
                  </a:txBody>
                  <a:tcPr>
                    <a:solidFill>
                      <a:srgbClr val="C9633E"/>
                    </a:solidFill>
                  </a:tcPr>
                </a:tc>
                <a:tc>
                  <a:txBody>
                    <a:bodyPr/>
                    <a:lstStyle/>
                    <a:p>
                      <a:pPr algn="ctr">
                        <a:defRPr sz="1000" b="1">
                          <a:solidFill>
                            <a:srgbClr val="FFFFFF"/>
                          </a:solidFill>
                          <a:latin typeface="Arial"/>
                        </a:defRPr>
                      </a:pPr>
                      <a:r>
                        <a:rPr sz="1400">
                          <a:latin typeface="Arial"/>
                        </a:rPr>
                        <a:t>Total Cell Area (um^2)</a:t>
                      </a:r>
                    </a:p>
                  </a:txBody>
                  <a:tcPr>
                    <a:solidFill>
                      <a:srgbClr val="C9633E"/>
                    </a:solidFill>
                  </a:tcPr>
                </a:tc>
                <a:tc>
                  <a:txBody>
                    <a:bodyPr/>
                    <a:lstStyle/>
                    <a:p>
                      <a:pPr algn="ctr">
                        <a:defRPr sz="1000" b="1">
                          <a:solidFill>
                            <a:srgbClr val="FFFFFF"/>
                          </a:solidFill>
                          <a:latin typeface="Arial"/>
                        </a:defRPr>
                      </a:pPr>
                      <a:r>
                        <a:rPr sz="1400">
                          <a:latin typeface="Arial"/>
                        </a:rPr>
                        <a:t>Slack (ps)</a:t>
                      </a:r>
                    </a:p>
                  </a:txBody>
                  <a:tcPr>
                    <a:solidFill>
                      <a:srgbClr val="C9633E"/>
                    </a:solidFill>
                  </a:tcPr>
                </a:tc>
                <a:extLst>
                  <a:ext uri="{0D108BD9-81ED-4DB2-BD59-A6C34878D82A}">
                    <a16:rowId xmlns:a16="http://schemas.microsoft.com/office/drawing/2014/main" val="10000"/>
                  </a:ext>
                </a:extLst>
              </a:tr>
              <a:tr h="819830">
                <a:tc>
                  <a:txBody>
                    <a:bodyPr/>
                    <a:lstStyle/>
                    <a:p>
                      <a:pPr algn="ctr">
                        <a:defRPr sz="950">
                          <a:solidFill>
                            <a:srgbClr val="2B3036"/>
                          </a:solidFill>
                          <a:latin typeface="Arial"/>
                        </a:defRPr>
                      </a:pPr>
                      <a:r>
                        <a:rPr sz="1400">
                          <a:latin typeface="Arial"/>
                        </a:rPr>
                        <a:t>20</a:t>
                      </a:r>
                    </a:p>
                  </a:txBody>
                  <a:tcPr>
                    <a:solidFill>
                      <a:srgbClr val="FFFFFF"/>
                    </a:solidFill>
                  </a:tcPr>
                </a:tc>
                <a:tc>
                  <a:txBody>
                    <a:bodyPr/>
                    <a:lstStyle/>
                    <a:p>
                      <a:pPr algn="ctr">
                        <a:defRPr sz="950">
                          <a:solidFill>
                            <a:srgbClr val="2B3036"/>
                          </a:solidFill>
                          <a:latin typeface="Arial"/>
                        </a:defRPr>
                      </a:pPr>
                      <a:r>
                        <a:rPr sz="1400">
                          <a:latin typeface="Arial"/>
                        </a:rPr>
                        <a:t>10.4048</a:t>
                      </a:r>
                    </a:p>
                  </a:txBody>
                  <a:tcPr>
                    <a:solidFill>
                      <a:srgbClr val="FFFFFF"/>
                    </a:solidFill>
                  </a:tcPr>
                </a:tc>
                <a:tc>
                  <a:txBody>
                    <a:bodyPr/>
                    <a:lstStyle/>
                    <a:p>
                      <a:pPr algn="ctr">
                        <a:defRPr sz="950">
                          <a:solidFill>
                            <a:srgbClr val="2B3036"/>
                          </a:solidFill>
                          <a:latin typeface="Arial"/>
                        </a:defRPr>
                      </a:pPr>
                      <a:r>
                        <a:rPr sz="1400">
                          <a:latin typeface="Arial"/>
                        </a:rPr>
                        <a:t>363814</a:t>
                      </a:r>
                    </a:p>
                  </a:txBody>
                  <a:tcPr>
                    <a:solidFill>
                      <a:srgbClr val="FFFFFF"/>
                    </a:solidFill>
                  </a:tcPr>
                </a:tc>
                <a:tc>
                  <a:txBody>
                    <a:bodyPr/>
                    <a:lstStyle/>
                    <a:p>
                      <a:pPr algn="ctr">
                        <a:defRPr sz="950">
                          <a:solidFill>
                            <a:srgbClr val="2B3036"/>
                          </a:solidFill>
                          <a:latin typeface="Arial"/>
                        </a:defRPr>
                      </a:pPr>
                      <a:r>
                        <a:rPr sz="1400">
                          <a:latin typeface="Arial"/>
                        </a:rPr>
                        <a:t>9.22</a:t>
                      </a:r>
                    </a:p>
                  </a:txBody>
                  <a:tcPr>
                    <a:solidFill>
                      <a:srgbClr val="FFFFFF"/>
                    </a:solidFill>
                  </a:tcPr>
                </a:tc>
                <a:extLst>
                  <a:ext uri="{0D108BD9-81ED-4DB2-BD59-A6C34878D82A}">
                    <a16:rowId xmlns:a16="http://schemas.microsoft.com/office/drawing/2014/main" val="10001"/>
                  </a:ext>
                </a:extLst>
              </a:tr>
              <a:tr h="819830">
                <a:tc>
                  <a:txBody>
                    <a:bodyPr/>
                    <a:lstStyle/>
                    <a:p>
                      <a:pPr algn="ctr">
                        <a:defRPr sz="950">
                          <a:solidFill>
                            <a:srgbClr val="2B3036"/>
                          </a:solidFill>
                          <a:latin typeface="Arial"/>
                        </a:defRPr>
                      </a:pPr>
                      <a:r>
                        <a:rPr sz="1400">
                          <a:latin typeface="Arial"/>
                        </a:rPr>
                        <a:t>10</a:t>
                      </a:r>
                    </a:p>
                  </a:txBody>
                  <a:tcPr>
                    <a:solidFill>
                      <a:srgbClr val="F0F4F8"/>
                    </a:solidFill>
                  </a:tcPr>
                </a:tc>
                <a:tc>
                  <a:txBody>
                    <a:bodyPr/>
                    <a:lstStyle/>
                    <a:p>
                      <a:pPr algn="ctr">
                        <a:defRPr sz="950">
                          <a:solidFill>
                            <a:srgbClr val="2B3036"/>
                          </a:solidFill>
                          <a:latin typeface="Arial"/>
                        </a:defRPr>
                      </a:pPr>
                      <a:r>
                        <a:rPr sz="1400">
                          <a:latin typeface="Arial"/>
                        </a:rPr>
                        <a:t>20.6061</a:t>
                      </a:r>
                    </a:p>
                  </a:txBody>
                  <a:tcPr>
                    <a:solidFill>
                      <a:srgbClr val="F0F4F8"/>
                    </a:solidFill>
                  </a:tcPr>
                </a:tc>
                <a:tc>
                  <a:txBody>
                    <a:bodyPr/>
                    <a:lstStyle/>
                    <a:p>
                      <a:pPr algn="ctr">
                        <a:defRPr sz="950">
                          <a:solidFill>
                            <a:srgbClr val="2B3036"/>
                          </a:solidFill>
                          <a:latin typeface="Arial"/>
                        </a:defRPr>
                      </a:pPr>
                      <a:r>
                        <a:rPr sz="1400">
                          <a:latin typeface="Arial"/>
                        </a:rPr>
                        <a:t>364621</a:t>
                      </a:r>
                    </a:p>
                  </a:txBody>
                  <a:tcPr>
                    <a:solidFill>
                      <a:srgbClr val="F0F4F8"/>
                    </a:solidFill>
                  </a:tcPr>
                </a:tc>
                <a:tc>
                  <a:txBody>
                    <a:bodyPr/>
                    <a:lstStyle/>
                    <a:p>
                      <a:pPr algn="ctr">
                        <a:defRPr sz="950">
                          <a:solidFill>
                            <a:srgbClr val="2B3036"/>
                          </a:solidFill>
                          <a:latin typeface="Arial"/>
                        </a:defRPr>
                      </a:pPr>
                      <a:r>
                        <a:rPr sz="1400">
                          <a:latin typeface="Arial"/>
                        </a:rPr>
                        <a:t>8.61</a:t>
                      </a:r>
                    </a:p>
                  </a:txBody>
                  <a:tcPr>
                    <a:solidFill>
                      <a:srgbClr val="F0F4F8"/>
                    </a:solidFill>
                  </a:tcPr>
                </a:tc>
                <a:extLst>
                  <a:ext uri="{0D108BD9-81ED-4DB2-BD59-A6C34878D82A}">
                    <a16:rowId xmlns:a16="http://schemas.microsoft.com/office/drawing/2014/main" val="10002"/>
                  </a:ext>
                </a:extLst>
              </a:tr>
              <a:tr h="819830">
                <a:tc>
                  <a:txBody>
                    <a:bodyPr/>
                    <a:lstStyle/>
                    <a:p>
                      <a:pPr algn="ctr">
                        <a:defRPr sz="950">
                          <a:solidFill>
                            <a:srgbClr val="2B3036"/>
                          </a:solidFill>
                          <a:latin typeface="Arial"/>
                        </a:defRPr>
                      </a:pPr>
                      <a:r>
                        <a:rPr sz="1400">
                          <a:latin typeface="Arial"/>
                        </a:rPr>
                        <a:t>8</a:t>
                      </a:r>
                    </a:p>
                  </a:txBody>
                  <a:tcPr>
                    <a:solidFill>
                      <a:srgbClr val="FFFFFF"/>
                    </a:solidFill>
                  </a:tcPr>
                </a:tc>
                <a:tc>
                  <a:txBody>
                    <a:bodyPr/>
                    <a:lstStyle/>
                    <a:p>
                      <a:pPr algn="ctr">
                        <a:defRPr sz="950">
                          <a:solidFill>
                            <a:srgbClr val="2B3036"/>
                          </a:solidFill>
                          <a:latin typeface="Arial"/>
                        </a:defRPr>
                      </a:pPr>
                      <a:r>
                        <a:rPr sz="1400">
                          <a:latin typeface="Arial"/>
                        </a:rPr>
                        <a:t>26.8799</a:t>
                      </a:r>
                    </a:p>
                  </a:txBody>
                  <a:tcPr>
                    <a:solidFill>
                      <a:srgbClr val="FFFFFF"/>
                    </a:solidFill>
                  </a:tcPr>
                </a:tc>
                <a:tc>
                  <a:txBody>
                    <a:bodyPr/>
                    <a:lstStyle/>
                    <a:p>
                      <a:pPr algn="ctr">
                        <a:defRPr sz="950">
                          <a:solidFill>
                            <a:srgbClr val="2B3036"/>
                          </a:solidFill>
                          <a:latin typeface="Arial"/>
                        </a:defRPr>
                      </a:pPr>
                      <a:r>
                        <a:rPr sz="1400">
                          <a:latin typeface="Arial"/>
                        </a:rPr>
                        <a:t>392192</a:t>
                      </a:r>
                    </a:p>
                  </a:txBody>
                  <a:tcPr>
                    <a:solidFill>
                      <a:srgbClr val="FFFFFF"/>
                    </a:solidFill>
                  </a:tcPr>
                </a:tc>
                <a:tc>
                  <a:txBody>
                    <a:bodyPr/>
                    <a:lstStyle/>
                    <a:p>
                      <a:pPr algn="ctr">
                        <a:defRPr sz="950">
                          <a:solidFill>
                            <a:srgbClr val="2B3036"/>
                          </a:solidFill>
                          <a:latin typeface="Arial"/>
                        </a:defRPr>
                      </a:pPr>
                      <a:r>
                        <a:rPr sz="1400" dirty="0">
                          <a:latin typeface="Arial"/>
                        </a:rPr>
                        <a:t>0.12</a:t>
                      </a:r>
                    </a:p>
                  </a:txBody>
                  <a:tcPr>
                    <a:solidFill>
                      <a:srgbClr val="FFFFFF"/>
                    </a:solidFill>
                  </a:tcPr>
                </a:tc>
                <a:extLst>
                  <a:ext uri="{0D108BD9-81ED-4DB2-BD59-A6C34878D82A}">
                    <a16:rowId xmlns:a16="http://schemas.microsoft.com/office/drawing/2014/main" val="10003"/>
                  </a:ext>
                </a:extLst>
              </a:tr>
              <a:tr h="819830">
                <a:tc>
                  <a:txBody>
                    <a:bodyPr/>
                    <a:lstStyle/>
                    <a:p>
                      <a:pPr algn="ctr">
                        <a:defRPr sz="950">
                          <a:solidFill>
                            <a:srgbClr val="2B3036"/>
                          </a:solidFill>
                          <a:latin typeface="Arial"/>
                        </a:defRPr>
                      </a:pPr>
                      <a:r>
                        <a:rPr sz="1400">
                          <a:latin typeface="Arial"/>
                        </a:rPr>
                        <a:t>6</a:t>
                      </a:r>
                    </a:p>
                  </a:txBody>
                  <a:tcPr>
                    <a:solidFill>
                      <a:srgbClr val="F0F4F8"/>
                    </a:solidFill>
                  </a:tcPr>
                </a:tc>
                <a:tc>
                  <a:txBody>
                    <a:bodyPr/>
                    <a:lstStyle/>
                    <a:p>
                      <a:pPr algn="ctr">
                        <a:defRPr sz="950">
                          <a:solidFill>
                            <a:srgbClr val="2B3036"/>
                          </a:solidFill>
                          <a:latin typeface="Arial"/>
                        </a:defRPr>
                      </a:pPr>
                      <a:r>
                        <a:rPr sz="1400">
                          <a:latin typeface="Arial"/>
                        </a:rPr>
                        <a:t>35.3253</a:t>
                      </a:r>
                    </a:p>
                  </a:txBody>
                  <a:tcPr>
                    <a:solidFill>
                      <a:srgbClr val="F0F4F8"/>
                    </a:solidFill>
                  </a:tcPr>
                </a:tc>
                <a:tc>
                  <a:txBody>
                    <a:bodyPr/>
                    <a:lstStyle/>
                    <a:p>
                      <a:pPr algn="ctr">
                        <a:defRPr sz="950">
                          <a:solidFill>
                            <a:srgbClr val="2B3036"/>
                          </a:solidFill>
                          <a:latin typeface="Arial"/>
                        </a:defRPr>
                      </a:pPr>
                      <a:r>
                        <a:rPr sz="1400">
                          <a:latin typeface="Arial"/>
                        </a:rPr>
                        <a:t>394994</a:t>
                      </a:r>
                    </a:p>
                  </a:txBody>
                  <a:tcPr>
                    <a:solidFill>
                      <a:srgbClr val="F0F4F8"/>
                    </a:solidFill>
                  </a:tcPr>
                </a:tc>
                <a:tc>
                  <a:txBody>
                    <a:bodyPr/>
                    <a:lstStyle/>
                    <a:p>
                      <a:pPr algn="ctr">
                        <a:defRPr sz="950">
                          <a:solidFill>
                            <a:srgbClr val="2B3036"/>
                          </a:solidFill>
                          <a:latin typeface="Arial"/>
                        </a:defRPr>
                      </a:pPr>
                      <a:r>
                        <a:rPr sz="1400" dirty="0">
                          <a:latin typeface="Arial"/>
                        </a:rPr>
                        <a:t>-209.41</a:t>
                      </a:r>
                    </a:p>
                  </a:txBody>
                  <a:tcPr>
                    <a:solidFill>
                      <a:srgbClr val="F0F4F8"/>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7479792" y="1325880"/>
            <a:ext cx="3886200" cy="114300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0" name="TextBox 9"/>
          <p:cNvSpPr txBox="1"/>
          <p:nvPr/>
        </p:nvSpPr>
        <p:spPr>
          <a:xfrm>
            <a:off x="7644384" y="1417320"/>
            <a:ext cx="35570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Timing behavior</a:t>
            </a:r>
          </a:p>
        </p:txBody>
      </p:sp>
      <p:sp>
        <p:nvSpPr>
          <p:cNvPr id="11" name="TextBox 10"/>
          <p:cNvSpPr txBox="1"/>
          <p:nvPr/>
        </p:nvSpPr>
        <p:spPr>
          <a:xfrm>
            <a:off x="7644384" y="1709928"/>
            <a:ext cx="3557016" cy="66751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The slack trend remains the clearest result: 20 ns and 10 ns are safe, 8 ns is near the limit, and 6 ns violates timing.</a:t>
            </a:r>
          </a:p>
        </p:txBody>
      </p:sp>
      <p:sp>
        <p:nvSpPr>
          <p:cNvPr id="12" name="Rounded Rectangle 11"/>
          <p:cNvSpPr/>
          <p:nvPr/>
        </p:nvSpPr>
        <p:spPr>
          <a:xfrm>
            <a:off x="7479792" y="2606039"/>
            <a:ext cx="3886200" cy="1260215"/>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TextBox 12"/>
          <p:cNvSpPr txBox="1"/>
          <p:nvPr/>
        </p:nvSpPr>
        <p:spPr>
          <a:xfrm>
            <a:off x="7644384" y="2697480"/>
            <a:ext cx="35570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PPA interpretation</a:t>
            </a:r>
          </a:p>
        </p:txBody>
      </p:sp>
      <p:sp>
        <p:nvSpPr>
          <p:cNvPr id="14" name="TextBox 13"/>
          <p:cNvSpPr txBox="1"/>
          <p:nvPr/>
        </p:nvSpPr>
        <p:spPr>
          <a:xfrm>
            <a:off x="7644384" y="2990088"/>
            <a:ext cx="3557016" cy="62179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dirty="0">
                <a:latin typeface="Arial"/>
              </a:rPr>
              <a:t>Bottom-up preserves hierarchy but usually gives slightly weaker global PPA than flat synthesis because cross-boundary optimization is more limited.</a:t>
            </a:r>
          </a:p>
        </p:txBody>
      </p:sp>
      <p:sp>
        <p:nvSpPr>
          <p:cNvPr id="18" name="TextBox 17"/>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9" name="TextBox 18"/>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Flat Vs Bottom-Up Synthesis Comparison</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The trade-off is mainly between global optimization and hierarchy preservation.</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Compare</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85800" y="1417320"/>
            <a:ext cx="3520440" cy="1325880"/>
          </a:xfrm>
          <a:prstGeom prst="roundRect">
            <a:avLst/>
          </a:prstGeom>
          <a:solidFill>
            <a:srgbClr val="FFFFFF"/>
          </a:solidFill>
          <a:ln w="15240">
            <a:solidFill>
              <a:srgbClr val="1C3F35"/>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TextBox 8"/>
          <p:cNvSpPr txBox="1"/>
          <p:nvPr/>
        </p:nvSpPr>
        <p:spPr>
          <a:xfrm>
            <a:off x="850392" y="1508760"/>
            <a:ext cx="31912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Flat synthesis</a:t>
            </a:r>
          </a:p>
        </p:txBody>
      </p:sp>
      <p:sp>
        <p:nvSpPr>
          <p:cNvPr id="10" name="TextBox 9"/>
          <p:cNvSpPr txBox="1"/>
          <p:nvPr/>
        </p:nvSpPr>
        <p:spPr>
          <a:xfrm>
            <a:off x="850392" y="1801368"/>
            <a:ext cx="3191256" cy="85039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Best global visibility. Usually smaller area and cleaner cross-boundary optimization. Good if runtime and memory are acceptable.</a:t>
            </a:r>
          </a:p>
        </p:txBody>
      </p:sp>
      <p:sp>
        <p:nvSpPr>
          <p:cNvPr id="11" name="Rounded Rectangle 10"/>
          <p:cNvSpPr/>
          <p:nvPr/>
        </p:nvSpPr>
        <p:spPr>
          <a:xfrm>
            <a:off x="4343400" y="1417320"/>
            <a:ext cx="3520440" cy="1325880"/>
          </a:xfrm>
          <a:prstGeom prst="roundRect">
            <a:avLst/>
          </a:prstGeom>
          <a:solidFill>
            <a:srgbClr val="FFFFFF"/>
          </a:solidFill>
          <a:ln w="1524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2" name="TextBox 11"/>
          <p:cNvSpPr txBox="1"/>
          <p:nvPr/>
        </p:nvSpPr>
        <p:spPr>
          <a:xfrm>
            <a:off x="4507992" y="1508760"/>
            <a:ext cx="31912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Bottom-up synthesis</a:t>
            </a:r>
          </a:p>
        </p:txBody>
      </p:sp>
      <p:sp>
        <p:nvSpPr>
          <p:cNvPr id="13" name="TextBox 12"/>
          <p:cNvSpPr txBox="1"/>
          <p:nvPr/>
        </p:nvSpPr>
        <p:spPr>
          <a:xfrm>
            <a:off x="4507992" y="1801368"/>
            <a:ext cx="3191256" cy="85039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Better hierarchy preservation. Easier to reuse blocks and more suitable for later hierarchical implementation.</a:t>
            </a:r>
          </a:p>
        </p:txBody>
      </p:sp>
      <p:sp>
        <p:nvSpPr>
          <p:cNvPr id="14" name="Rounded Rectangle 13"/>
          <p:cNvSpPr/>
          <p:nvPr/>
        </p:nvSpPr>
        <p:spPr>
          <a:xfrm>
            <a:off x="8001000" y="1417320"/>
            <a:ext cx="3520440" cy="1325880"/>
          </a:xfrm>
          <a:prstGeom prst="roundRect">
            <a:avLst/>
          </a:prstGeom>
          <a:solidFill>
            <a:srgbClr val="FFFFFF"/>
          </a:solidFill>
          <a:ln w="15240">
            <a:solidFill>
              <a:srgbClr val="D4A2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5" name="TextBox 14"/>
          <p:cNvSpPr txBox="1"/>
          <p:nvPr/>
        </p:nvSpPr>
        <p:spPr>
          <a:xfrm>
            <a:off x="8165592" y="1508760"/>
            <a:ext cx="31912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Practical conclusion</a:t>
            </a:r>
          </a:p>
        </p:txBody>
      </p:sp>
      <p:sp>
        <p:nvSpPr>
          <p:cNvPr id="16" name="TextBox 15"/>
          <p:cNvSpPr txBox="1"/>
          <p:nvPr/>
        </p:nvSpPr>
        <p:spPr>
          <a:xfrm>
            <a:off x="8165592" y="1801368"/>
            <a:ext cx="3191256" cy="85039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Task 3 is not just another synthesis experiment. It is the logical setup step for Task 5 and Task 6.</a:t>
            </a:r>
          </a:p>
        </p:txBody>
      </p:sp>
      <p:sp>
        <p:nvSpPr>
          <p:cNvPr id="17" name="Rounded Rectangle 16"/>
          <p:cNvSpPr/>
          <p:nvPr/>
        </p:nvSpPr>
        <p:spPr>
          <a:xfrm>
            <a:off x="685800" y="3063240"/>
            <a:ext cx="5303520" cy="214884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8" name="TextBox 17"/>
          <p:cNvSpPr txBox="1"/>
          <p:nvPr/>
        </p:nvSpPr>
        <p:spPr>
          <a:xfrm>
            <a:off x="850392" y="3154680"/>
            <a:ext cx="497433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Observed trade-offs</a:t>
            </a:r>
          </a:p>
        </p:txBody>
      </p:sp>
      <p:sp>
        <p:nvSpPr>
          <p:cNvPr id="19" name="TextBox 18"/>
          <p:cNvSpPr txBox="1"/>
          <p:nvPr/>
        </p:nvSpPr>
        <p:spPr>
          <a:xfrm>
            <a:off x="850392" y="3447288"/>
            <a:ext cx="4974336" cy="167335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20" name="TextBox 19"/>
          <p:cNvSpPr txBox="1"/>
          <p:nvPr/>
        </p:nvSpPr>
        <p:spPr>
          <a:xfrm>
            <a:off x="868680" y="3447288"/>
            <a:ext cx="4983480" cy="167335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Flat sees the whole design and often wins area.</a:t>
            </a:r>
          </a:p>
          <a:p>
            <a:pPr>
              <a:spcAft>
                <a:spcPts val="600"/>
              </a:spcAft>
              <a:defRPr sz="1250">
                <a:solidFill>
                  <a:srgbClr val="2B3036"/>
                </a:solidFill>
                <a:latin typeface="Arial"/>
              </a:defRPr>
            </a:pPr>
            <a:r>
              <a:rPr sz="1200" b="0" i="0">
                <a:latin typeface="Arial"/>
              </a:rPr>
              <a:t>Bottom-up sacrifices some global optimization for modularity.</a:t>
            </a:r>
          </a:p>
          <a:p>
            <a:pPr>
              <a:spcAft>
                <a:spcPts val="600"/>
              </a:spcAft>
              <a:defRPr sz="1250">
                <a:solidFill>
                  <a:srgbClr val="2B3036"/>
                </a:solidFill>
                <a:latin typeface="Arial"/>
              </a:defRPr>
            </a:pPr>
            <a:r>
              <a:rPr sz="1200" b="0" i="0">
                <a:latin typeface="Arial"/>
              </a:rPr>
              <a:t>The tighter the clock, the more the difference matters.</a:t>
            </a:r>
          </a:p>
        </p:txBody>
      </p:sp>
      <p:sp>
        <p:nvSpPr>
          <p:cNvPr id="21" name="Rounded Rectangle 20"/>
          <p:cNvSpPr/>
          <p:nvPr/>
        </p:nvSpPr>
        <p:spPr>
          <a:xfrm>
            <a:off x="6172200" y="3063240"/>
            <a:ext cx="5074920" cy="214884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22" name="TextBox 21"/>
          <p:cNvSpPr txBox="1"/>
          <p:nvPr/>
        </p:nvSpPr>
        <p:spPr>
          <a:xfrm>
            <a:off x="6336792" y="3154680"/>
            <a:ext cx="474573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Implementation implications</a:t>
            </a:r>
          </a:p>
        </p:txBody>
      </p:sp>
      <p:sp>
        <p:nvSpPr>
          <p:cNvPr id="23" name="TextBox 22"/>
          <p:cNvSpPr txBox="1"/>
          <p:nvPr/>
        </p:nvSpPr>
        <p:spPr>
          <a:xfrm>
            <a:off x="6336792" y="3447288"/>
            <a:ext cx="4745736" cy="167335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24" name="TextBox 23"/>
          <p:cNvSpPr txBox="1"/>
          <p:nvPr/>
        </p:nvSpPr>
        <p:spPr>
          <a:xfrm>
            <a:off x="6355080" y="3447288"/>
            <a:ext cx="4754880" cy="167335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Flat is well suited to top-level optimization.</a:t>
            </a:r>
          </a:p>
          <a:p>
            <a:pPr>
              <a:spcAft>
                <a:spcPts val="600"/>
              </a:spcAft>
              <a:defRPr sz="1250">
                <a:solidFill>
                  <a:srgbClr val="2B3036"/>
                </a:solidFill>
                <a:latin typeface="Arial"/>
              </a:defRPr>
            </a:pPr>
            <a:r>
              <a:rPr sz="1200" b="0" i="0">
                <a:latin typeface="Arial"/>
              </a:rPr>
              <a:t>Bottom-up is well suited to hierarchy preservation and block reuse.</a:t>
            </a:r>
          </a:p>
          <a:p>
            <a:pPr>
              <a:spcAft>
                <a:spcPts val="600"/>
              </a:spcAft>
              <a:defRPr sz="1250">
                <a:solidFill>
                  <a:srgbClr val="2B3036"/>
                </a:solidFill>
                <a:latin typeface="Arial"/>
              </a:defRPr>
            </a:pPr>
            <a:r>
              <a:rPr sz="1200" b="0" i="0">
                <a:latin typeface="Arial"/>
              </a:rPr>
              <a:t>The preferred flow depends on the implementation stage that follows.</a:t>
            </a:r>
          </a:p>
        </p:txBody>
      </p:sp>
      <p:sp>
        <p:nvSpPr>
          <p:cNvPr id="25" name="TextBox 24"/>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6" name="TextBox 25"/>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4: Flat Physical Synthesis Flow</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Now we move from logic-only estimation to a layout-aware implementation flow: floorplan, placement, CTS, routing, and post-route impact.</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4</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58368" y="1325880"/>
            <a:ext cx="4754880" cy="365760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TextBox 8"/>
          <p:cNvSpPr txBox="1"/>
          <p:nvPr/>
        </p:nvSpPr>
        <p:spPr>
          <a:xfrm>
            <a:off x="822960" y="1417320"/>
            <a:ext cx="442569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Flow steps</a:t>
            </a:r>
          </a:p>
        </p:txBody>
      </p:sp>
      <p:sp>
        <p:nvSpPr>
          <p:cNvPr id="10" name="TextBox 9"/>
          <p:cNvSpPr txBox="1"/>
          <p:nvPr/>
        </p:nvSpPr>
        <p:spPr>
          <a:xfrm>
            <a:off x="822960" y="1709928"/>
            <a:ext cx="4425696" cy="318211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1" name="TextBox 10"/>
          <p:cNvSpPr txBox="1"/>
          <p:nvPr/>
        </p:nvSpPr>
        <p:spPr>
          <a:xfrm>
            <a:off x="841248" y="1709928"/>
            <a:ext cx="4434840" cy="318211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Initialize the Innovus environment and read the synthesized design.</a:t>
            </a:r>
          </a:p>
          <a:p>
            <a:pPr>
              <a:spcAft>
                <a:spcPts val="600"/>
              </a:spcAft>
              <a:defRPr sz="1250">
                <a:solidFill>
                  <a:srgbClr val="2B3036"/>
                </a:solidFill>
                <a:latin typeface="Arial"/>
              </a:defRPr>
            </a:pPr>
            <a:r>
              <a:rPr sz="1200" b="0" i="0">
                <a:latin typeface="Arial"/>
              </a:rPr>
              <a:t>Create the floorplan and power plan.</a:t>
            </a:r>
          </a:p>
          <a:p>
            <a:pPr>
              <a:spcAft>
                <a:spcPts val="600"/>
              </a:spcAft>
              <a:defRPr sz="1250">
                <a:solidFill>
                  <a:srgbClr val="2B3036"/>
                </a:solidFill>
                <a:latin typeface="Arial"/>
              </a:defRPr>
            </a:pPr>
            <a:r>
              <a:rPr sz="1200" b="0" i="0">
                <a:latin typeface="Arial"/>
              </a:rPr>
              <a:t>Place the standard cells.</a:t>
            </a:r>
          </a:p>
          <a:p>
            <a:pPr>
              <a:spcAft>
                <a:spcPts val="600"/>
              </a:spcAft>
              <a:defRPr sz="1250">
                <a:solidFill>
                  <a:srgbClr val="2B3036"/>
                </a:solidFill>
                <a:latin typeface="Arial"/>
              </a:defRPr>
            </a:pPr>
            <a:r>
              <a:rPr sz="1200" b="0" i="0">
                <a:latin typeface="Arial"/>
              </a:rPr>
              <a:t>Build the clock tree with CTS / ccopt.</a:t>
            </a:r>
          </a:p>
          <a:p>
            <a:pPr>
              <a:spcAft>
                <a:spcPts val="600"/>
              </a:spcAft>
              <a:defRPr sz="1250">
                <a:solidFill>
                  <a:srgbClr val="2B3036"/>
                </a:solidFill>
                <a:latin typeface="Arial"/>
              </a:defRPr>
            </a:pPr>
            <a:r>
              <a:rPr sz="1200" b="0" i="0">
                <a:latin typeface="Arial"/>
              </a:rPr>
              <a:t>Route the design and save the physical database.</a:t>
            </a:r>
          </a:p>
        </p:txBody>
      </p:sp>
      <p:sp>
        <p:nvSpPr>
          <p:cNvPr id="12" name="Rounded Rectangle 11"/>
          <p:cNvSpPr/>
          <p:nvPr/>
        </p:nvSpPr>
        <p:spPr>
          <a:xfrm>
            <a:off x="5623560" y="1325880"/>
            <a:ext cx="5486400" cy="1051560"/>
          </a:xfrm>
          <a:prstGeom prst="roundRect">
            <a:avLst/>
          </a:prstGeom>
          <a:solidFill>
            <a:srgbClr val="FFFFFF"/>
          </a:solidFill>
          <a:ln w="15240">
            <a:solidFill>
              <a:srgbClr val="D4A2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TextBox 12"/>
          <p:cNvSpPr txBox="1"/>
          <p:nvPr/>
        </p:nvSpPr>
        <p:spPr>
          <a:xfrm>
            <a:off x="5788152" y="1417320"/>
            <a:ext cx="51572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Why this task matters</a:t>
            </a:r>
          </a:p>
        </p:txBody>
      </p:sp>
      <p:sp>
        <p:nvSpPr>
          <p:cNvPr id="14" name="TextBox 13"/>
          <p:cNvSpPr txBox="1"/>
          <p:nvPr/>
        </p:nvSpPr>
        <p:spPr>
          <a:xfrm>
            <a:off x="5788152" y="1709928"/>
            <a:ext cx="515721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Logic synthesis does not see real interconnect RC or clock-tree overhead. Task 4 reveals what the design looks like after physical effects are introduced.</a:t>
            </a:r>
          </a:p>
        </p:txBody>
      </p:sp>
      <p:sp>
        <p:nvSpPr>
          <p:cNvPr id="15" name="Rounded Rectangle 14"/>
          <p:cNvSpPr/>
          <p:nvPr/>
        </p:nvSpPr>
        <p:spPr>
          <a:xfrm>
            <a:off x="5623560" y="2606040"/>
            <a:ext cx="5486400" cy="1051560"/>
          </a:xfrm>
          <a:prstGeom prst="roundRect">
            <a:avLst/>
          </a:prstGeom>
          <a:solidFill>
            <a:srgbClr val="FFFFFF"/>
          </a:solidFill>
          <a:ln w="1524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6" name="TextBox 15"/>
          <p:cNvSpPr txBox="1"/>
          <p:nvPr/>
        </p:nvSpPr>
        <p:spPr>
          <a:xfrm>
            <a:off x="5788152" y="2697480"/>
            <a:ext cx="51572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Core scripts</a:t>
            </a:r>
          </a:p>
        </p:txBody>
      </p:sp>
      <p:sp>
        <p:nvSpPr>
          <p:cNvPr id="17" name="TextBox 16"/>
          <p:cNvSpPr txBox="1"/>
          <p:nvPr/>
        </p:nvSpPr>
        <p:spPr>
          <a:xfrm>
            <a:off x="5788152" y="2990088"/>
            <a:ext cx="515721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dirty="0">
                <a:latin typeface="Arial"/>
              </a:rPr>
              <a:t>run_flat_pnr.sh -&gt; </a:t>
            </a:r>
            <a:r>
              <a:rPr sz="1200" b="0" i="0" dirty="0" err="1">
                <a:latin typeface="Arial"/>
              </a:rPr>
              <a:t>pnr_flat.tcl</a:t>
            </a:r>
            <a:r>
              <a:rPr sz="1200" b="0" i="0" dirty="0">
                <a:latin typeface="Arial"/>
              </a:rPr>
              <a:t> -&gt; </a:t>
            </a:r>
            <a:r>
              <a:rPr sz="1200" b="0" i="0" dirty="0" err="1">
                <a:latin typeface="Arial"/>
              </a:rPr>
              <a:t>global_variables.tcl</a:t>
            </a:r>
            <a:r>
              <a:rPr lang="en-US" sz="1200" b="0" i="0" dirty="0">
                <a:latin typeface="Arial"/>
              </a:rPr>
              <a:t>(</a:t>
            </a:r>
            <a:r>
              <a:rPr lang="en-US" sz="1200" b="0" i="0" dirty="0" err="1">
                <a:latin typeface="Arial"/>
              </a:rPr>
              <a:t>netlist,sdc,lef,mmmc</a:t>
            </a:r>
            <a:r>
              <a:rPr lang="en-US" sz="1200" b="0" i="0" dirty="0">
                <a:latin typeface="Arial"/>
              </a:rPr>
              <a:t>)</a:t>
            </a:r>
            <a:r>
              <a:rPr lang="en-US" sz="1200" dirty="0">
                <a:latin typeface="Arial"/>
              </a:rPr>
              <a:t>, </a:t>
            </a:r>
            <a:r>
              <a:rPr lang="en-US" sz="1200" dirty="0" err="1">
                <a:latin typeface="Arial"/>
              </a:rPr>
              <a:t>read_design.tcl</a:t>
            </a:r>
            <a:endParaRPr sz="1200" b="0" i="0" dirty="0">
              <a:latin typeface="Arial"/>
            </a:endParaRPr>
          </a:p>
        </p:txBody>
      </p:sp>
      <p:sp>
        <p:nvSpPr>
          <p:cNvPr id="18" name="Rounded Rectangle 17"/>
          <p:cNvSpPr/>
          <p:nvPr/>
        </p:nvSpPr>
        <p:spPr>
          <a:xfrm>
            <a:off x="5623560" y="3886200"/>
            <a:ext cx="5486400" cy="1051560"/>
          </a:xfrm>
          <a:prstGeom prst="roundRect">
            <a:avLst/>
          </a:prstGeom>
          <a:solidFill>
            <a:srgbClr val="FFFFFF"/>
          </a:solidFill>
          <a:ln w="15240">
            <a:solidFill>
              <a:srgbClr val="1C3F35"/>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9" name="TextBox 18"/>
          <p:cNvSpPr txBox="1"/>
          <p:nvPr/>
        </p:nvSpPr>
        <p:spPr>
          <a:xfrm>
            <a:off x="5788152" y="3977640"/>
            <a:ext cx="51572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Short explanation</a:t>
            </a:r>
          </a:p>
        </p:txBody>
      </p:sp>
      <p:sp>
        <p:nvSpPr>
          <p:cNvPr id="20" name="TextBox 19"/>
          <p:cNvSpPr txBox="1"/>
          <p:nvPr/>
        </p:nvSpPr>
        <p:spPr>
          <a:xfrm>
            <a:off x="5788152" y="4270248"/>
            <a:ext cx="515721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In flat PnR, the full design is implemented as one big block. This is the physical counterpart of Task 2.</a:t>
            </a:r>
          </a:p>
        </p:txBody>
      </p:sp>
      <p:sp>
        <p:nvSpPr>
          <p:cNvPr id="21" name="TextBox 20"/>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2" name="TextBox 21"/>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4: Flat Physical Synthesis Result</a:t>
            </a:r>
          </a:p>
        </p:txBody>
      </p:sp>
      <p:sp>
        <p:nvSpPr>
          <p:cNvPr id="5" name="TextBox 4"/>
          <p:cNvSpPr txBox="1"/>
          <p:nvPr/>
        </p:nvSpPr>
        <p:spPr>
          <a:xfrm>
            <a:off x="544068" y="789974"/>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Using the 20 ns bottom-up logic-synthesis handoff, the physical flow shows the PPA cost of real layout effects.</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4</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pic>
        <p:nvPicPr>
          <p:cNvPr id="8" name="Picture 7" descr="image5.png"/>
          <p:cNvPicPr>
            <a:picLocks noChangeAspect="1"/>
          </p:cNvPicPr>
          <p:nvPr/>
        </p:nvPicPr>
        <p:blipFill>
          <a:blip r:embed="rId3"/>
          <a:stretch>
            <a:fillRect/>
          </a:stretch>
        </p:blipFill>
        <p:spPr>
          <a:xfrm>
            <a:off x="2582255" y="1083567"/>
            <a:ext cx="4560723" cy="3138021"/>
          </a:xfrm>
          <a:prstGeom prst="rect">
            <a:avLst/>
          </a:prstGeom>
        </p:spPr>
      </p:pic>
      <p:sp>
        <p:nvSpPr>
          <p:cNvPr id="9" name="TextBox 8"/>
          <p:cNvSpPr txBox="1"/>
          <p:nvPr/>
        </p:nvSpPr>
        <p:spPr>
          <a:xfrm>
            <a:off x="2342808" y="4243471"/>
            <a:ext cx="525780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1000" b="0" i="0" dirty="0">
                <a:latin typeface="Arial"/>
              </a:rPr>
              <a:t>Original Task 4 comparison view A</a:t>
            </a:r>
          </a:p>
        </p:txBody>
      </p:sp>
      <p:pic>
        <p:nvPicPr>
          <p:cNvPr id="10" name="Picture 9" descr="image6.png"/>
          <p:cNvPicPr>
            <a:picLocks noChangeAspect="1"/>
          </p:cNvPicPr>
          <p:nvPr/>
        </p:nvPicPr>
        <p:blipFill>
          <a:blip r:embed="rId4"/>
          <a:stretch>
            <a:fillRect/>
          </a:stretch>
        </p:blipFill>
        <p:spPr>
          <a:xfrm>
            <a:off x="7355858" y="1043097"/>
            <a:ext cx="4454881" cy="3159904"/>
          </a:xfrm>
          <a:prstGeom prst="rect">
            <a:avLst/>
          </a:prstGeom>
        </p:spPr>
      </p:pic>
      <p:sp>
        <p:nvSpPr>
          <p:cNvPr id="11" name="TextBox 10"/>
          <p:cNvSpPr txBox="1"/>
          <p:nvPr/>
        </p:nvSpPr>
        <p:spPr>
          <a:xfrm>
            <a:off x="6791788" y="4258821"/>
            <a:ext cx="525780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1000" b="0" i="0" dirty="0">
                <a:latin typeface="Arial"/>
              </a:rPr>
              <a:t>Original Task 4 comparison view B</a:t>
            </a:r>
          </a:p>
        </p:txBody>
      </p:sp>
      <p:sp>
        <p:nvSpPr>
          <p:cNvPr id="12" name="TextBox 11"/>
          <p:cNvSpPr txBox="1"/>
          <p:nvPr/>
        </p:nvSpPr>
        <p:spPr>
          <a:xfrm>
            <a:off x="281913" y="4447249"/>
            <a:ext cx="4754880"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dirty="0">
                <a:latin typeface="Arial"/>
              </a:rPr>
              <a:t>PPA Results before/after Physical Synthesis</a:t>
            </a:r>
            <a:r>
              <a:rPr lang="en-US" sz="1500" b="0" i="0" dirty="0">
                <a:latin typeface="Arial"/>
              </a:rPr>
              <a:t> (20ns)</a:t>
            </a:r>
            <a:endParaRPr sz="1500" b="0" i="0" dirty="0">
              <a:latin typeface="Arial"/>
            </a:endParaRPr>
          </a:p>
        </p:txBody>
      </p:sp>
      <p:graphicFrame>
        <p:nvGraphicFramePr>
          <p:cNvPr id="13" name="Table 12"/>
          <p:cNvGraphicFramePr>
            <a:graphicFrameLocks noGrp="1"/>
          </p:cNvGraphicFramePr>
          <p:nvPr>
            <p:extLst>
              <p:ext uri="{D42A27DB-BD31-4B8C-83A1-F6EECF244321}">
                <p14:modId xmlns:p14="http://schemas.microsoft.com/office/powerpoint/2010/main" val="4159586176"/>
              </p:ext>
            </p:extLst>
          </p:nvPr>
        </p:nvGraphicFramePr>
        <p:xfrm>
          <a:off x="281912" y="4742467"/>
          <a:ext cx="6558780" cy="1497168"/>
        </p:xfrm>
        <a:graphic>
          <a:graphicData uri="http://schemas.openxmlformats.org/drawingml/2006/table">
            <a:tbl>
              <a:tblPr firstRow="1" bandRow="1">
                <a:tableStyleId>{5C22544A-7EE6-4342-B048-85BDC9FD1C3A}</a:tableStyleId>
              </a:tblPr>
              <a:tblGrid>
                <a:gridCol w="1639695">
                  <a:extLst>
                    <a:ext uri="{9D8B030D-6E8A-4147-A177-3AD203B41FA5}">
                      <a16:colId xmlns:a16="http://schemas.microsoft.com/office/drawing/2014/main" val="20000"/>
                    </a:ext>
                  </a:extLst>
                </a:gridCol>
                <a:gridCol w="1639695">
                  <a:extLst>
                    <a:ext uri="{9D8B030D-6E8A-4147-A177-3AD203B41FA5}">
                      <a16:colId xmlns:a16="http://schemas.microsoft.com/office/drawing/2014/main" val="20001"/>
                    </a:ext>
                  </a:extLst>
                </a:gridCol>
                <a:gridCol w="1639695">
                  <a:extLst>
                    <a:ext uri="{9D8B030D-6E8A-4147-A177-3AD203B41FA5}">
                      <a16:colId xmlns:a16="http://schemas.microsoft.com/office/drawing/2014/main" val="20002"/>
                    </a:ext>
                  </a:extLst>
                </a:gridCol>
                <a:gridCol w="1639695">
                  <a:extLst>
                    <a:ext uri="{9D8B030D-6E8A-4147-A177-3AD203B41FA5}">
                      <a16:colId xmlns:a16="http://schemas.microsoft.com/office/drawing/2014/main" val="20003"/>
                    </a:ext>
                  </a:extLst>
                </a:gridCol>
              </a:tblGrid>
              <a:tr h="369598">
                <a:tc>
                  <a:txBody>
                    <a:bodyPr/>
                    <a:lstStyle/>
                    <a:p>
                      <a:pPr algn="ctr">
                        <a:defRPr sz="1000" b="1">
                          <a:solidFill>
                            <a:srgbClr val="FFFFFF"/>
                          </a:solidFill>
                          <a:latin typeface="Arial"/>
                        </a:defRPr>
                      </a:pPr>
                      <a:r>
                        <a:rPr sz="900" dirty="0">
                          <a:latin typeface="Arial"/>
                        </a:rPr>
                        <a:t>Stage</a:t>
                      </a:r>
                    </a:p>
                  </a:txBody>
                  <a:tcPr>
                    <a:solidFill>
                      <a:srgbClr val="1C3F35"/>
                    </a:solidFill>
                  </a:tcPr>
                </a:tc>
                <a:tc>
                  <a:txBody>
                    <a:bodyPr/>
                    <a:lstStyle/>
                    <a:p>
                      <a:pPr algn="ctr">
                        <a:defRPr sz="1000" b="1">
                          <a:solidFill>
                            <a:srgbClr val="FFFFFF"/>
                          </a:solidFill>
                          <a:latin typeface="Arial"/>
                        </a:defRPr>
                      </a:pPr>
                      <a:r>
                        <a:rPr sz="900" dirty="0">
                          <a:latin typeface="Arial"/>
                        </a:rPr>
                        <a:t>Total Power (</a:t>
                      </a:r>
                      <a:r>
                        <a:rPr sz="900" dirty="0" err="1">
                          <a:latin typeface="Arial"/>
                        </a:rPr>
                        <a:t>mW</a:t>
                      </a:r>
                      <a:r>
                        <a:rPr sz="900" dirty="0">
                          <a:latin typeface="Arial"/>
                        </a:rPr>
                        <a:t>)</a:t>
                      </a:r>
                    </a:p>
                  </a:txBody>
                  <a:tcPr>
                    <a:solidFill>
                      <a:srgbClr val="1C3F35"/>
                    </a:solidFill>
                  </a:tcPr>
                </a:tc>
                <a:tc>
                  <a:txBody>
                    <a:bodyPr/>
                    <a:lstStyle/>
                    <a:p>
                      <a:pPr algn="ctr">
                        <a:defRPr sz="1000" b="1">
                          <a:solidFill>
                            <a:srgbClr val="FFFFFF"/>
                          </a:solidFill>
                          <a:latin typeface="Arial"/>
                        </a:defRPr>
                      </a:pPr>
                      <a:r>
                        <a:rPr sz="900">
                          <a:latin typeface="Arial"/>
                        </a:rPr>
                        <a:t>Total Cell Area (um^2)</a:t>
                      </a:r>
                    </a:p>
                  </a:txBody>
                  <a:tcPr>
                    <a:solidFill>
                      <a:srgbClr val="1C3F35"/>
                    </a:solidFill>
                  </a:tcPr>
                </a:tc>
                <a:tc>
                  <a:txBody>
                    <a:bodyPr/>
                    <a:lstStyle/>
                    <a:p>
                      <a:pPr algn="ctr">
                        <a:defRPr sz="1000" b="1">
                          <a:solidFill>
                            <a:srgbClr val="FFFFFF"/>
                          </a:solidFill>
                          <a:latin typeface="Arial"/>
                        </a:defRPr>
                      </a:pPr>
                      <a:r>
                        <a:rPr sz="900" dirty="0">
                          <a:latin typeface="Arial"/>
                        </a:rPr>
                        <a:t>Slack (</a:t>
                      </a:r>
                      <a:r>
                        <a:rPr sz="900" dirty="0" err="1">
                          <a:latin typeface="Arial"/>
                        </a:rPr>
                        <a:t>ps</a:t>
                      </a:r>
                      <a:r>
                        <a:rPr sz="900" dirty="0">
                          <a:latin typeface="Arial"/>
                        </a:rPr>
                        <a:t>)</a:t>
                      </a:r>
                    </a:p>
                  </a:txBody>
                  <a:tcPr>
                    <a:solidFill>
                      <a:srgbClr val="1C3F35"/>
                    </a:solidFill>
                  </a:tcPr>
                </a:tc>
                <a:extLst>
                  <a:ext uri="{0D108BD9-81ED-4DB2-BD59-A6C34878D82A}">
                    <a16:rowId xmlns:a16="http://schemas.microsoft.com/office/drawing/2014/main" val="10000"/>
                  </a:ext>
                </a:extLst>
              </a:tr>
              <a:tr h="563785">
                <a:tc>
                  <a:txBody>
                    <a:bodyPr/>
                    <a:lstStyle/>
                    <a:p>
                      <a:pPr algn="ctr">
                        <a:defRPr sz="950">
                          <a:solidFill>
                            <a:srgbClr val="2B3036"/>
                          </a:solidFill>
                          <a:latin typeface="Arial"/>
                        </a:defRPr>
                      </a:pPr>
                      <a:r>
                        <a:rPr sz="900" dirty="0">
                          <a:latin typeface="Arial"/>
                        </a:rPr>
                        <a:t>Logic Synthesis</a:t>
                      </a:r>
                    </a:p>
                  </a:txBody>
                  <a:tcPr>
                    <a:solidFill>
                      <a:srgbClr val="FFFFFF"/>
                    </a:solidFill>
                  </a:tcPr>
                </a:tc>
                <a:tc>
                  <a:txBody>
                    <a:bodyPr/>
                    <a:lstStyle/>
                    <a:p>
                      <a:pPr algn="ctr">
                        <a:defRPr sz="950">
                          <a:solidFill>
                            <a:srgbClr val="2B3036"/>
                          </a:solidFill>
                          <a:latin typeface="Arial"/>
                        </a:defRPr>
                      </a:pPr>
                      <a:r>
                        <a:rPr sz="900" dirty="0">
                          <a:latin typeface="Arial"/>
                        </a:rPr>
                        <a:t>10.4048</a:t>
                      </a:r>
                    </a:p>
                  </a:txBody>
                  <a:tcPr>
                    <a:solidFill>
                      <a:srgbClr val="FFFFFF"/>
                    </a:solidFill>
                  </a:tcPr>
                </a:tc>
                <a:tc>
                  <a:txBody>
                    <a:bodyPr/>
                    <a:lstStyle/>
                    <a:p>
                      <a:pPr algn="ctr">
                        <a:defRPr sz="950">
                          <a:solidFill>
                            <a:srgbClr val="2B3036"/>
                          </a:solidFill>
                          <a:latin typeface="Arial"/>
                        </a:defRPr>
                      </a:pPr>
                      <a:r>
                        <a:rPr sz="900" dirty="0">
                          <a:latin typeface="Arial"/>
                        </a:rPr>
                        <a:t>363814</a:t>
                      </a:r>
                    </a:p>
                  </a:txBody>
                  <a:tcPr>
                    <a:solidFill>
                      <a:srgbClr val="FFFFFF"/>
                    </a:solidFill>
                  </a:tcPr>
                </a:tc>
                <a:tc>
                  <a:txBody>
                    <a:bodyPr/>
                    <a:lstStyle/>
                    <a:p>
                      <a:pPr algn="ctr">
                        <a:defRPr sz="950">
                          <a:solidFill>
                            <a:srgbClr val="2B3036"/>
                          </a:solidFill>
                          <a:latin typeface="Arial"/>
                        </a:defRPr>
                      </a:pPr>
                      <a:r>
                        <a:rPr sz="900" dirty="0">
                          <a:latin typeface="Arial"/>
                        </a:rPr>
                        <a:t>29.24</a:t>
                      </a:r>
                    </a:p>
                  </a:txBody>
                  <a:tcPr>
                    <a:solidFill>
                      <a:srgbClr val="FFFFFF"/>
                    </a:solidFill>
                  </a:tcPr>
                </a:tc>
                <a:extLst>
                  <a:ext uri="{0D108BD9-81ED-4DB2-BD59-A6C34878D82A}">
                    <a16:rowId xmlns:a16="http://schemas.microsoft.com/office/drawing/2014/main" val="10001"/>
                  </a:ext>
                </a:extLst>
              </a:tr>
              <a:tr h="563785">
                <a:tc>
                  <a:txBody>
                    <a:bodyPr/>
                    <a:lstStyle/>
                    <a:p>
                      <a:pPr algn="ctr">
                        <a:defRPr sz="950">
                          <a:solidFill>
                            <a:srgbClr val="2B3036"/>
                          </a:solidFill>
                          <a:latin typeface="Arial"/>
                        </a:defRPr>
                      </a:pPr>
                      <a:r>
                        <a:rPr sz="900" dirty="0">
                          <a:latin typeface="Arial"/>
                        </a:rPr>
                        <a:t>Physical Synthesis</a:t>
                      </a:r>
                    </a:p>
                  </a:txBody>
                  <a:tcPr>
                    <a:solidFill>
                      <a:srgbClr val="F0F4F8"/>
                    </a:solidFill>
                  </a:tcPr>
                </a:tc>
                <a:tc>
                  <a:txBody>
                    <a:bodyPr/>
                    <a:lstStyle/>
                    <a:p>
                      <a:pPr algn="ctr">
                        <a:defRPr sz="950">
                          <a:solidFill>
                            <a:srgbClr val="2B3036"/>
                          </a:solidFill>
                          <a:latin typeface="Arial"/>
                        </a:defRPr>
                      </a:pPr>
                      <a:r>
                        <a:rPr sz="900">
                          <a:latin typeface="Arial"/>
                        </a:rPr>
                        <a:t>80.4640</a:t>
                      </a:r>
                    </a:p>
                  </a:txBody>
                  <a:tcPr>
                    <a:solidFill>
                      <a:srgbClr val="F0F4F8"/>
                    </a:solidFill>
                  </a:tcPr>
                </a:tc>
                <a:tc>
                  <a:txBody>
                    <a:bodyPr/>
                    <a:lstStyle/>
                    <a:p>
                      <a:pPr algn="ctr">
                        <a:defRPr sz="950">
                          <a:solidFill>
                            <a:srgbClr val="2B3036"/>
                          </a:solidFill>
                          <a:latin typeface="Arial"/>
                        </a:defRPr>
                      </a:pPr>
                      <a:r>
                        <a:rPr sz="900">
                          <a:latin typeface="Arial"/>
                        </a:rPr>
                        <a:t>381986</a:t>
                      </a:r>
                    </a:p>
                  </a:txBody>
                  <a:tcPr>
                    <a:solidFill>
                      <a:srgbClr val="F0F4F8"/>
                    </a:solidFill>
                  </a:tcPr>
                </a:tc>
                <a:tc>
                  <a:txBody>
                    <a:bodyPr/>
                    <a:lstStyle/>
                    <a:p>
                      <a:pPr algn="ctr">
                        <a:defRPr sz="950">
                          <a:solidFill>
                            <a:srgbClr val="2B3036"/>
                          </a:solidFill>
                          <a:latin typeface="Arial"/>
                        </a:defRPr>
                      </a:pPr>
                      <a:r>
                        <a:rPr sz="900" dirty="0">
                          <a:latin typeface="Arial"/>
                        </a:rPr>
                        <a:t>-280.85</a:t>
                      </a:r>
                    </a:p>
                  </a:txBody>
                  <a:tcPr>
                    <a:solidFill>
                      <a:srgbClr val="F0F4F8"/>
                    </a:solidFill>
                  </a:tcPr>
                </a:tc>
                <a:extLst>
                  <a:ext uri="{0D108BD9-81ED-4DB2-BD59-A6C34878D82A}">
                    <a16:rowId xmlns:a16="http://schemas.microsoft.com/office/drawing/2014/main" val="10002"/>
                  </a:ext>
                </a:extLst>
              </a:tr>
            </a:tbl>
          </a:graphicData>
        </a:graphic>
      </p:graphicFrame>
      <p:sp>
        <p:nvSpPr>
          <p:cNvPr id="14" name="Rounded Rectangle 13"/>
          <p:cNvSpPr/>
          <p:nvPr/>
        </p:nvSpPr>
        <p:spPr>
          <a:xfrm>
            <a:off x="7355858" y="5049613"/>
            <a:ext cx="3657600" cy="79618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5" name="TextBox 14"/>
          <p:cNvSpPr txBox="1"/>
          <p:nvPr/>
        </p:nvSpPr>
        <p:spPr>
          <a:xfrm>
            <a:off x="7685042" y="5104148"/>
            <a:ext cx="33284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dirty="0">
                <a:latin typeface="Arial"/>
              </a:rPr>
              <a:t>Observation</a:t>
            </a:r>
          </a:p>
        </p:txBody>
      </p:sp>
      <p:sp>
        <p:nvSpPr>
          <p:cNvPr id="16" name="TextBox 15"/>
          <p:cNvSpPr txBox="1"/>
          <p:nvPr/>
        </p:nvSpPr>
        <p:spPr>
          <a:xfrm>
            <a:off x="7312260" y="4689974"/>
            <a:ext cx="3328416" cy="1152144"/>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7" name="TextBox 16"/>
          <p:cNvSpPr txBox="1"/>
          <p:nvPr/>
        </p:nvSpPr>
        <p:spPr>
          <a:xfrm>
            <a:off x="7699248" y="5398063"/>
            <a:ext cx="3337560" cy="370004"/>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dirty="0">
                <a:latin typeface="Arial"/>
              </a:rPr>
              <a:t>After physical synthesis, power and area increase and timing degrades.</a:t>
            </a:r>
          </a:p>
        </p:txBody>
      </p:sp>
      <p:sp>
        <p:nvSpPr>
          <p:cNvPr id="18" name="Rounded Rectangle 17"/>
          <p:cNvSpPr/>
          <p:nvPr/>
        </p:nvSpPr>
        <p:spPr>
          <a:xfrm>
            <a:off x="350493" y="1451610"/>
            <a:ext cx="2090628" cy="2226887"/>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9" name="TextBox 18"/>
          <p:cNvSpPr txBox="1"/>
          <p:nvPr/>
        </p:nvSpPr>
        <p:spPr>
          <a:xfrm>
            <a:off x="553212" y="1554481"/>
            <a:ext cx="100492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dirty="0">
                <a:latin typeface="Arial"/>
              </a:rPr>
              <a:t>Reasons</a:t>
            </a:r>
          </a:p>
        </p:txBody>
      </p:sp>
      <p:sp>
        <p:nvSpPr>
          <p:cNvPr id="20" name="TextBox 19"/>
          <p:cNvSpPr txBox="1"/>
          <p:nvPr/>
        </p:nvSpPr>
        <p:spPr>
          <a:xfrm>
            <a:off x="987552" y="5916168"/>
            <a:ext cx="10049256" cy="182880"/>
          </a:xfrm>
          <a:prstGeom prst="rect">
            <a:avLst/>
          </a:prstGeom>
          <a:noFill/>
        </p:spPr>
        <p:txBody>
          <a:bodyPr wrap="square" lIns="36576" tIns="18288" rIns="36576" bIns="18288" anchor="t">
            <a:normAutofit fontScale="92500" lnSpcReduction="20000"/>
          </a:bodyPr>
          <a:lstStyle/>
          <a:p>
            <a:pPr algn="l">
              <a:defRPr sz="1250" b="0">
                <a:solidFill>
                  <a:srgbClr val="2B3036"/>
                </a:solidFill>
                <a:latin typeface="Arial"/>
              </a:defRPr>
            </a:pPr>
            <a:endParaRPr/>
          </a:p>
        </p:txBody>
      </p:sp>
      <p:sp>
        <p:nvSpPr>
          <p:cNvPr id="21" name="TextBox 20"/>
          <p:cNvSpPr txBox="1"/>
          <p:nvPr/>
        </p:nvSpPr>
        <p:spPr>
          <a:xfrm>
            <a:off x="411481" y="1916482"/>
            <a:ext cx="1903400" cy="1198357"/>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dirty="0">
                <a:latin typeface="Arial"/>
              </a:rPr>
              <a:t>Real interconnect RC, clock tree insertion, buffering, and congestion-aware optimization are introduced.</a:t>
            </a:r>
          </a:p>
        </p:txBody>
      </p:sp>
      <p:sp>
        <p:nvSpPr>
          <p:cNvPr id="22" name="TextBox 21"/>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3" name="TextBox 22"/>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5: Floorplanning Prepares The Hierarchical Flow</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Task 5 is the bridge between bottom-up synthesis and hierarchical physical synthesis.</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5</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58368" y="1325880"/>
            <a:ext cx="4754880" cy="37947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TextBox 8"/>
          <p:cNvSpPr txBox="1"/>
          <p:nvPr/>
        </p:nvSpPr>
        <p:spPr>
          <a:xfrm>
            <a:off x="822960" y="1417320"/>
            <a:ext cx="442569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What Task 5 does</a:t>
            </a:r>
          </a:p>
        </p:txBody>
      </p:sp>
      <p:sp>
        <p:nvSpPr>
          <p:cNvPr id="10" name="TextBox 9"/>
          <p:cNvSpPr txBox="1"/>
          <p:nvPr/>
        </p:nvSpPr>
        <p:spPr>
          <a:xfrm>
            <a:off x="822960" y="1709928"/>
            <a:ext cx="4425696" cy="331927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1" name="TextBox 10"/>
          <p:cNvSpPr txBox="1"/>
          <p:nvPr/>
        </p:nvSpPr>
        <p:spPr>
          <a:xfrm>
            <a:off x="841248" y="1709928"/>
            <a:ext cx="4434840" cy="331927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Create the top floorplan for the 8x2 tile array.</a:t>
            </a:r>
          </a:p>
          <a:p>
            <a:pPr>
              <a:spcAft>
                <a:spcPts val="600"/>
              </a:spcAft>
              <a:defRPr sz="1250">
                <a:solidFill>
                  <a:srgbClr val="2B3036"/>
                </a:solidFill>
                <a:latin typeface="Arial"/>
              </a:defRPr>
            </a:pPr>
            <a:r>
              <a:rPr sz="1200" b="0" i="0">
                <a:latin typeface="Arial"/>
              </a:rPr>
              <a:t>Assign each tile instance to its own physical fence.</a:t>
            </a:r>
          </a:p>
          <a:p>
            <a:pPr>
              <a:spcAft>
                <a:spcPts val="600"/>
              </a:spcAft>
              <a:defRPr sz="1250">
                <a:solidFill>
                  <a:srgbClr val="2B3036"/>
                </a:solidFill>
                <a:latin typeface="Arial"/>
              </a:defRPr>
            </a:pPr>
            <a:r>
              <a:rPr sz="1200" b="0" i="0">
                <a:latin typeface="Arial"/>
              </a:rPr>
              <a:t>Create physical partitions and pin constraints.</a:t>
            </a:r>
          </a:p>
          <a:p>
            <a:pPr>
              <a:spcAft>
                <a:spcPts val="600"/>
              </a:spcAft>
              <a:defRPr sz="1250">
                <a:solidFill>
                  <a:srgbClr val="2B3036"/>
                </a:solidFill>
                <a:latin typeface="Arial"/>
              </a:defRPr>
            </a:pPr>
            <a:r>
              <a:rPr sz="1200" b="0" i="0">
                <a:latin typeface="Arial"/>
              </a:rPr>
              <a:t>Generate timing budgets so the sub-blocks can be implemented separately.</a:t>
            </a:r>
          </a:p>
        </p:txBody>
      </p:sp>
      <p:sp>
        <p:nvSpPr>
          <p:cNvPr id="12" name="Rounded Rectangle 11"/>
          <p:cNvSpPr/>
          <p:nvPr/>
        </p:nvSpPr>
        <p:spPr>
          <a:xfrm>
            <a:off x="5486400" y="1325880"/>
            <a:ext cx="5577840" cy="3794760"/>
          </a:xfrm>
          <a:prstGeom prst="roundRect">
            <a:avLst/>
          </a:prstGeom>
          <a:solidFill>
            <a:srgbClr val="1E2B34"/>
          </a:solidFill>
          <a:ln w="1905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Rounded Rectangle 12"/>
          <p:cNvSpPr/>
          <p:nvPr/>
        </p:nvSpPr>
        <p:spPr>
          <a:xfrm>
            <a:off x="5650992" y="1435608"/>
            <a:ext cx="1508760" cy="292608"/>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floorplan + partition</a:t>
            </a:r>
          </a:p>
        </p:txBody>
      </p:sp>
      <p:sp>
        <p:nvSpPr>
          <p:cNvPr id="14" name="TextBox 13"/>
          <p:cNvSpPr txBox="1"/>
          <p:nvPr/>
        </p:nvSpPr>
        <p:spPr>
          <a:xfrm>
            <a:off x="5687568" y="1828800"/>
            <a:ext cx="5175504" cy="2953512"/>
          </a:xfrm>
          <a:prstGeom prst="rect">
            <a:avLst/>
          </a:prstGeom>
          <a:noFill/>
        </p:spPr>
        <p:txBody>
          <a:bodyPr wrap="square" lIns="36576" tIns="18288" rIns="36576" bIns="18288">
            <a:noAutofit/>
          </a:bodyPr>
          <a:lstStyle/>
          <a:p>
            <a:pPr>
              <a:defRPr sz="1050">
                <a:solidFill>
                  <a:srgbClr val="E2E8F0"/>
                </a:solidFill>
                <a:latin typeface="Consolas"/>
              </a:defRPr>
            </a:pPr>
            <a:r>
              <a:rPr sz="1000" b="0" i="0">
                <a:latin typeface="Consolas"/>
              </a:rPr>
              <a:t>create_floorplan -site SC8T_104CPP_CMOS22FDX \</a:t>
            </a:r>
            <a:br>
              <a:rPr sz="1000" b="0" i="0">
                <a:latin typeface="Consolas"/>
              </a:rPr>
            </a:br>
            <a:r>
              <a:rPr sz="1000" b="0" i="0">
                <a:latin typeface="Consolas"/>
              </a:rPr>
              <a:t>    -core_size [expr {8*$width + 7*$margin}] \</a:t>
            </a:r>
            <a:br>
              <a:rPr sz="1000" b="0" i="0">
                <a:latin typeface="Consolas"/>
              </a:rPr>
            </a:br>
            <a:r>
              <a:rPr sz="1000" b="0" i="0">
                <a:latin typeface="Consolas"/>
              </a:rPr>
              <a:t>    [expr {2*$height + 1*$margin}] 10 10 10 10</a:t>
            </a:r>
            <a:br>
              <a:rPr sz="1000" b="0" i="0">
                <a:latin typeface="Consolas"/>
              </a:rPr>
            </a:br>
            <a:r>
              <a:rPr sz="1000" b="0" i="0">
                <a:latin typeface="Consolas"/>
              </a:rPr>
              <a:t>...</a:t>
            </a:r>
            <a:br>
              <a:rPr sz="1000" b="0" i="0">
                <a:latin typeface="Consolas"/>
              </a:rPr>
            </a:br>
            <a:r>
              <a:rPr sz="1000" b="0" i="0">
                <a:latin typeface="Consolas"/>
              </a:rPr>
              <a:t>create_boundary_constraint -type fence -hinst $cell \</a:t>
            </a:r>
            <a:br>
              <a:rPr sz="1000" b="0" i="0">
                <a:latin typeface="Consolas"/>
              </a:rPr>
            </a:br>
            <a:r>
              <a:rPr sz="1000" b="0" i="0">
                <a:latin typeface="Consolas"/>
              </a:rPr>
              <a:t>    -rects [list [list $x1 $y1 $x2 $y2]]</a:t>
            </a:r>
            <a:br>
              <a:rPr sz="1000" b="0" i="0">
                <a:latin typeface="Consolas"/>
              </a:rPr>
            </a:br>
            <a:r>
              <a:rPr sz="1000" b="0" i="0">
                <a:latin typeface="Consolas"/>
              </a:rPr>
              <a:t>...</a:t>
            </a:r>
            <a:br>
              <a:rPr sz="1000" b="0" i="0">
                <a:latin typeface="Consolas"/>
              </a:rPr>
            </a:br>
            <a:r>
              <a:rPr sz="1000" b="0" i="0">
                <a:latin typeface="Consolas"/>
              </a:rPr>
              <a:t>create_partition -hinst ${part_hinst} ...</a:t>
            </a:r>
            <a:br>
              <a:rPr sz="1000" b="0" i="0">
                <a:latin typeface="Consolas"/>
              </a:rPr>
            </a:br>
            <a:r>
              <a:rPr sz="1000" b="0" i="0">
                <a:latin typeface="Consolas"/>
              </a:rPr>
              <a:t>assign_partition_pins</a:t>
            </a:r>
            <a:br>
              <a:rPr sz="1000" b="0" i="0">
                <a:latin typeface="Consolas"/>
              </a:rPr>
            </a:br>
            <a:r>
              <a:rPr sz="1000" b="0" i="0">
                <a:latin typeface="Consolas"/>
              </a:rPr>
              <a:t>commit_partitions</a:t>
            </a:r>
            <a:br>
              <a:rPr sz="1000" b="0" i="0">
                <a:latin typeface="Consolas"/>
              </a:rPr>
            </a:br>
            <a:r>
              <a:rPr sz="1000" b="0" i="0">
                <a:latin typeface="Consolas"/>
              </a:rPr>
              <a:t>write_partitions -dir ${PART_DIR} -def</a:t>
            </a:r>
          </a:p>
        </p:txBody>
      </p:sp>
      <p:sp>
        <p:nvSpPr>
          <p:cNvPr id="15" name="TextBox 14"/>
          <p:cNvSpPr txBox="1"/>
          <p:nvPr/>
        </p:nvSpPr>
        <p:spPr>
          <a:xfrm>
            <a:off x="5687568" y="4864608"/>
            <a:ext cx="5175504" cy="146304"/>
          </a:xfrm>
          <a:prstGeom prst="rect">
            <a:avLst/>
          </a:prstGeom>
          <a:noFill/>
        </p:spPr>
        <p:txBody>
          <a:bodyPr wrap="square" lIns="36576" tIns="18288" rIns="36576" bIns="18288">
            <a:noAutofit/>
          </a:bodyPr>
          <a:lstStyle/>
          <a:p>
            <a:pPr>
              <a:defRPr sz="850">
                <a:solidFill>
                  <a:srgbClr val="94A3B8"/>
                </a:solidFill>
                <a:latin typeface="Arial"/>
              </a:defRPr>
            </a:pPr>
            <a:r>
              <a:rPr sz="800" b="0" i="0">
                <a:latin typeface="Arial"/>
              </a:rPr>
              <a:t>Source: main/phy/scr/floorplan.tcl + partition.tcl</a:t>
            </a:r>
          </a:p>
        </p:txBody>
      </p:sp>
      <p:sp>
        <p:nvSpPr>
          <p:cNvPr id="16" name="Rounded Rectangle 15"/>
          <p:cNvSpPr/>
          <p:nvPr/>
        </p:nvSpPr>
        <p:spPr>
          <a:xfrm>
            <a:off x="868680" y="5394960"/>
            <a:ext cx="10241280" cy="68580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7" name="TextBox 16"/>
          <p:cNvSpPr txBox="1"/>
          <p:nvPr/>
        </p:nvSpPr>
        <p:spPr>
          <a:xfrm>
            <a:off x="1033272" y="5486400"/>
            <a:ext cx="991209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Hierarchical role</a:t>
            </a:r>
          </a:p>
        </p:txBody>
      </p:sp>
      <p:sp>
        <p:nvSpPr>
          <p:cNvPr id="18" name="TextBox 17"/>
          <p:cNvSpPr txBox="1"/>
          <p:nvPr/>
        </p:nvSpPr>
        <p:spPr>
          <a:xfrm>
            <a:off x="1033272" y="5779008"/>
            <a:ext cx="9912096" cy="21031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dirty="0">
                <a:latin typeface="Arial"/>
              </a:rPr>
              <a:t>Task 5 provides the physical partitions required by Task 6, so </a:t>
            </a:r>
            <a:r>
              <a:rPr sz="1200" b="0" i="0" dirty="0" err="1">
                <a:latin typeface="Arial"/>
              </a:rPr>
              <a:t>floorplanning</a:t>
            </a:r>
            <a:r>
              <a:rPr sz="1200" b="0" i="0" dirty="0">
                <a:latin typeface="Arial"/>
              </a:rPr>
              <a:t> becomes the setup step for divide-and-conquer implementation.</a:t>
            </a:r>
          </a:p>
        </p:txBody>
      </p:sp>
      <p:sp>
        <p:nvSpPr>
          <p:cNvPr id="19" name="TextBox 18"/>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0" name="TextBox 19"/>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5: Floorplan Result</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The diagram shows the physical structure that makes the hierarchical implementation possible.</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5</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pic>
        <p:nvPicPr>
          <p:cNvPr id="8" name="Picture 7" descr="image11.png"/>
          <p:cNvPicPr>
            <a:picLocks noChangeAspect="1"/>
          </p:cNvPicPr>
          <p:nvPr/>
        </p:nvPicPr>
        <p:blipFill>
          <a:blip r:embed="rId2"/>
          <a:stretch>
            <a:fillRect/>
          </a:stretch>
        </p:blipFill>
        <p:spPr>
          <a:xfrm>
            <a:off x="5790" y="2093209"/>
            <a:ext cx="8315250" cy="2351542"/>
          </a:xfrm>
          <a:prstGeom prst="rect">
            <a:avLst/>
          </a:prstGeom>
        </p:spPr>
      </p:pic>
      <p:sp>
        <p:nvSpPr>
          <p:cNvPr id="9" name="TextBox 8"/>
          <p:cNvSpPr txBox="1"/>
          <p:nvPr/>
        </p:nvSpPr>
        <p:spPr>
          <a:xfrm>
            <a:off x="640080" y="5852160"/>
            <a:ext cx="745236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1000" b="0" i="0">
                <a:latin typeface="Arial"/>
              </a:rPr>
              <a:t>Partitioned 8x2 physical arrangement used as the basis for later hierarchical implementation</a:t>
            </a:r>
          </a:p>
        </p:txBody>
      </p:sp>
      <p:sp>
        <p:nvSpPr>
          <p:cNvPr id="10" name="Rounded Rectangle 9"/>
          <p:cNvSpPr/>
          <p:nvPr/>
        </p:nvSpPr>
        <p:spPr>
          <a:xfrm>
            <a:off x="8321040" y="1463040"/>
            <a:ext cx="2834640" cy="10515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1" name="TextBox 10"/>
          <p:cNvSpPr txBox="1"/>
          <p:nvPr/>
        </p:nvSpPr>
        <p:spPr>
          <a:xfrm>
            <a:off x="8485632" y="1554480"/>
            <a:ext cx="25054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Partition fences</a:t>
            </a:r>
          </a:p>
        </p:txBody>
      </p:sp>
      <p:sp>
        <p:nvSpPr>
          <p:cNvPr id="12" name="TextBox 11"/>
          <p:cNvSpPr txBox="1"/>
          <p:nvPr/>
        </p:nvSpPr>
        <p:spPr>
          <a:xfrm>
            <a:off x="8485632" y="1847088"/>
            <a:ext cx="250545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Each repeated tile region is enclosed by a fence, defining the physical boundary of one partition.</a:t>
            </a:r>
          </a:p>
        </p:txBody>
      </p:sp>
      <p:sp>
        <p:nvSpPr>
          <p:cNvPr id="13" name="Rounded Rectangle 12"/>
          <p:cNvSpPr/>
          <p:nvPr/>
        </p:nvSpPr>
        <p:spPr>
          <a:xfrm>
            <a:off x="8321040" y="2743200"/>
            <a:ext cx="2834640" cy="10515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4" name="TextBox 13"/>
          <p:cNvSpPr txBox="1"/>
          <p:nvPr/>
        </p:nvSpPr>
        <p:spPr>
          <a:xfrm>
            <a:off x="8485632" y="2834640"/>
            <a:ext cx="25054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Why it helps</a:t>
            </a:r>
          </a:p>
        </p:txBody>
      </p:sp>
      <p:sp>
        <p:nvSpPr>
          <p:cNvPr id="15" name="TextBox 14"/>
          <p:cNvSpPr txBox="1"/>
          <p:nvPr/>
        </p:nvSpPr>
        <p:spPr>
          <a:xfrm>
            <a:off x="8485632" y="3127248"/>
            <a:ext cx="250545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Partitioning reduces physical problem size and lets the blocks be processed more independently.</a:t>
            </a:r>
          </a:p>
        </p:txBody>
      </p:sp>
      <p:sp>
        <p:nvSpPr>
          <p:cNvPr id="16" name="Rounded Rectangle 15"/>
          <p:cNvSpPr/>
          <p:nvPr/>
        </p:nvSpPr>
        <p:spPr>
          <a:xfrm>
            <a:off x="8321040" y="4023360"/>
            <a:ext cx="2834640" cy="10515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7" name="TextBox 16"/>
          <p:cNvSpPr txBox="1"/>
          <p:nvPr/>
        </p:nvSpPr>
        <p:spPr>
          <a:xfrm>
            <a:off x="8485632" y="4114800"/>
            <a:ext cx="25054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Input to Task 6</a:t>
            </a:r>
          </a:p>
        </p:txBody>
      </p:sp>
      <p:sp>
        <p:nvSpPr>
          <p:cNvPr id="18" name="TextBox 17"/>
          <p:cNvSpPr txBox="1"/>
          <p:nvPr/>
        </p:nvSpPr>
        <p:spPr>
          <a:xfrm>
            <a:off x="8485632" y="4407408"/>
            <a:ext cx="2505456" cy="576072"/>
          </a:xfrm>
          <a:prstGeom prst="rect">
            <a:avLst/>
          </a:prstGeom>
          <a:noFill/>
        </p:spPr>
        <p:txBody>
          <a:bodyPr wrap="square" lIns="36576" tIns="18288" rIns="36576" bIns="18288" anchor="t">
            <a:noAutofit/>
          </a:bodyPr>
          <a:lstStyle/>
          <a:p>
            <a:pPr algn="l">
              <a:defRPr sz="1250" b="0">
                <a:solidFill>
                  <a:srgbClr val="2B3036"/>
                </a:solidFill>
                <a:latin typeface="Arial"/>
              </a:defRPr>
            </a:pPr>
            <a:r>
              <a:rPr sz="1200" b="0" i="0">
                <a:latin typeface="Arial"/>
              </a:rPr>
              <a:t>These partitions are reused in Task 6 and then integrated again at the top level.</a:t>
            </a:r>
          </a:p>
        </p:txBody>
      </p:sp>
      <p:sp>
        <p:nvSpPr>
          <p:cNvPr id="19" name="TextBox 18"/>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20" name="TextBox 19"/>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6 Step 1: Block-Level Implementation</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First, each partition is implemented as its own smaller physical block.</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6</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pic>
        <p:nvPicPr>
          <p:cNvPr id="8" name="Picture 7" descr="image14.png"/>
          <p:cNvPicPr>
            <a:picLocks noChangeAspect="1"/>
          </p:cNvPicPr>
          <p:nvPr/>
        </p:nvPicPr>
        <p:blipFill>
          <a:blip r:embed="rId2"/>
          <a:srcRect l="35174" r="10489" b="33071"/>
          <a:stretch>
            <a:fillRect/>
          </a:stretch>
        </p:blipFill>
        <p:spPr>
          <a:xfrm>
            <a:off x="1021795" y="1316736"/>
            <a:ext cx="4705186" cy="4143406"/>
          </a:xfrm>
          <a:prstGeom prst="rect">
            <a:avLst/>
          </a:prstGeom>
        </p:spPr>
      </p:pic>
      <p:sp>
        <p:nvSpPr>
          <p:cNvPr id="9" name="TextBox 8"/>
          <p:cNvSpPr txBox="1"/>
          <p:nvPr/>
        </p:nvSpPr>
        <p:spPr>
          <a:xfrm>
            <a:off x="740011" y="5933803"/>
            <a:ext cx="393192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900" b="0" i="0" dirty="0">
                <a:latin typeface="Arial"/>
              </a:rPr>
              <a:t>Example submodule physical result from the original Task 6 material</a:t>
            </a:r>
          </a:p>
        </p:txBody>
      </p:sp>
      <p:sp>
        <p:nvSpPr>
          <p:cNvPr id="10" name="Rounded Rectangle 9"/>
          <p:cNvSpPr/>
          <p:nvPr/>
        </p:nvSpPr>
        <p:spPr>
          <a:xfrm>
            <a:off x="5906746" y="2389224"/>
            <a:ext cx="4745490" cy="2696826"/>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1" name="TextBox 10"/>
          <p:cNvSpPr txBox="1"/>
          <p:nvPr/>
        </p:nvSpPr>
        <p:spPr>
          <a:xfrm>
            <a:off x="6246570" y="2573709"/>
            <a:ext cx="2934114"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dirty="0">
                <a:latin typeface="Arial"/>
              </a:rPr>
              <a:t>Main story</a:t>
            </a:r>
          </a:p>
        </p:txBody>
      </p:sp>
      <p:sp>
        <p:nvSpPr>
          <p:cNvPr id="13" name="TextBox 12"/>
          <p:cNvSpPr txBox="1"/>
          <p:nvPr/>
        </p:nvSpPr>
        <p:spPr>
          <a:xfrm>
            <a:off x="6246570" y="2917306"/>
            <a:ext cx="4288536" cy="1710255"/>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dirty="0">
                <a:latin typeface="Arial"/>
              </a:rPr>
              <a:t>Read one partition database at a time.</a:t>
            </a:r>
          </a:p>
          <a:p>
            <a:pPr>
              <a:spcAft>
                <a:spcPts val="600"/>
              </a:spcAft>
              <a:defRPr sz="1250">
                <a:solidFill>
                  <a:srgbClr val="2B3036"/>
                </a:solidFill>
                <a:latin typeface="Arial"/>
              </a:defRPr>
            </a:pPr>
            <a:r>
              <a:rPr sz="1200" b="0" i="0" dirty="0">
                <a:latin typeface="Arial"/>
              </a:rPr>
              <a:t>Run placement, CTS, and routing on that block.</a:t>
            </a:r>
          </a:p>
          <a:p>
            <a:pPr>
              <a:spcAft>
                <a:spcPts val="600"/>
              </a:spcAft>
              <a:defRPr sz="1250">
                <a:solidFill>
                  <a:srgbClr val="2B3036"/>
                </a:solidFill>
                <a:latin typeface="Arial"/>
              </a:defRPr>
            </a:pPr>
            <a:r>
              <a:rPr sz="1200" b="0" i="0" dirty="0">
                <a:latin typeface="Arial"/>
              </a:rPr>
              <a:t>Generate an ILM for the block boundary abstraction.</a:t>
            </a:r>
          </a:p>
          <a:p>
            <a:pPr>
              <a:spcAft>
                <a:spcPts val="600"/>
              </a:spcAft>
              <a:defRPr sz="1250">
                <a:solidFill>
                  <a:srgbClr val="2B3036"/>
                </a:solidFill>
                <a:latin typeface="Arial"/>
              </a:defRPr>
            </a:pPr>
            <a:r>
              <a:rPr sz="1200" b="0" i="0" dirty="0">
                <a:latin typeface="Arial"/>
              </a:rPr>
              <a:t>Save the block result so the top-level design can reuse it later.</a:t>
            </a:r>
          </a:p>
          <a:p>
            <a:pPr>
              <a:spcAft>
                <a:spcPts val="600"/>
              </a:spcAft>
              <a:defRPr sz="1250">
                <a:solidFill>
                  <a:srgbClr val="2B3036"/>
                </a:solidFill>
                <a:latin typeface="Arial"/>
              </a:defRPr>
            </a:pPr>
            <a:r>
              <a:rPr sz="1200" b="0" i="0" dirty="0">
                <a:latin typeface="Arial"/>
              </a:rPr>
              <a:t>This reduces the complexity compared with implementing the full chip at once.</a:t>
            </a:r>
          </a:p>
        </p:txBody>
      </p:sp>
      <p:sp>
        <p:nvSpPr>
          <p:cNvPr id="14" name="TextBox 13"/>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5" name="TextBox 14"/>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6 Step 2: Top-Level Assembly With ILMs</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After block implementation, the top-level design is reopened and the partition ILMs are linked back in.</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6</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pic>
        <p:nvPicPr>
          <p:cNvPr id="8" name="Picture 7" descr="image12.png"/>
          <p:cNvPicPr>
            <a:picLocks noChangeAspect="1"/>
          </p:cNvPicPr>
          <p:nvPr/>
        </p:nvPicPr>
        <p:blipFill>
          <a:blip r:embed="rId2"/>
          <a:stretch>
            <a:fillRect/>
          </a:stretch>
        </p:blipFill>
        <p:spPr>
          <a:xfrm>
            <a:off x="548640" y="1055850"/>
            <a:ext cx="6784239" cy="4896894"/>
          </a:xfrm>
          <a:prstGeom prst="rect">
            <a:avLst/>
          </a:prstGeom>
        </p:spPr>
      </p:pic>
      <p:sp>
        <p:nvSpPr>
          <p:cNvPr id="9" name="TextBox 8"/>
          <p:cNvSpPr txBox="1"/>
          <p:nvPr/>
        </p:nvSpPr>
        <p:spPr>
          <a:xfrm>
            <a:off x="63399" y="6025896"/>
            <a:ext cx="7269480" cy="164592"/>
          </a:xfrm>
          <a:prstGeom prst="rect">
            <a:avLst/>
          </a:prstGeom>
          <a:noFill/>
        </p:spPr>
        <p:txBody>
          <a:bodyPr wrap="square" lIns="36576" tIns="18288" rIns="36576" bIns="18288" anchor="t">
            <a:noAutofit/>
          </a:bodyPr>
          <a:lstStyle/>
          <a:p>
            <a:pPr algn="ctr">
              <a:defRPr sz="1000" b="0">
                <a:solidFill>
                  <a:srgbClr val="676F71"/>
                </a:solidFill>
                <a:latin typeface="Arial"/>
              </a:defRPr>
            </a:pPr>
            <a:r>
              <a:rPr sz="1000" b="0" i="0" dirty="0">
                <a:latin typeface="Arial"/>
              </a:rPr>
              <a:t>Top-level hierarchical physical view showing the assembled partitioned design</a:t>
            </a:r>
          </a:p>
        </p:txBody>
      </p:sp>
      <p:sp>
        <p:nvSpPr>
          <p:cNvPr id="10" name="Rounded Rectangle 9"/>
          <p:cNvSpPr/>
          <p:nvPr/>
        </p:nvSpPr>
        <p:spPr>
          <a:xfrm>
            <a:off x="7582155" y="1049743"/>
            <a:ext cx="3017520" cy="2297046"/>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1" name="TextBox 10"/>
          <p:cNvSpPr txBox="1"/>
          <p:nvPr/>
        </p:nvSpPr>
        <p:spPr>
          <a:xfrm>
            <a:off x="7746747" y="1141183"/>
            <a:ext cx="2688336" cy="132251"/>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What happens here</a:t>
            </a:r>
          </a:p>
        </p:txBody>
      </p:sp>
      <p:sp>
        <p:nvSpPr>
          <p:cNvPr id="12" name="TextBox 11"/>
          <p:cNvSpPr txBox="1"/>
          <p:nvPr/>
        </p:nvSpPr>
        <p:spPr>
          <a:xfrm>
            <a:off x="7746747" y="1433791"/>
            <a:ext cx="2688336" cy="185623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3" name="TextBox 12"/>
          <p:cNvSpPr txBox="1"/>
          <p:nvPr/>
        </p:nvSpPr>
        <p:spPr>
          <a:xfrm>
            <a:off x="7765035" y="1433791"/>
            <a:ext cx="2697480" cy="185623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Read the top partition DB.</a:t>
            </a:r>
          </a:p>
          <a:p>
            <a:pPr>
              <a:spcAft>
                <a:spcPts val="600"/>
              </a:spcAft>
              <a:defRPr sz="1250">
                <a:solidFill>
                  <a:srgbClr val="2B3036"/>
                </a:solidFill>
                <a:latin typeface="Arial"/>
              </a:defRPr>
            </a:pPr>
            <a:r>
              <a:rPr sz="1200" b="0" i="0">
                <a:latin typeface="Arial"/>
              </a:rPr>
              <a:t>Load the ILMs of the implemented blocks.</a:t>
            </a:r>
          </a:p>
          <a:p>
            <a:pPr>
              <a:spcAft>
                <a:spcPts val="600"/>
              </a:spcAft>
              <a:defRPr sz="1250">
                <a:solidFill>
                  <a:srgbClr val="2B3036"/>
                </a:solidFill>
                <a:latin typeface="Arial"/>
              </a:defRPr>
            </a:pPr>
            <a:r>
              <a:rPr sz="1200" b="0" i="0">
                <a:latin typeface="Arial"/>
              </a:rPr>
              <a:t>Flatten the ILMs for top-level integration.</a:t>
            </a:r>
          </a:p>
          <a:p>
            <a:pPr>
              <a:spcAft>
                <a:spcPts val="600"/>
              </a:spcAft>
              <a:defRPr sz="1250">
                <a:solidFill>
                  <a:srgbClr val="2B3036"/>
                </a:solidFill>
                <a:latin typeface="Arial"/>
              </a:defRPr>
            </a:pPr>
            <a:r>
              <a:rPr sz="1200" b="0" i="0">
                <a:latin typeface="Arial"/>
              </a:rPr>
              <a:t>Run top-level placement, CTS, and routing.</a:t>
            </a:r>
          </a:p>
          <a:p>
            <a:pPr>
              <a:spcAft>
                <a:spcPts val="600"/>
              </a:spcAft>
              <a:defRPr sz="1250">
                <a:solidFill>
                  <a:srgbClr val="2B3036"/>
                </a:solidFill>
                <a:latin typeface="Arial"/>
              </a:defRPr>
            </a:pPr>
            <a:r>
              <a:rPr sz="1200" b="0" i="0">
                <a:latin typeface="Arial"/>
              </a:rPr>
              <a:t>Save the final assembled design.</a:t>
            </a:r>
          </a:p>
        </p:txBody>
      </p:sp>
      <p:sp>
        <p:nvSpPr>
          <p:cNvPr id="14" name="TextBox 13"/>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5" name="TextBox 14"/>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Task 6: Key Hierarchical Scripts</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The wrapper script captures the full sequence from partition creation to final top-level assembly.</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Task 6</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731520" y="1417320"/>
            <a:ext cx="5440680" cy="4023360"/>
          </a:xfrm>
          <a:prstGeom prst="roundRect">
            <a:avLst/>
          </a:prstGeom>
          <a:solidFill>
            <a:srgbClr val="1E2B34"/>
          </a:solidFill>
          <a:ln w="19050">
            <a:solidFill>
              <a:srgbClr val="C9633E"/>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Rounded Rectangle 8"/>
          <p:cNvSpPr/>
          <p:nvPr/>
        </p:nvSpPr>
        <p:spPr>
          <a:xfrm>
            <a:off x="896112" y="1527048"/>
            <a:ext cx="1508760" cy="292608"/>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run_hierarchical_pnr.sh</a:t>
            </a:r>
          </a:p>
        </p:txBody>
      </p:sp>
      <p:sp>
        <p:nvSpPr>
          <p:cNvPr id="10" name="TextBox 9"/>
          <p:cNvSpPr txBox="1"/>
          <p:nvPr/>
        </p:nvSpPr>
        <p:spPr>
          <a:xfrm>
            <a:off x="932688" y="1920240"/>
            <a:ext cx="5038344" cy="3182112"/>
          </a:xfrm>
          <a:prstGeom prst="rect">
            <a:avLst/>
          </a:prstGeom>
          <a:noFill/>
        </p:spPr>
        <p:txBody>
          <a:bodyPr wrap="square" lIns="36576" tIns="18288" rIns="36576" bIns="18288">
            <a:noAutofit/>
          </a:bodyPr>
          <a:lstStyle/>
          <a:p>
            <a:pPr>
              <a:defRPr sz="1050">
                <a:solidFill>
                  <a:srgbClr val="E2E8F0"/>
                </a:solidFill>
                <a:latin typeface="Consolas"/>
              </a:defRPr>
            </a:pPr>
            <a:r>
              <a:rPr sz="1000" b="0" i="0">
                <a:latin typeface="Consolas"/>
              </a:rPr>
              <a:t># Step 1: Create partitions (Task 5)</a:t>
            </a:r>
            <a:br>
              <a:rPr sz="1000" b="0" i="0">
                <a:latin typeface="Consolas"/>
              </a:rPr>
            </a:br>
            <a:r>
              <a:rPr sz="1000" b="0" i="0">
                <a:latin typeface="Consolas"/>
              </a:rPr>
              <a:t>innovus -stylus -batch -files ../phy/scr/create_partitions.tcl</a:t>
            </a:r>
            <a:br>
              <a:rPr sz="1000" b="0" i="0">
                <a:latin typeface="Consolas"/>
              </a:rPr>
            </a:br>
            <a:br>
              <a:rPr sz="1000" b="0" i="0">
                <a:latin typeface="Consolas"/>
              </a:rPr>
            </a:br>
            <a:r>
              <a:rPr sz="1000" b="0" i="0">
                <a:latin typeface="Consolas"/>
              </a:rPr>
              <a:t># Step 2: Run partition PnR</a:t>
            </a:r>
            <a:br>
              <a:rPr sz="1000" b="0" i="0">
                <a:latin typeface="Consolas"/>
              </a:rPr>
            </a:br>
            <a:r>
              <a:rPr sz="1000" b="0" i="0">
                <a:latin typeface="Consolas"/>
              </a:rPr>
              <a:t>bash ../phy/scr/pnr_partition.sh</a:t>
            </a:r>
            <a:br>
              <a:rPr sz="1000" b="0" i="0">
                <a:latin typeface="Consolas"/>
              </a:rPr>
            </a:br>
            <a:br>
              <a:rPr sz="1000" b="0" i="0">
                <a:latin typeface="Consolas"/>
              </a:rPr>
            </a:br>
            <a:r>
              <a:rPr sz="1000" b="0" i="0">
                <a:latin typeface="Consolas"/>
              </a:rPr>
              <a:t># Step 3: Top-level PnR</a:t>
            </a:r>
            <a:br>
              <a:rPr sz="1000" b="0" i="0">
                <a:latin typeface="Consolas"/>
              </a:rPr>
            </a:br>
            <a:r>
              <a:rPr sz="1000" b="0" i="0">
                <a:latin typeface="Consolas"/>
              </a:rPr>
              <a:t>innovus -stylus -batch -files ../phy/scr/pnr_top.tcl</a:t>
            </a:r>
            <a:br>
              <a:rPr sz="1000" b="0" i="0">
                <a:latin typeface="Consolas"/>
              </a:rPr>
            </a:br>
            <a:br>
              <a:rPr sz="1000" b="0" i="0">
                <a:latin typeface="Consolas"/>
              </a:rPr>
            </a:br>
            <a:r>
              <a:rPr sz="1000" b="0" i="0">
                <a:latin typeface="Consolas"/>
              </a:rPr>
              <a:t># Step 4: Assemble final design</a:t>
            </a:r>
            <a:br>
              <a:rPr sz="1000" b="0" i="0">
                <a:latin typeface="Consolas"/>
              </a:rPr>
            </a:br>
            <a:r>
              <a:rPr sz="1000" b="0" i="0">
                <a:latin typeface="Consolas"/>
              </a:rPr>
              <a:t>innovus -stylus -batch -files ../phy/scr/assemble_design.tcl</a:t>
            </a:r>
          </a:p>
        </p:txBody>
      </p:sp>
      <p:sp>
        <p:nvSpPr>
          <p:cNvPr id="11" name="TextBox 10"/>
          <p:cNvSpPr txBox="1"/>
          <p:nvPr/>
        </p:nvSpPr>
        <p:spPr>
          <a:xfrm>
            <a:off x="932688" y="5184648"/>
            <a:ext cx="5038344" cy="146304"/>
          </a:xfrm>
          <a:prstGeom prst="rect">
            <a:avLst/>
          </a:prstGeom>
          <a:noFill/>
        </p:spPr>
        <p:txBody>
          <a:bodyPr wrap="square" lIns="36576" tIns="18288" rIns="36576" bIns="18288">
            <a:noAutofit/>
          </a:bodyPr>
          <a:lstStyle/>
          <a:p>
            <a:pPr>
              <a:defRPr sz="850">
                <a:solidFill>
                  <a:srgbClr val="94A3B8"/>
                </a:solidFill>
                <a:latin typeface="Arial"/>
              </a:defRPr>
            </a:pPr>
            <a:r>
              <a:rPr sz="800" b="0" i="0">
                <a:latin typeface="Arial"/>
              </a:rPr>
              <a:t>Source: main/phy/scr/run_hierarchical_pnr.sh</a:t>
            </a:r>
          </a:p>
        </p:txBody>
      </p:sp>
      <p:sp>
        <p:nvSpPr>
          <p:cNvPr id="12" name="Rounded Rectangle 11"/>
          <p:cNvSpPr/>
          <p:nvPr/>
        </p:nvSpPr>
        <p:spPr>
          <a:xfrm>
            <a:off x="6355080" y="1417320"/>
            <a:ext cx="4892040" cy="402336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TextBox 12"/>
          <p:cNvSpPr txBox="1"/>
          <p:nvPr/>
        </p:nvSpPr>
        <p:spPr>
          <a:xfrm>
            <a:off x="6519672" y="1508760"/>
            <a:ext cx="456285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Hierarchy flow</a:t>
            </a:r>
          </a:p>
        </p:txBody>
      </p:sp>
      <p:sp>
        <p:nvSpPr>
          <p:cNvPr id="14" name="TextBox 13"/>
          <p:cNvSpPr txBox="1"/>
          <p:nvPr/>
        </p:nvSpPr>
        <p:spPr>
          <a:xfrm>
            <a:off x="6519672" y="1801368"/>
            <a:ext cx="4562856" cy="354787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5" name="TextBox 14"/>
          <p:cNvSpPr txBox="1"/>
          <p:nvPr/>
        </p:nvSpPr>
        <p:spPr>
          <a:xfrm>
            <a:off x="6537960" y="1801368"/>
            <a:ext cx="4572000" cy="354787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Task 5 creates partitions.</a:t>
            </a:r>
          </a:p>
          <a:p>
            <a:pPr>
              <a:spcAft>
                <a:spcPts val="600"/>
              </a:spcAft>
              <a:defRPr sz="1250">
                <a:solidFill>
                  <a:srgbClr val="2B3036"/>
                </a:solidFill>
                <a:latin typeface="Arial"/>
              </a:defRPr>
            </a:pPr>
            <a:r>
              <a:rPr sz="1200" b="0" i="0">
                <a:latin typeface="Arial"/>
              </a:rPr>
              <a:t>Task 6 implements the partitions individually.</a:t>
            </a:r>
          </a:p>
          <a:p>
            <a:pPr>
              <a:spcAft>
                <a:spcPts val="600"/>
              </a:spcAft>
              <a:defRPr sz="1250">
                <a:solidFill>
                  <a:srgbClr val="2B3036"/>
                </a:solidFill>
                <a:latin typeface="Arial"/>
              </a:defRPr>
            </a:pPr>
            <a:r>
              <a:rPr sz="1200" b="0" i="0">
                <a:latin typeface="Arial"/>
              </a:rPr>
              <a:t>ILMs let the top-level run avoid full detailed block netlists.</a:t>
            </a:r>
          </a:p>
          <a:p>
            <a:pPr>
              <a:spcAft>
                <a:spcPts val="600"/>
              </a:spcAft>
              <a:defRPr sz="1250">
                <a:solidFill>
                  <a:srgbClr val="2B3036"/>
                </a:solidFill>
                <a:latin typeface="Arial"/>
              </a:defRPr>
            </a:pPr>
            <a:r>
              <a:rPr sz="1200" b="0" i="0">
                <a:latin typeface="Arial"/>
              </a:rPr>
              <a:t>The final top-level stage restores the chip-wide view and closes the design.</a:t>
            </a:r>
          </a:p>
        </p:txBody>
      </p:sp>
      <p:sp>
        <p:nvSpPr>
          <p:cNvPr id="16" name="TextBox 15"/>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7" name="TextBox 16"/>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411480" y="658368"/>
            <a:ext cx="10972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502920" y="109728"/>
            <a:ext cx="9692640" cy="347472"/>
          </a:xfrm>
          <a:prstGeom prst="rect">
            <a:avLst/>
          </a:prstGeom>
          <a:noFill/>
        </p:spPr>
        <p:txBody>
          <a:bodyPr wrap="square" lIns="36576" tIns="18288" rIns="36576" bIns="18288">
            <a:noAutofit/>
          </a:bodyPr>
          <a:lstStyle/>
          <a:p>
            <a:pPr>
              <a:defRPr sz="2400" b="1">
                <a:solidFill>
                  <a:srgbClr val="FFFFFF"/>
                </a:solidFill>
                <a:latin typeface="Georgia"/>
              </a:defRPr>
            </a:pPr>
            <a:r>
              <a:rPr sz="2400" b="0" i="0">
                <a:latin typeface="Georgia"/>
              </a:rPr>
              <a:t>Project Conclusions</a:t>
            </a:r>
          </a:p>
        </p:txBody>
      </p:sp>
      <p:sp>
        <p:nvSpPr>
          <p:cNvPr id="5" name="TextBox 4"/>
          <p:cNvSpPr txBox="1"/>
          <p:nvPr/>
        </p:nvSpPr>
        <p:spPr>
          <a:xfrm>
            <a:off x="548640" y="804672"/>
            <a:ext cx="10058400" cy="384048"/>
          </a:xfrm>
          <a:prstGeom prst="rect">
            <a:avLst/>
          </a:prstGeom>
          <a:noFill/>
        </p:spPr>
        <p:txBody>
          <a:bodyPr wrap="square" lIns="36576" tIns="18288" rIns="36576" bIns="18288">
            <a:noAutofit/>
          </a:bodyPr>
          <a:lstStyle/>
          <a:p>
            <a:pPr>
              <a:defRPr sz="1200">
                <a:solidFill>
                  <a:srgbClr val="676F71"/>
                </a:solidFill>
                <a:latin typeface="Arial"/>
              </a:defRPr>
            </a:pPr>
            <a:r>
              <a:rPr sz="1200" b="0" i="0">
                <a:latin typeface="Arial"/>
              </a:rPr>
              <a:t>The complete flow shows how implementation choices affect PPA, hierarchy, and physical realizability.</a:t>
            </a:r>
          </a:p>
        </p:txBody>
      </p:sp>
      <p:sp>
        <p:nvSpPr>
          <p:cNvPr id="6" name="Rounded Rectangle 5"/>
          <p:cNvSpPr/>
          <p:nvPr/>
        </p:nvSpPr>
        <p:spPr>
          <a:xfrm>
            <a:off x="10287000" y="128016"/>
            <a:ext cx="1188720" cy="310896"/>
          </a:xfrm>
          <a:prstGeom prst="roundRect">
            <a:avLst/>
          </a:prstGeom>
          <a:solidFill>
            <a:srgbClr val="C9633E"/>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Autofit/>
          </a:bodyPr>
          <a:lstStyle/>
          <a:p>
            <a:pPr algn="ctr">
              <a:defRPr sz="1000" b="1">
                <a:solidFill>
                  <a:srgbClr val="FFFFFF"/>
                </a:solidFill>
                <a:latin typeface="Arial"/>
              </a:defRPr>
            </a:pPr>
            <a:r>
              <a:rPr sz="1000" b="0" i="0">
                <a:latin typeface="Arial"/>
              </a:rPr>
              <a:t>Summary</a:t>
            </a:r>
          </a:p>
        </p:txBody>
      </p:sp>
      <p:sp>
        <p:nvSpPr>
          <p:cNvPr id="7" name="Rectangle 6"/>
          <p:cNvSpPr/>
          <p:nvPr/>
        </p:nvSpPr>
        <p:spPr>
          <a:xfrm>
            <a:off x="502920" y="6565392"/>
            <a:ext cx="11185855" cy="18288"/>
          </a:xfrm>
          <a:prstGeom prst="rect">
            <a:avLst/>
          </a:prstGeom>
          <a:solidFill>
            <a:srgbClr val="D8DFD9"/>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8" name="Rounded Rectangle 7"/>
          <p:cNvSpPr/>
          <p:nvPr/>
        </p:nvSpPr>
        <p:spPr>
          <a:xfrm>
            <a:off x="658368" y="1325880"/>
            <a:ext cx="5394960" cy="411480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9" name="TextBox 8"/>
          <p:cNvSpPr txBox="1"/>
          <p:nvPr/>
        </p:nvSpPr>
        <p:spPr>
          <a:xfrm>
            <a:off x="822960" y="1417320"/>
            <a:ext cx="506577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Technical conclusions</a:t>
            </a:r>
          </a:p>
        </p:txBody>
      </p:sp>
      <p:sp>
        <p:nvSpPr>
          <p:cNvPr id="10" name="TextBox 9"/>
          <p:cNvSpPr txBox="1"/>
          <p:nvPr/>
        </p:nvSpPr>
        <p:spPr>
          <a:xfrm>
            <a:off x="822960" y="1709928"/>
            <a:ext cx="5065776" cy="363931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1" name="TextBox 10"/>
          <p:cNvSpPr txBox="1"/>
          <p:nvPr/>
        </p:nvSpPr>
        <p:spPr>
          <a:xfrm>
            <a:off x="841248" y="1709928"/>
            <a:ext cx="5074920" cy="363931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RTL simulation confirms functional correctness before implementation.</a:t>
            </a:r>
          </a:p>
          <a:p>
            <a:pPr>
              <a:spcAft>
                <a:spcPts val="600"/>
              </a:spcAft>
              <a:defRPr sz="1250">
                <a:solidFill>
                  <a:srgbClr val="2B3036"/>
                </a:solidFill>
                <a:latin typeface="Arial"/>
              </a:defRPr>
            </a:pPr>
            <a:r>
              <a:rPr sz="1200" b="0" i="0">
                <a:latin typeface="Arial"/>
              </a:rPr>
              <a:t>Flat synthesis provides stronger global optimization.</a:t>
            </a:r>
          </a:p>
          <a:p>
            <a:pPr>
              <a:spcAft>
                <a:spcPts val="600"/>
              </a:spcAft>
              <a:defRPr sz="1250">
                <a:solidFill>
                  <a:srgbClr val="2B3036"/>
                </a:solidFill>
                <a:latin typeface="Arial"/>
              </a:defRPr>
            </a:pPr>
            <a:r>
              <a:rPr sz="1200" b="0" i="0">
                <a:latin typeface="Arial"/>
              </a:rPr>
              <a:t>Bottom-up synthesis preserves hierarchy and supports later partitioning.</a:t>
            </a:r>
          </a:p>
          <a:p>
            <a:pPr>
              <a:spcAft>
                <a:spcPts val="600"/>
              </a:spcAft>
              <a:defRPr sz="1250">
                <a:solidFill>
                  <a:srgbClr val="2B3036"/>
                </a:solidFill>
                <a:latin typeface="Arial"/>
              </a:defRPr>
            </a:pPr>
            <a:r>
              <a:rPr sz="1200" b="0" i="0">
                <a:latin typeface="Arial"/>
              </a:rPr>
              <a:t>Physical synthesis introduces realistic wire, clock, and routing overhead.</a:t>
            </a:r>
          </a:p>
          <a:p>
            <a:pPr>
              <a:spcAft>
                <a:spcPts val="600"/>
              </a:spcAft>
              <a:defRPr sz="1250">
                <a:solidFill>
                  <a:srgbClr val="2B3036"/>
                </a:solidFill>
                <a:latin typeface="Arial"/>
              </a:defRPr>
            </a:pPr>
            <a:r>
              <a:rPr sz="1200" b="0" i="0">
                <a:latin typeface="Arial"/>
              </a:rPr>
              <a:t>Hierarchical implementation scales the physical flow through partitions and ILMs.</a:t>
            </a:r>
          </a:p>
        </p:txBody>
      </p:sp>
      <p:sp>
        <p:nvSpPr>
          <p:cNvPr id="12" name="Rounded Rectangle 11"/>
          <p:cNvSpPr/>
          <p:nvPr/>
        </p:nvSpPr>
        <p:spPr>
          <a:xfrm>
            <a:off x="6199632" y="1325880"/>
            <a:ext cx="5029200" cy="4114800"/>
          </a:xfrm>
          <a:prstGeom prst="roundRect">
            <a:avLst/>
          </a:prstGeom>
          <a:solidFill>
            <a:srgbClr val="FFFFFF"/>
          </a:solidFill>
          <a:ln w="15240">
            <a:solidFill>
              <a:srgbClr val="D8DFD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13" name="TextBox 12"/>
          <p:cNvSpPr txBox="1"/>
          <p:nvPr/>
        </p:nvSpPr>
        <p:spPr>
          <a:xfrm>
            <a:off x="6364224" y="1417320"/>
            <a:ext cx="4700016" cy="256032"/>
          </a:xfrm>
          <a:prstGeom prst="rect">
            <a:avLst/>
          </a:prstGeom>
          <a:noFill/>
        </p:spPr>
        <p:txBody>
          <a:bodyPr wrap="square" lIns="36576" tIns="18288" rIns="36576" bIns="18288" anchor="t">
            <a:noAutofit/>
          </a:bodyPr>
          <a:lstStyle/>
          <a:p>
            <a:pPr algn="l">
              <a:defRPr sz="1500" b="1">
                <a:solidFill>
                  <a:srgbClr val="1C3F35"/>
                </a:solidFill>
                <a:latin typeface="Arial"/>
              </a:defRPr>
            </a:pPr>
            <a:r>
              <a:rPr sz="1500" b="0" i="0">
                <a:latin typeface="Arial"/>
              </a:rPr>
              <a:t>Main observations</a:t>
            </a:r>
          </a:p>
        </p:txBody>
      </p:sp>
      <p:sp>
        <p:nvSpPr>
          <p:cNvPr id="14" name="TextBox 13"/>
          <p:cNvSpPr txBox="1"/>
          <p:nvPr/>
        </p:nvSpPr>
        <p:spPr>
          <a:xfrm>
            <a:off x="6364224" y="1709928"/>
            <a:ext cx="4700016" cy="3639312"/>
          </a:xfrm>
          <a:prstGeom prst="rect">
            <a:avLst/>
          </a:prstGeom>
          <a:noFill/>
        </p:spPr>
        <p:txBody>
          <a:bodyPr wrap="square" lIns="36576" tIns="18288" rIns="36576" bIns="18288" anchor="t">
            <a:normAutofit/>
          </a:bodyPr>
          <a:lstStyle/>
          <a:p>
            <a:pPr algn="l">
              <a:defRPr sz="1250" b="0">
                <a:solidFill>
                  <a:srgbClr val="2B3036"/>
                </a:solidFill>
                <a:latin typeface="Arial"/>
              </a:defRPr>
            </a:pPr>
            <a:endParaRPr/>
          </a:p>
        </p:txBody>
      </p:sp>
      <p:sp>
        <p:nvSpPr>
          <p:cNvPr id="15" name="TextBox 14"/>
          <p:cNvSpPr txBox="1"/>
          <p:nvPr/>
        </p:nvSpPr>
        <p:spPr>
          <a:xfrm>
            <a:off x="6382512" y="1709928"/>
            <a:ext cx="4709160" cy="3639312"/>
          </a:xfrm>
          <a:prstGeom prst="rect">
            <a:avLst/>
          </a:prstGeom>
          <a:noFill/>
        </p:spPr>
        <p:txBody>
          <a:bodyPr wrap="square" lIns="36576" tIns="18288" rIns="36576" bIns="18288">
            <a:noAutofit/>
          </a:bodyPr>
          <a:lstStyle/>
          <a:p>
            <a:pPr>
              <a:spcAft>
                <a:spcPts val="600"/>
              </a:spcAft>
              <a:defRPr sz="1250">
                <a:solidFill>
                  <a:srgbClr val="2B3036"/>
                </a:solidFill>
                <a:latin typeface="Arial"/>
              </a:defRPr>
            </a:pPr>
            <a:r>
              <a:rPr sz="1200" b="0" i="0">
                <a:latin typeface="Arial"/>
              </a:rPr>
              <a:t>As the clock target tightens, power rises and slack shrinks.</a:t>
            </a:r>
          </a:p>
          <a:p>
            <a:pPr>
              <a:spcAft>
                <a:spcPts val="600"/>
              </a:spcAft>
              <a:defRPr sz="1250">
                <a:solidFill>
                  <a:srgbClr val="2B3036"/>
                </a:solidFill>
                <a:latin typeface="Arial"/>
              </a:defRPr>
            </a:pPr>
            <a:r>
              <a:rPr sz="1200" b="0" i="0">
                <a:latin typeface="Arial"/>
              </a:rPr>
              <a:t>Flat and bottom-up flows show different PPA behavior under the same constraints.</a:t>
            </a:r>
          </a:p>
          <a:p>
            <a:pPr>
              <a:spcAft>
                <a:spcPts val="600"/>
              </a:spcAft>
              <a:defRPr sz="1250">
                <a:solidFill>
                  <a:srgbClr val="2B3036"/>
                </a:solidFill>
                <a:latin typeface="Arial"/>
              </a:defRPr>
            </a:pPr>
            <a:r>
              <a:rPr sz="1200" b="0" i="0">
                <a:latin typeface="Arial"/>
              </a:rPr>
              <a:t>Task 5 is the physical preparation step for Task 6.</a:t>
            </a:r>
          </a:p>
          <a:p>
            <a:pPr>
              <a:spcAft>
                <a:spcPts val="600"/>
              </a:spcAft>
              <a:defRPr sz="1250">
                <a:solidFill>
                  <a:srgbClr val="2B3036"/>
                </a:solidFill>
                <a:latin typeface="Arial"/>
              </a:defRPr>
            </a:pPr>
            <a:r>
              <a:rPr sz="1200" b="0" i="0">
                <a:latin typeface="Arial"/>
              </a:rPr>
              <a:t>Task 6 completes the flow by combining block-level implementation with top-level assembly.</a:t>
            </a:r>
          </a:p>
          <a:p>
            <a:pPr>
              <a:spcAft>
                <a:spcPts val="600"/>
              </a:spcAft>
              <a:defRPr sz="1250">
                <a:solidFill>
                  <a:srgbClr val="2B3036"/>
                </a:solidFill>
                <a:latin typeface="Arial"/>
              </a:defRPr>
            </a:pPr>
            <a:r>
              <a:rPr sz="1200" b="0" i="0">
                <a:latin typeface="Arial"/>
              </a:rPr>
              <a:t>The project demonstrates a full path from verified RTL to hierarchical physical design.</a:t>
            </a:r>
          </a:p>
        </p:txBody>
      </p:sp>
      <p:sp>
        <p:nvSpPr>
          <p:cNvPr id="16" name="TextBox 15"/>
          <p:cNvSpPr txBox="1"/>
          <p:nvPr/>
        </p:nvSpPr>
        <p:spPr>
          <a:xfrm>
            <a:off x="548640" y="6611112"/>
            <a:ext cx="5029200" cy="137160"/>
          </a:xfrm>
          <a:prstGeom prst="rect">
            <a:avLst/>
          </a:prstGeom>
          <a:noFill/>
        </p:spPr>
        <p:txBody>
          <a:bodyPr wrap="square" lIns="36576" tIns="18288" rIns="36576" bIns="18288">
            <a:noAutofit/>
          </a:bodyPr>
          <a:lstStyle/>
          <a:p>
            <a:pPr>
              <a:defRPr sz="850">
                <a:solidFill>
                  <a:srgbClr val="676F71"/>
                </a:solidFill>
                <a:latin typeface="Arial"/>
              </a:defRPr>
            </a:pPr>
            <a:r>
              <a:rPr sz="700" b="0" i="0">
                <a:latin typeface="Arial"/>
              </a:rPr>
              <a:t>IL2225 project presentation | SiLagoNN implementation flow</a:t>
            </a:r>
          </a:p>
        </p:txBody>
      </p:sp>
      <p:sp>
        <p:nvSpPr>
          <p:cNvPr id="17" name="TextBox 16"/>
          <p:cNvSpPr txBox="1"/>
          <p:nvPr/>
        </p:nvSpPr>
        <p:spPr>
          <a:xfrm>
            <a:off x="11155680" y="6592824"/>
            <a:ext cx="411480" cy="146304"/>
          </a:xfrm>
          <a:prstGeom prst="rect">
            <a:avLst/>
          </a:prstGeom>
          <a:noFill/>
        </p:spPr>
        <p:txBody>
          <a:bodyPr wrap="square" lIns="36576" tIns="18288" rIns="36576" bIns="18288">
            <a:noAutofit/>
          </a:bodyPr>
          <a:lstStyle/>
          <a:p>
            <a:pPr algn="r">
              <a:defRPr sz="900" b="1">
                <a:solidFill>
                  <a:srgbClr val="676F71"/>
                </a:solidFill>
                <a:latin typeface="Arial"/>
              </a:defRPr>
            </a:pPr>
            <a:r>
              <a:rPr sz="800" b="0" i="0">
                <a:latin typeface="Arial"/>
              </a:rPr>
              <a:t>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Rectangle 1"/>
          <p:cNvSpPr/>
          <p:nvPr/>
        </p:nvSpPr>
        <p:spPr>
          <a:xfrm>
            <a:off x="0" y="822960"/>
            <a:ext cx="12191695" cy="5029200"/>
          </a:xfrm>
          <a:prstGeom prst="rect">
            <a:avLst/>
          </a:prstGeom>
          <a:solidFill>
            <a:srgbClr val="1C3F35"/>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endParaRPr/>
          </a:p>
        </p:txBody>
      </p:sp>
      <p:sp>
        <p:nvSpPr>
          <p:cNvPr id="3" name="Rectangle 2"/>
          <p:cNvSpPr/>
          <p:nvPr/>
        </p:nvSpPr>
        <p:spPr>
          <a:xfrm>
            <a:off x="868680" y="1828800"/>
            <a:ext cx="1554480" cy="73152"/>
          </a:xfrm>
          <a:prstGeom prst="rect">
            <a:avLst/>
          </a:prstGeom>
          <a:solidFill>
            <a:srgbClr val="D4A25C"/>
          </a:solidFill>
          <a:ln>
            <a:no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endParaRPr/>
          </a:p>
        </p:txBody>
      </p:sp>
      <p:sp>
        <p:nvSpPr>
          <p:cNvPr id="4" name="TextBox 3"/>
          <p:cNvSpPr txBox="1"/>
          <p:nvPr/>
        </p:nvSpPr>
        <p:spPr>
          <a:xfrm>
            <a:off x="914400" y="2103120"/>
            <a:ext cx="6400800" cy="640080"/>
          </a:xfrm>
          <a:prstGeom prst="rect">
            <a:avLst/>
          </a:prstGeom>
          <a:noFill/>
        </p:spPr>
        <p:txBody>
          <a:bodyPr wrap="square" lIns="36576" tIns="18288" rIns="36576" bIns="18288" anchor="t">
            <a:noAutofit/>
          </a:bodyPr>
          <a:lstStyle/>
          <a:p>
            <a:pPr algn="l">
              <a:defRPr sz="2800" b="1">
                <a:solidFill>
                  <a:srgbClr val="FFFFFF"/>
                </a:solidFill>
                <a:latin typeface="Arial"/>
              </a:defRPr>
            </a:pPr>
            <a:r>
              <a:rPr sz="2800" b="0" i="0">
                <a:latin typeface="Arial"/>
              </a:rPr>
              <a:t>Thank You</a:t>
            </a:r>
          </a:p>
        </p:txBody>
      </p:sp>
      <p:sp>
        <p:nvSpPr>
          <p:cNvPr id="5" name="TextBox 4"/>
          <p:cNvSpPr txBox="1"/>
          <p:nvPr/>
        </p:nvSpPr>
        <p:spPr>
          <a:xfrm>
            <a:off x="914400" y="2834640"/>
            <a:ext cx="7315200" cy="731520"/>
          </a:xfrm>
          <a:prstGeom prst="rect">
            <a:avLst/>
          </a:prstGeom>
          <a:noFill/>
        </p:spPr>
        <p:txBody>
          <a:bodyPr wrap="square" lIns="36576" tIns="18288" rIns="36576" bIns="18288" anchor="t">
            <a:noAutofit/>
          </a:bodyPr>
          <a:lstStyle/>
          <a:p>
            <a:pPr algn="l">
              <a:defRPr sz="1700" b="0">
                <a:solidFill>
                  <a:srgbClr val="E2E8F0"/>
                </a:solidFill>
                <a:latin typeface="Arial"/>
              </a:defRPr>
            </a:pPr>
            <a:r>
              <a:rPr sz="1700" b="0" i="0">
                <a:latin typeface="Arial"/>
              </a:rPr>
              <a:t>SiLagoNN implementation flow from RTL verification to hierarchical physical synthesis</a:t>
            </a:r>
          </a:p>
        </p:txBody>
      </p:sp>
      <p:sp>
        <p:nvSpPr>
          <p:cNvPr id="6" name="TextBox 5"/>
          <p:cNvSpPr txBox="1"/>
          <p:nvPr/>
        </p:nvSpPr>
        <p:spPr>
          <a:xfrm>
            <a:off x="914400" y="3703320"/>
            <a:ext cx="6949440" cy="411480"/>
          </a:xfrm>
          <a:prstGeom prst="rect">
            <a:avLst/>
          </a:prstGeom>
          <a:noFill/>
        </p:spPr>
        <p:txBody>
          <a:bodyPr wrap="square" lIns="36576" tIns="18288" rIns="36576" bIns="18288" anchor="t">
            <a:noAutofit/>
          </a:bodyPr>
          <a:lstStyle/>
          <a:p>
            <a:pPr algn="l">
              <a:defRPr sz="1400" b="0">
                <a:solidFill>
                  <a:srgbClr val="CBD5E1"/>
                </a:solidFill>
                <a:latin typeface="Arial"/>
              </a:defRPr>
            </a:pPr>
            <a:r>
              <a:rPr sz="1400" b="0" i="0" dirty="0">
                <a:latin typeface="Arial"/>
              </a:rPr>
              <a:t>Questions on methodology, scripts, </a:t>
            </a:r>
            <a:r>
              <a:rPr lang="en-US" sz="1400" b="0" i="0" dirty="0">
                <a:latin typeface="Arial"/>
              </a:rPr>
              <a:t>and </a:t>
            </a:r>
            <a:r>
              <a:rPr sz="1400" b="0" i="0" dirty="0">
                <a:latin typeface="Arial"/>
              </a:rPr>
              <a:t>results</a:t>
            </a:r>
            <a:r>
              <a:rPr lang="en-US" sz="1400" dirty="0">
                <a:latin typeface="Arial"/>
              </a:rPr>
              <a:t> </a:t>
            </a:r>
            <a:r>
              <a:rPr sz="1400" b="0" i="0" dirty="0">
                <a:latin typeface="Arial"/>
              </a:rPr>
              <a:t>are welcome.</a:t>
            </a:r>
          </a:p>
        </p:txBody>
      </p:sp>
      <p:sp>
        <p:nvSpPr>
          <p:cNvPr id="7" name="TextBox 6"/>
          <p:cNvSpPr txBox="1"/>
          <p:nvPr/>
        </p:nvSpPr>
        <p:spPr>
          <a:xfrm>
            <a:off x="9144000" y="5349240"/>
            <a:ext cx="1828800" cy="228600"/>
          </a:xfrm>
          <a:prstGeom prst="rect">
            <a:avLst/>
          </a:prstGeom>
          <a:noFill/>
        </p:spPr>
        <p:txBody>
          <a:bodyPr wrap="square" lIns="36576" tIns="18288" rIns="36576" bIns="18288" anchor="t">
            <a:noAutofit/>
          </a:bodyPr>
          <a:lstStyle/>
          <a:p>
            <a:pPr algn="r">
              <a:defRPr sz="1600" b="1">
                <a:solidFill>
                  <a:srgbClr val="FFFFFF"/>
                </a:solidFill>
                <a:latin typeface="Arial"/>
              </a:defRPr>
            </a:pPr>
            <a:r>
              <a:rPr sz="1600" b="0" i="0">
                <a:latin typeface="Arial"/>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4288</Words>
  <Application>Microsoft Office PowerPoint</Application>
  <PresentationFormat>宽屏</PresentationFormat>
  <Paragraphs>330</Paragraphs>
  <Slides>18</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等线</vt:lpstr>
      <vt:lpstr>Arial</vt:lpstr>
      <vt:lpstr>Calibri</vt:lpstr>
      <vt:lpstr>Consolas</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day night</cp:lastModifiedBy>
  <cp:revision>7</cp:revision>
  <dcterms:created xsi:type="dcterms:W3CDTF">2013-01-27T09:14:16Z</dcterms:created>
  <dcterms:modified xsi:type="dcterms:W3CDTF">2026-04-10T11:09:08Z</dcterms:modified>
  <cp:category/>
</cp:coreProperties>
</file>